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1"/>
  </p:notesMasterIdLst>
  <p:sldIdLst>
    <p:sldId id="256" r:id="rId2"/>
    <p:sldId id="257" r:id="rId3"/>
    <p:sldId id="258" r:id="rId4"/>
    <p:sldId id="259" r:id="rId5"/>
    <p:sldId id="260" r:id="rId6"/>
    <p:sldId id="306" r:id="rId7"/>
    <p:sldId id="261" r:id="rId8"/>
    <p:sldId id="296" r:id="rId9"/>
    <p:sldId id="297" r:id="rId10"/>
    <p:sldId id="298" r:id="rId11"/>
    <p:sldId id="299" r:id="rId12"/>
    <p:sldId id="300" r:id="rId13"/>
    <p:sldId id="262" r:id="rId14"/>
    <p:sldId id="263" r:id="rId15"/>
    <p:sldId id="265" r:id="rId16"/>
    <p:sldId id="264" r:id="rId17"/>
    <p:sldId id="309" r:id="rId18"/>
    <p:sldId id="312" r:id="rId19"/>
    <p:sldId id="269" r:id="rId20"/>
    <p:sldId id="270" r:id="rId21"/>
    <p:sldId id="271" r:id="rId22"/>
    <p:sldId id="272" r:id="rId23"/>
    <p:sldId id="273" r:id="rId24"/>
    <p:sldId id="274" r:id="rId25"/>
    <p:sldId id="275" r:id="rId26"/>
    <p:sldId id="276" r:id="rId27"/>
    <p:sldId id="277" r:id="rId28"/>
    <p:sldId id="279" r:id="rId29"/>
    <p:sldId id="280" r:id="rId30"/>
    <p:sldId id="287" r:id="rId31"/>
    <p:sldId id="288" r:id="rId32"/>
    <p:sldId id="289" r:id="rId33"/>
    <p:sldId id="290" r:id="rId34"/>
    <p:sldId id="291" r:id="rId35"/>
    <p:sldId id="292" r:id="rId36"/>
    <p:sldId id="293" r:id="rId37"/>
    <p:sldId id="311" r:id="rId38"/>
    <p:sldId id="294" r:id="rId39"/>
    <p:sldId id="295" r:id="rId40"/>
  </p:sldIdLst>
  <p:sldSz cx="9144000" cy="5143500" type="screen16x9"/>
  <p:notesSz cx="6858000" cy="9144000"/>
  <p:embeddedFontLst>
    <p:embeddedFont>
      <p:font typeface="Lucida Console" panose="020B0609040504020204" pitchFamily="49" charset="0"/>
      <p:regular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247"/>
    <p:restoredTop sz="65130"/>
  </p:normalViewPr>
  <p:slideViewPr>
    <p:cSldViewPr snapToGrid="0">
      <p:cViewPr varScale="1">
        <p:scale>
          <a:sx n="95" d="100"/>
          <a:sy n="95" d="100"/>
        </p:scale>
        <p:origin x="200" y="146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www.w3schools.com/python/matplotlib_scatter.asp"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swcarpentry.github.io/python-novice-gapminder/01-run-quit.html"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dirty="0" err="1">
                <a:solidFill>
                  <a:schemeClr val="dk1"/>
                </a:solidFill>
              </a:rPr>
              <a:t>dartgo.org</a:t>
            </a:r>
            <a:r>
              <a:rPr lang="en" dirty="0">
                <a:solidFill>
                  <a:schemeClr val="dk1"/>
                </a:solidFill>
              </a:rPr>
              <a:t>/</a:t>
            </a:r>
            <a:r>
              <a:rPr lang="en" dirty="0" err="1">
                <a:solidFill>
                  <a:schemeClr val="dk1"/>
                </a:solidFill>
              </a:rPr>
              <a:t>RRADworkshops</a:t>
            </a:r>
            <a:r>
              <a:rPr lang="en" dirty="0">
                <a:solidFill>
                  <a:schemeClr val="dk1"/>
                </a:solidFill>
              </a:rPr>
              <a:t> for more in the series</a:t>
            </a:r>
          </a:p>
          <a:p>
            <a:pPr marL="0" lvl="0" indent="0" algn="l" rtl="0">
              <a:spcBef>
                <a:spcPts val="0"/>
              </a:spcBef>
              <a:spcAft>
                <a:spcPts val="0"/>
              </a:spcAft>
              <a:buClr>
                <a:schemeClr val="dk1"/>
              </a:buClr>
              <a:buSzPts val="1100"/>
              <a:buFont typeface="Arial"/>
              <a:buNone/>
            </a:pPr>
            <a:endParaRPr lang="en" dirty="0">
              <a:solidFill>
                <a:schemeClr val="dk1"/>
              </a:solidFill>
            </a:endParaRPr>
          </a:p>
          <a:p>
            <a:pPr marL="0" lvl="0" indent="0" algn="l" rtl="0">
              <a:spcBef>
                <a:spcPts val="0"/>
              </a:spcBef>
              <a:spcAft>
                <a:spcPts val="0"/>
              </a:spcAft>
              <a:buClr>
                <a:schemeClr val="dk1"/>
              </a:buClr>
              <a:buSzPts val="1100"/>
              <a:buFont typeface="Arial"/>
              <a:buNone/>
            </a:pPr>
            <a:r>
              <a:rPr lang="en" sz="1100" dirty="0"/>
              <a:t>Data Science &amp; Reproducible Research</a:t>
            </a:r>
          </a:p>
          <a:p>
            <a:pPr marL="0" lvl="0" indent="0" algn="l" rtl="0">
              <a:spcBef>
                <a:spcPts val="0"/>
              </a:spcBef>
              <a:spcAft>
                <a:spcPts val="0"/>
              </a:spcAft>
              <a:buClr>
                <a:schemeClr val="dk1"/>
              </a:buClr>
              <a:buSzPts val="1100"/>
              <a:buFont typeface="Arial"/>
              <a:buNone/>
            </a:pPr>
            <a:r>
              <a:rPr lang="en" sz="1100" dirty="0">
                <a:solidFill>
                  <a:schemeClr val="dk1"/>
                </a:solidFill>
              </a:rPr>
              <a:t> visualization </a:t>
            </a:r>
          </a:p>
          <a:p>
            <a:pPr marL="0" lvl="0" indent="0" algn="l" rtl="0">
              <a:spcBef>
                <a:spcPts val="0"/>
              </a:spcBef>
              <a:spcAft>
                <a:spcPts val="0"/>
              </a:spcAft>
              <a:buClr>
                <a:schemeClr val="dk1"/>
              </a:buClr>
              <a:buSzPts val="1100"/>
              <a:buFont typeface="Arial"/>
              <a:buNone/>
            </a:pPr>
            <a:endParaRPr lang="en" dirty="0">
              <a:solidFill>
                <a:schemeClr val="dk1"/>
              </a:solidFill>
            </a:endParaRPr>
          </a:p>
          <a:p>
            <a:pPr marL="0" lvl="0" indent="0" algn="l" rtl="0">
              <a:spcBef>
                <a:spcPts val="0"/>
              </a:spcBef>
              <a:spcAft>
                <a:spcPts val="0"/>
              </a:spcAft>
              <a:buClr>
                <a:schemeClr val="dk1"/>
              </a:buClr>
              <a:buSzPts val="1100"/>
              <a:buFont typeface="Arial"/>
              <a:buNone/>
            </a:pPr>
            <a:endParaRPr lang="en" dirty="0">
              <a:solidFill>
                <a:schemeClr val="dk1"/>
              </a:solidFill>
            </a:endParaRPr>
          </a:p>
          <a:p>
            <a:pPr marL="0" lvl="0" indent="0" algn="l" rtl="0">
              <a:spcBef>
                <a:spcPts val="0"/>
              </a:spcBef>
              <a:spcAft>
                <a:spcPts val="0"/>
              </a:spcAft>
              <a:buClr>
                <a:schemeClr val="dk1"/>
              </a:buClr>
              <a:buSzPts val="1100"/>
              <a:buFont typeface="Arial"/>
              <a:buNone/>
            </a:pPr>
            <a:endParaRPr lang="en" dirty="0">
              <a:solidFill>
                <a:schemeClr val="dk1"/>
              </a:solidFill>
            </a:endParaRPr>
          </a:p>
          <a:p>
            <a:pPr marL="0" lvl="0" indent="0" algn="l" rtl="0">
              <a:spcBef>
                <a:spcPts val="0"/>
              </a:spcBef>
              <a:spcAft>
                <a:spcPts val="0"/>
              </a:spcAft>
              <a:buClr>
                <a:schemeClr val="dk1"/>
              </a:buClr>
              <a:buSzPts val="1100"/>
              <a:buFont typeface="Arial"/>
              <a:buNone/>
            </a:pPr>
            <a:endParaRPr lang="en" dirty="0">
              <a:solidFill>
                <a:schemeClr val="dk1"/>
              </a:solidFill>
            </a:endParaRPr>
          </a:p>
          <a:p>
            <a:pPr marL="0" lvl="0" indent="0" algn="l" rtl="0">
              <a:spcBef>
                <a:spcPts val="0"/>
              </a:spcBef>
              <a:spcAft>
                <a:spcPts val="0"/>
              </a:spcAft>
              <a:buClr>
                <a:schemeClr val="dk1"/>
              </a:buClr>
              <a:buSzPts val="1100"/>
              <a:buFont typeface="Arial"/>
              <a:buNone/>
            </a:pPr>
            <a:endParaRPr lang="en" dirty="0">
              <a:solidFill>
                <a:schemeClr val="dk1"/>
              </a:solidFill>
            </a:endParaRPr>
          </a:p>
          <a:p>
            <a:pPr marL="0" lvl="0" indent="0" algn="l" rtl="0">
              <a:spcBef>
                <a:spcPts val="0"/>
              </a:spcBef>
              <a:spcAft>
                <a:spcPts val="0"/>
              </a:spcAft>
              <a:buClr>
                <a:schemeClr val="dk1"/>
              </a:buClr>
              <a:buSzPts val="1100"/>
              <a:buFont typeface="Arial"/>
              <a:buNone/>
            </a:pPr>
            <a:endParaRPr lang="en"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None/>
            </a:pPr>
            <a:endParaRPr dirty="0">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563b61e533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563b61e533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2d807c673a3_0_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2d807c673a3_0_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2d807c673a3_0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2d807c673a3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000" dirty="0"/>
          </a:p>
          <a:p>
            <a:pPr marL="0" lvl="0" indent="0" algn="l" rtl="0">
              <a:lnSpc>
                <a:spcPct val="115000"/>
              </a:lnSpc>
              <a:spcBef>
                <a:spcPts val="0"/>
              </a:spcBef>
              <a:spcAft>
                <a:spcPts val="0"/>
              </a:spcAft>
              <a:buNone/>
            </a:pPr>
            <a:r>
              <a:rPr lang="en" sz="1000" dirty="0">
                <a:solidFill>
                  <a:srgbClr val="595959"/>
                </a:solidFill>
              </a:rPr>
              <a:t>Key Python Libraries for Visualization</a:t>
            </a:r>
            <a:endParaRPr sz="1000" dirty="0">
              <a:solidFill>
                <a:srgbClr val="595959"/>
              </a:solidFill>
            </a:endParaRPr>
          </a:p>
          <a:p>
            <a:pPr marL="0" lvl="0" indent="0" algn="l" rtl="0">
              <a:lnSpc>
                <a:spcPct val="115000"/>
              </a:lnSpc>
              <a:spcBef>
                <a:spcPts val="0"/>
              </a:spcBef>
              <a:spcAft>
                <a:spcPts val="0"/>
              </a:spcAft>
              <a:buNone/>
            </a:pPr>
            <a:r>
              <a:rPr lang="en" sz="1000" dirty="0">
                <a:solidFill>
                  <a:srgbClr val="595959"/>
                </a:solidFill>
              </a:rPr>
              <a:t>Data Types and Structures</a:t>
            </a:r>
            <a:endParaRPr sz="1000" dirty="0">
              <a:solidFill>
                <a:srgbClr val="595959"/>
              </a:solidFill>
            </a:endParaRPr>
          </a:p>
          <a:p>
            <a:pPr marL="0" lvl="0" indent="0" algn="l" rtl="0">
              <a:lnSpc>
                <a:spcPct val="115000"/>
              </a:lnSpc>
              <a:spcBef>
                <a:spcPts val="0"/>
              </a:spcBef>
              <a:spcAft>
                <a:spcPts val="0"/>
              </a:spcAft>
              <a:buNone/>
            </a:pPr>
            <a:r>
              <a:rPr lang="en" sz="1000" dirty="0">
                <a:solidFill>
                  <a:srgbClr val="595959"/>
                </a:solidFill>
              </a:rPr>
              <a:t>Data Visualization Techniques</a:t>
            </a:r>
            <a:endParaRPr sz="1000" dirty="0">
              <a:solidFill>
                <a:srgbClr val="595959"/>
              </a:solidFill>
            </a:endParaRPr>
          </a:p>
          <a:p>
            <a:pPr marL="0" lvl="0" indent="0" algn="l" rtl="0">
              <a:lnSpc>
                <a:spcPct val="115000"/>
              </a:lnSpc>
              <a:spcBef>
                <a:spcPts val="0"/>
              </a:spcBef>
              <a:spcAft>
                <a:spcPts val="0"/>
              </a:spcAft>
              <a:buNone/>
            </a:pPr>
            <a:r>
              <a:rPr lang="en" sz="1000" dirty="0">
                <a:solidFill>
                  <a:srgbClr val="595959"/>
                </a:solidFill>
              </a:rPr>
              <a:t>Matplotlib: A Comprehensive Introduction</a:t>
            </a:r>
            <a:endParaRPr sz="1000" dirty="0">
              <a:solidFill>
                <a:srgbClr val="595959"/>
              </a:solidFill>
            </a:endParaRPr>
          </a:p>
          <a:p>
            <a:pPr marL="0" lvl="0" indent="0" algn="l" rtl="0">
              <a:lnSpc>
                <a:spcPct val="115000"/>
              </a:lnSpc>
              <a:spcBef>
                <a:spcPts val="0"/>
              </a:spcBef>
              <a:spcAft>
                <a:spcPts val="0"/>
              </a:spcAft>
              <a:buNone/>
            </a:pPr>
            <a:r>
              <a:rPr lang="en" sz="1000" dirty="0">
                <a:solidFill>
                  <a:srgbClr val="595959"/>
                </a:solidFill>
              </a:rPr>
              <a:t>Seaborn: Statistical Data Visualization</a:t>
            </a:r>
            <a:endParaRPr sz="1000" dirty="0">
              <a:solidFill>
                <a:srgbClr val="595959"/>
              </a:solidFill>
            </a:endParaRPr>
          </a:p>
          <a:p>
            <a:pPr marL="0" lvl="0" indent="0" algn="l" rtl="0">
              <a:lnSpc>
                <a:spcPct val="115000"/>
              </a:lnSpc>
              <a:spcBef>
                <a:spcPts val="0"/>
              </a:spcBef>
              <a:spcAft>
                <a:spcPts val="0"/>
              </a:spcAft>
              <a:buNone/>
            </a:pPr>
            <a:r>
              <a:rPr lang="en" sz="1000" dirty="0">
                <a:solidFill>
                  <a:srgbClr val="595959"/>
                </a:solidFill>
              </a:rPr>
              <a:t>Live Coding Examples</a:t>
            </a:r>
            <a:endParaRPr sz="10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2d807c673a3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2d807c673a3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E2777EB2-8B6F-EEBE-D382-D6BFE0F5EF20}"/>
            </a:ext>
          </a:extLst>
        </p:cNvPr>
        <p:cNvGrpSpPr/>
        <p:nvPr/>
      </p:nvGrpSpPr>
      <p:grpSpPr>
        <a:xfrm>
          <a:off x="0" y="0"/>
          <a:ext cx="0" cy="0"/>
          <a:chOff x="0" y="0"/>
          <a:chExt cx="0" cy="0"/>
        </a:xfrm>
      </p:grpSpPr>
      <p:sp>
        <p:nvSpPr>
          <p:cNvPr id="90" name="Google Shape;90;g2d807c673a3_0_1:notes">
            <a:extLst>
              <a:ext uri="{FF2B5EF4-FFF2-40B4-BE49-F238E27FC236}">
                <a16:creationId xmlns:a16="http://schemas.microsoft.com/office/drawing/2014/main" id="{E62DF3E3-617B-7048-A9A6-76ADD23E32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2d807c673a3_0_1:notes">
            <a:extLst>
              <a:ext uri="{FF2B5EF4-FFF2-40B4-BE49-F238E27FC236}">
                <a16:creationId xmlns:a16="http://schemas.microsoft.com/office/drawing/2014/main" id="{842CB8C2-7AAA-E708-F1F7-EB7A2771B5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936380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d7773ffd57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d7773ffd57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a:extLst>
            <a:ext uri="{FF2B5EF4-FFF2-40B4-BE49-F238E27FC236}">
              <a16:creationId xmlns:a16="http://schemas.microsoft.com/office/drawing/2014/main" id="{7424B65C-50A1-F5E3-7D5D-B23754A01BAC}"/>
            </a:ext>
          </a:extLst>
        </p:cNvPr>
        <p:cNvGrpSpPr/>
        <p:nvPr/>
      </p:nvGrpSpPr>
      <p:grpSpPr>
        <a:xfrm>
          <a:off x="0" y="0"/>
          <a:ext cx="0" cy="0"/>
          <a:chOff x="0" y="0"/>
          <a:chExt cx="0" cy="0"/>
        </a:xfrm>
      </p:grpSpPr>
      <p:sp>
        <p:nvSpPr>
          <p:cNvPr id="100" name="Google Shape;100;g2d7773ffd57_0_14:notes">
            <a:extLst>
              <a:ext uri="{FF2B5EF4-FFF2-40B4-BE49-F238E27FC236}">
                <a16:creationId xmlns:a16="http://schemas.microsoft.com/office/drawing/2014/main" id="{3847BD66-1C32-38A3-5856-8404D0C2AC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d7773ffd57_0_14:notes">
            <a:extLst>
              <a:ext uri="{FF2B5EF4-FFF2-40B4-BE49-F238E27FC236}">
                <a16:creationId xmlns:a16="http://schemas.microsoft.com/office/drawing/2014/main" id="{7E8360BD-095F-F411-DEFD-2F0C6FE91D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8484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a:extLst>
            <a:ext uri="{FF2B5EF4-FFF2-40B4-BE49-F238E27FC236}">
              <a16:creationId xmlns:a16="http://schemas.microsoft.com/office/drawing/2014/main" id="{F294E975-F7AF-6C17-5CBA-60C8DF6FF0DC}"/>
            </a:ext>
          </a:extLst>
        </p:cNvPr>
        <p:cNvGrpSpPr/>
        <p:nvPr/>
      </p:nvGrpSpPr>
      <p:grpSpPr>
        <a:xfrm>
          <a:off x="0" y="0"/>
          <a:ext cx="0" cy="0"/>
          <a:chOff x="0" y="0"/>
          <a:chExt cx="0" cy="0"/>
        </a:xfrm>
      </p:grpSpPr>
      <p:sp>
        <p:nvSpPr>
          <p:cNvPr id="100" name="Google Shape;100;g2d7773ffd57_0_14:notes">
            <a:extLst>
              <a:ext uri="{FF2B5EF4-FFF2-40B4-BE49-F238E27FC236}">
                <a16:creationId xmlns:a16="http://schemas.microsoft.com/office/drawing/2014/main" id="{38A5F233-5BE3-7147-C2E6-8D480EB275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d7773ffd57_0_14:notes">
            <a:extLst>
              <a:ext uri="{FF2B5EF4-FFF2-40B4-BE49-F238E27FC236}">
                <a16:creationId xmlns:a16="http://schemas.microsoft.com/office/drawing/2014/main" id="{295098D1-9098-E1E5-5251-D98CF6463F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r>
              <a:rPr lang="en-US" dirty="0"/>
              <a:t>https://</a:t>
            </a:r>
            <a:r>
              <a:rPr lang="en-US" dirty="0" err="1"/>
              <a:t>matplotlib.org</a:t>
            </a:r>
            <a:r>
              <a:rPr lang="en-US" dirty="0"/>
              <a:t>/3.5.3/gallery/</a:t>
            </a:r>
            <a:r>
              <a:rPr lang="en-US" dirty="0" err="1"/>
              <a:t>index.html</a:t>
            </a:r>
            <a:endParaRPr lang="en-US"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9606447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a:extLst>
            <a:ext uri="{FF2B5EF4-FFF2-40B4-BE49-F238E27FC236}">
              <a16:creationId xmlns:a16="http://schemas.microsoft.com/office/drawing/2014/main" id="{1AF5C373-D1A7-4A89-91CB-17550EAE32EF}"/>
            </a:ext>
          </a:extLst>
        </p:cNvPr>
        <p:cNvGrpSpPr/>
        <p:nvPr/>
      </p:nvGrpSpPr>
      <p:grpSpPr>
        <a:xfrm>
          <a:off x="0" y="0"/>
          <a:ext cx="0" cy="0"/>
          <a:chOff x="0" y="0"/>
          <a:chExt cx="0" cy="0"/>
        </a:xfrm>
      </p:grpSpPr>
      <p:sp>
        <p:nvSpPr>
          <p:cNvPr id="100" name="Google Shape;100;g2d7773ffd57_0_14:notes">
            <a:extLst>
              <a:ext uri="{FF2B5EF4-FFF2-40B4-BE49-F238E27FC236}">
                <a16:creationId xmlns:a16="http://schemas.microsoft.com/office/drawing/2014/main" id="{9D9E10D6-C3C1-EEEE-392E-DFCDBD14F3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d7773ffd57_0_14:notes">
            <a:extLst>
              <a:ext uri="{FF2B5EF4-FFF2-40B4-BE49-F238E27FC236}">
                <a16:creationId xmlns:a16="http://schemas.microsoft.com/office/drawing/2014/main" id="{71773717-84EC-705F-287D-C996657BA9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16772384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a:extLst>
            <a:ext uri="{FF2B5EF4-FFF2-40B4-BE49-F238E27FC236}">
              <a16:creationId xmlns:a16="http://schemas.microsoft.com/office/drawing/2014/main" id="{3EB45E68-9D4C-4A11-52B8-B467C5A965CD}"/>
            </a:ext>
          </a:extLst>
        </p:cNvPr>
        <p:cNvGrpSpPr/>
        <p:nvPr/>
      </p:nvGrpSpPr>
      <p:grpSpPr>
        <a:xfrm>
          <a:off x="0" y="0"/>
          <a:ext cx="0" cy="0"/>
          <a:chOff x="0" y="0"/>
          <a:chExt cx="0" cy="0"/>
        </a:xfrm>
      </p:grpSpPr>
      <p:sp>
        <p:nvSpPr>
          <p:cNvPr id="100" name="Google Shape;100;g2d7773ffd57_0_14:notes">
            <a:extLst>
              <a:ext uri="{FF2B5EF4-FFF2-40B4-BE49-F238E27FC236}">
                <a16:creationId xmlns:a16="http://schemas.microsoft.com/office/drawing/2014/main" id="{8E6A4C31-4B60-FF20-51B5-E1FF25C07C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d7773ffd57_0_14:notes">
            <a:extLst>
              <a:ext uri="{FF2B5EF4-FFF2-40B4-BE49-F238E27FC236}">
                <a16:creationId xmlns:a16="http://schemas.microsoft.com/office/drawing/2014/main" id="{527A70AA-143D-F4B6-15AC-5594A50AFA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42024796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a:extLst>
            <a:ext uri="{FF2B5EF4-FFF2-40B4-BE49-F238E27FC236}">
              <a16:creationId xmlns:a16="http://schemas.microsoft.com/office/drawing/2014/main" id="{E7AF654D-B451-3EB3-FFC6-1A72B4E5E5DA}"/>
            </a:ext>
          </a:extLst>
        </p:cNvPr>
        <p:cNvGrpSpPr/>
        <p:nvPr/>
      </p:nvGrpSpPr>
      <p:grpSpPr>
        <a:xfrm>
          <a:off x="0" y="0"/>
          <a:ext cx="0" cy="0"/>
          <a:chOff x="0" y="0"/>
          <a:chExt cx="0" cy="0"/>
        </a:xfrm>
      </p:grpSpPr>
      <p:sp>
        <p:nvSpPr>
          <p:cNvPr id="100" name="Google Shape;100;g2d7773ffd57_0_14:notes">
            <a:extLst>
              <a:ext uri="{FF2B5EF4-FFF2-40B4-BE49-F238E27FC236}">
                <a16:creationId xmlns:a16="http://schemas.microsoft.com/office/drawing/2014/main" id="{1F26BE18-6A85-3DE9-9D92-5830DC348C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d7773ffd57_0_14:notes">
            <a:extLst>
              <a:ext uri="{FF2B5EF4-FFF2-40B4-BE49-F238E27FC236}">
                <a16:creationId xmlns:a16="http://schemas.microsoft.com/office/drawing/2014/main" id="{C7FD3F8E-1376-B7C0-E048-B01F00719A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110951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563b61e533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563b61e53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23463eb53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23463eb53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275830aa7c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275830aa7c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2d7773ffd57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2d7773ffd57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C64E7F62-285E-D68F-55EA-52BBF43EABD8}"/>
            </a:ext>
          </a:extLst>
        </p:cNvPr>
        <p:cNvGrpSpPr/>
        <p:nvPr/>
      </p:nvGrpSpPr>
      <p:grpSpPr>
        <a:xfrm>
          <a:off x="0" y="0"/>
          <a:ext cx="0" cy="0"/>
          <a:chOff x="0" y="0"/>
          <a:chExt cx="0" cy="0"/>
        </a:xfrm>
      </p:grpSpPr>
      <p:sp>
        <p:nvSpPr>
          <p:cNvPr id="137" name="Google Shape;137;g3275830aa7c_0_16:notes">
            <a:extLst>
              <a:ext uri="{FF2B5EF4-FFF2-40B4-BE49-F238E27FC236}">
                <a16:creationId xmlns:a16="http://schemas.microsoft.com/office/drawing/2014/main" id="{DA528FFA-B0F3-AEB5-E349-94D0DDDA3D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275830aa7c_0_16:notes">
            <a:extLst>
              <a:ext uri="{FF2B5EF4-FFF2-40B4-BE49-F238E27FC236}">
                <a16:creationId xmlns:a16="http://schemas.microsoft.com/office/drawing/2014/main" id="{3984DEA2-98A8-E8DE-0DA7-FEF4283939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281800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D71031FF-CBAD-7434-E54F-0BE97AA7B615}"/>
            </a:ext>
          </a:extLst>
        </p:cNvPr>
        <p:cNvGrpSpPr/>
        <p:nvPr/>
      </p:nvGrpSpPr>
      <p:grpSpPr>
        <a:xfrm>
          <a:off x="0" y="0"/>
          <a:ext cx="0" cy="0"/>
          <a:chOff x="0" y="0"/>
          <a:chExt cx="0" cy="0"/>
        </a:xfrm>
      </p:grpSpPr>
      <p:sp>
        <p:nvSpPr>
          <p:cNvPr id="137" name="Google Shape;137;g3275830aa7c_0_16:notes">
            <a:extLst>
              <a:ext uri="{FF2B5EF4-FFF2-40B4-BE49-F238E27FC236}">
                <a16:creationId xmlns:a16="http://schemas.microsoft.com/office/drawing/2014/main" id="{D3E73CDA-9F89-B406-E60B-42FC4C1E13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275830aa7c_0_16:notes">
            <a:extLst>
              <a:ext uri="{FF2B5EF4-FFF2-40B4-BE49-F238E27FC236}">
                <a16:creationId xmlns:a16="http://schemas.microsoft.com/office/drawing/2014/main" id="{F00C619A-0C2B-A471-BF05-5B9126C7C9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751741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275830aa7c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3275830aa7c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2d807c673a3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2d807c673a3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000" dirty="0"/>
          </a:p>
          <a:p>
            <a:pPr marL="0" lvl="0" indent="0" algn="l" rtl="0">
              <a:spcBef>
                <a:spcPts val="0"/>
              </a:spcBef>
              <a:spcAft>
                <a:spcPts val="0"/>
              </a:spcAft>
              <a:buClr>
                <a:schemeClr val="dk1"/>
              </a:buClr>
              <a:buSzPts val="1100"/>
              <a:buFont typeface="Arial"/>
              <a:buNone/>
            </a:pPr>
            <a:r>
              <a:rPr lang="en" sz="1000" dirty="0">
                <a:solidFill>
                  <a:srgbClr val="0000FF"/>
                </a:solidFill>
                <a:latin typeface="Calibri"/>
                <a:ea typeface="Calibri"/>
                <a:cs typeface="Calibri"/>
                <a:sym typeface="Calibri"/>
              </a:rPr>
              <a:t>import seaborn as </a:t>
            </a:r>
            <a:r>
              <a:rPr lang="en" sz="1000" dirty="0" err="1">
                <a:solidFill>
                  <a:srgbClr val="0000FF"/>
                </a:solidFill>
                <a:latin typeface="Calibri"/>
                <a:ea typeface="Calibri"/>
                <a:cs typeface="Calibri"/>
                <a:sym typeface="Calibri"/>
              </a:rPr>
              <a:t>sns</a:t>
            </a:r>
            <a:endParaRPr sz="1000" dirty="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dirty="0">
                <a:solidFill>
                  <a:srgbClr val="0000FF"/>
                </a:solidFill>
                <a:latin typeface="Calibri"/>
                <a:ea typeface="Calibri"/>
                <a:cs typeface="Calibri"/>
                <a:sym typeface="Calibri"/>
              </a:rPr>
              <a:t># shift run to run and create new cell </a:t>
            </a:r>
            <a:endParaRPr sz="1000" dirty="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dirty="0">
                <a:solidFill>
                  <a:srgbClr val="0000FF"/>
                </a:solidFill>
                <a:latin typeface="Calibri"/>
                <a:ea typeface="Calibri"/>
                <a:cs typeface="Calibri"/>
                <a:sym typeface="Calibri"/>
              </a:rPr>
              <a:t># built-in datasets, penguins, iris</a:t>
            </a:r>
            <a:endParaRPr sz="1000" dirty="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000" dirty="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dirty="0">
                <a:solidFill>
                  <a:srgbClr val="0000FF"/>
                </a:solidFill>
                <a:latin typeface="Calibri"/>
                <a:ea typeface="Calibri"/>
                <a:cs typeface="Calibri"/>
                <a:sym typeface="Calibri"/>
              </a:rPr>
              <a:t># biology/ornithology/zoology (penguins)</a:t>
            </a:r>
            <a:endParaRPr sz="1000" dirty="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dirty="0">
                <a:solidFill>
                  <a:srgbClr val="0000FF"/>
                </a:solidFill>
                <a:latin typeface="Calibri"/>
                <a:ea typeface="Calibri"/>
                <a:cs typeface="Calibri"/>
                <a:sym typeface="Calibri"/>
              </a:rPr>
              <a:t>penguins = </a:t>
            </a:r>
            <a:r>
              <a:rPr lang="en" sz="1000" dirty="0" err="1">
                <a:solidFill>
                  <a:srgbClr val="0000FF"/>
                </a:solidFill>
                <a:latin typeface="Calibri"/>
                <a:ea typeface="Calibri"/>
                <a:cs typeface="Calibri"/>
                <a:sym typeface="Calibri"/>
              </a:rPr>
              <a:t>sns.load_dataset</a:t>
            </a:r>
            <a:r>
              <a:rPr lang="en" sz="1000" dirty="0">
                <a:solidFill>
                  <a:srgbClr val="0000FF"/>
                </a:solidFill>
                <a:latin typeface="Calibri"/>
                <a:ea typeface="Calibri"/>
                <a:cs typeface="Calibri"/>
                <a:sym typeface="Calibri"/>
              </a:rPr>
              <a:t>('penguins')</a:t>
            </a:r>
            <a:endParaRPr sz="1000" dirty="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dirty="0">
                <a:solidFill>
                  <a:srgbClr val="0000FF"/>
                </a:solidFill>
                <a:latin typeface="Calibri"/>
                <a:ea typeface="Calibri"/>
                <a:cs typeface="Calibri"/>
                <a:sym typeface="Calibri"/>
              </a:rPr>
              <a:t># first five rows of data </a:t>
            </a:r>
            <a:endParaRPr sz="1000" dirty="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dirty="0" err="1">
                <a:solidFill>
                  <a:srgbClr val="0000FF"/>
                </a:solidFill>
                <a:latin typeface="Calibri"/>
                <a:ea typeface="Calibri"/>
                <a:cs typeface="Calibri"/>
                <a:sym typeface="Calibri"/>
              </a:rPr>
              <a:t>penguins.head</a:t>
            </a:r>
            <a:r>
              <a:rPr lang="en" sz="1000" dirty="0">
                <a:solidFill>
                  <a:srgbClr val="0000FF"/>
                </a:solidFill>
                <a:latin typeface="Calibri"/>
                <a:ea typeface="Calibri"/>
                <a:cs typeface="Calibri"/>
                <a:sym typeface="Calibri"/>
              </a:rPr>
              <a:t>(5)</a:t>
            </a:r>
            <a:endParaRPr sz="1000" dirty="0">
              <a:solidFill>
                <a:srgbClr val="0000FF"/>
              </a:solidFill>
              <a:latin typeface="Calibri"/>
              <a:ea typeface="Calibri"/>
              <a:cs typeface="Calibri"/>
              <a:sym typeface="Calibri"/>
            </a:endParaRPr>
          </a:p>
          <a:p>
            <a:pPr marL="0" lvl="0" indent="0" algn="l" rtl="0">
              <a:spcBef>
                <a:spcPts val="0"/>
              </a:spcBef>
              <a:spcAft>
                <a:spcPts val="0"/>
              </a:spcAft>
              <a:buNone/>
            </a:pPr>
            <a:r>
              <a:rPr lang="en" sz="1000" dirty="0">
                <a:solidFill>
                  <a:srgbClr val="0000FF"/>
                </a:solidFill>
                <a:latin typeface="Calibri"/>
                <a:ea typeface="Calibri"/>
                <a:cs typeface="Calibri"/>
                <a:sym typeface="Calibri"/>
              </a:rPr>
              <a:t># </a:t>
            </a:r>
            <a:r>
              <a:rPr lang="en" sz="1000" dirty="0" err="1">
                <a:solidFill>
                  <a:srgbClr val="0000FF"/>
                </a:solidFill>
                <a:latin typeface="Calibri"/>
                <a:ea typeface="Calibri"/>
                <a:cs typeface="Calibri"/>
                <a:sym typeface="Calibri"/>
              </a:rPr>
              <a:t>penguins.tail</a:t>
            </a:r>
            <a:r>
              <a:rPr lang="en" sz="1000" dirty="0">
                <a:solidFill>
                  <a:srgbClr val="0000FF"/>
                </a:solidFill>
                <a:latin typeface="Calibri"/>
                <a:ea typeface="Calibri"/>
                <a:cs typeface="Calibri"/>
                <a:sym typeface="Calibri"/>
              </a:rPr>
              <a:t>(5) </a:t>
            </a:r>
            <a:endParaRPr sz="1000" dirty="0">
              <a:solidFill>
                <a:srgbClr val="0000FF"/>
              </a:solidFill>
              <a:latin typeface="Calibri"/>
              <a:ea typeface="Calibri"/>
              <a:cs typeface="Calibri"/>
              <a:sym typeface="Calibri"/>
            </a:endParaRPr>
          </a:p>
          <a:p>
            <a:pPr marL="0" lvl="0" indent="0" algn="l" rtl="0">
              <a:spcBef>
                <a:spcPts val="0"/>
              </a:spcBef>
              <a:spcAft>
                <a:spcPts val="0"/>
              </a:spcAft>
              <a:buNone/>
            </a:pPr>
            <a:endParaRPr sz="10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4c7662072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34c7662072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0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2d807c673a3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2d807c673a3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000"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2d807c673a3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2d807c673a3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0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4c7347154c_0_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34c7347154c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000"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2d807c673a3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2d807c673a3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000"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2d807c673a3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2d807c673a3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000"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d807c673a3_0_3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d807c673a3_0_3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000"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2d807c673a3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2d807c673a3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2d7773ffd57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2d7773ffd57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dirty="0">
                <a:solidFill>
                  <a:schemeClr val="hlink"/>
                </a:solidFill>
                <a:hlinkClick r:id="rId3"/>
              </a:rPr>
              <a:t>https://www.w3schools.com/python/matplotlib_scatter.asp</a:t>
            </a:r>
            <a:r>
              <a:rPr lang="en" dirty="0"/>
              <a:t> </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2d807c673a3_0_2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2d807c673a3_0_2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2d807c673a3_0_2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2d807c673a3_0_2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a3fb123d93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9" name="Google Shape;379;ga3fb123d93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dirty="0">
                <a:solidFill>
                  <a:schemeClr val="hlink"/>
                </a:solidFill>
                <a:hlinkClick r:id="rId3"/>
              </a:rPr>
              <a:t>https://swcarpentry.github.io/python-novice-gapminder/01-run-quit.html</a:t>
            </a:r>
            <a:endParaRPr dirty="0"/>
          </a:p>
          <a:p>
            <a:pPr marL="0" lvl="0" indent="0" algn="l" rtl="0">
              <a:lnSpc>
                <a:spcPct val="115000"/>
              </a:lnSpc>
              <a:spcBef>
                <a:spcPts val="0"/>
              </a:spcBef>
              <a:spcAft>
                <a:spcPts val="0"/>
              </a:spcAft>
              <a:buClr>
                <a:schemeClr val="dk1"/>
              </a:buClr>
              <a:buSzPts val="1100"/>
              <a:buFont typeface="Arial"/>
              <a:buNone/>
            </a:pPr>
            <a:r>
              <a:rPr lang="en" sz="1300" dirty="0">
                <a:solidFill>
                  <a:srgbClr val="595959"/>
                </a:solidFill>
              </a:rPr>
              <a:t>Key Python Libraries for Visualization</a:t>
            </a:r>
            <a:endParaRPr sz="1300" dirty="0">
              <a:solidFill>
                <a:srgbClr val="595959"/>
              </a:solidFill>
            </a:endParaRPr>
          </a:p>
          <a:p>
            <a:pPr marL="0" lvl="0" indent="0" algn="l" rtl="0">
              <a:lnSpc>
                <a:spcPct val="115000"/>
              </a:lnSpc>
              <a:spcBef>
                <a:spcPts val="0"/>
              </a:spcBef>
              <a:spcAft>
                <a:spcPts val="0"/>
              </a:spcAft>
              <a:buClr>
                <a:schemeClr val="dk1"/>
              </a:buClr>
              <a:buSzPts val="1100"/>
              <a:buFont typeface="Arial"/>
              <a:buNone/>
            </a:pPr>
            <a:r>
              <a:rPr lang="en" sz="1300" dirty="0">
                <a:solidFill>
                  <a:srgbClr val="595959"/>
                </a:solidFill>
              </a:rPr>
              <a:t>Matplotlib: Basic plotting library</a:t>
            </a:r>
            <a:endParaRPr sz="1300" dirty="0">
              <a:solidFill>
                <a:srgbClr val="595959"/>
              </a:solidFill>
            </a:endParaRPr>
          </a:p>
          <a:p>
            <a:pPr marL="0" lvl="0" indent="0" algn="l" rtl="0">
              <a:lnSpc>
                <a:spcPct val="115000"/>
              </a:lnSpc>
              <a:spcBef>
                <a:spcPts val="0"/>
              </a:spcBef>
              <a:spcAft>
                <a:spcPts val="0"/>
              </a:spcAft>
              <a:buClr>
                <a:schemeClr val="dk1"/>
              </a:buClr>
              <a:buSzPts val="1100"/>
              <a:buFont typeface="Arial"/>
              <a:buNone/>
            </a:pPr>
            <a:r>
              <a:rPr lang="en" sz="1300" dirty="0">
                <a:solidFill>
                  <a:srgbClr val="595959"/>
                </a:solidFill>
              </a:rPr>
              <a:t>Seaborn: Based on Matplotlib; enhances statistical visualizations</a:t>
            </a:r>
            <a:endParaRPr sz="1300" dirty="0">
              <a:solidFill>
                <a:srgbClr val="595959"/>
              </a:solidFill>
            </a:endParaRPr>
          </a:p>
          <a:p>
            <a:pPr marL="0" lvl="0" indent="0" algn="l" rtl="0">
              <a:lnSpc>
                <a:spcPct val="115000"/>
              </a:lnSpc>
              <a:spcBef>
                <a:spcPts val="0"/>
              </a:spcBef>
              <a:spcAft>
                <a:spcPts val="0"/>
              </a:spcAft>
              <a:buClr>
                <a:schemeClr val="dk1"/>
              </a:buClr>
              <a:buSzPts val="1100"/>
              <a:buFont typeface="Arial"/>
              <a:buNone/>
            </a:pPr>
            <a:endParaRPr sz="1300" dirty="0">
              <a:solidFill>
                <a:srgbClr val="595959"/>
              </a:solidFill>
            </a:endParaRPr>
          </a:p>
          <a:p>
            <a:pPr marL="0" lvl="0" indent="0" algn="l" rtl="0">
              <a:spcBef>
                <a:spcPts val="0"/>
              </a:spcBef>
              <a:spcAft>
                <a:spcPts val="0"/>
              </a:spcAft>
              <a:buNone/>
            </a:pPr>
            <a:endParaRPr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34c7662072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34c7662072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34c76620728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7" name="Google Shape;397;g34c76620728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34c76620728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34c76620728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34c7347154c_0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 name="Google Shape;415;g34c7347154c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a:extLst>
            <a:ext uri="{FF2B5EF4-FFF2-40B4-BE49-F238E27FC236}">
              <a16:creationId xmlns:a16="http://schemas.microsoft.com/office/drawing/2014/main" id="{23506B71-5F5F-A307-191A-05C83655A3A9}"/>
            </a:ext>
          </a:extLst>
        </p:cNvPr>
        <p:cNvGrpSpPr/>
        <p:nvPr/>
      </p:nvGrpSpPr>
      <p:grpSpPr>
        <a:xfrm>
          <a:off x="0" y="0"/>
          <a:ext cx="0" cy="0"/>
          <a:chOff x="0" y="0"/>
          <a:chExt cx="0" cy="0"/>
        </a:xfrm>
      </p:grpSpPr>
      <p:sp>
        <p:nvSpPr>
          <p:cNvPr id="414" name="Google Shape;414;g34c7347154c_0_116:notes">
            <a:extLst>
              <a:ext uri="{FF2B5EF4-FFF2-40B4-BE49-F238E27FC236}">
                <a16:creationId xmlns:a16="http://schemas.microsoft.com/office/drawing/2014/main" id="{1C2BE825-BC36-8A9D-6194-DCCD3A3681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5" name="Google Shape;415;g34c7347154c_0_116:notes">
            <a:extLst>
              <a:ext uri="{FF2B5EF4-FFF2-40B4-BE49-F238E27FC236}">
                <a16:creationId xmlns:a16="http://schemas.microsoft.com/office/drawing/2014/main" id="{A8CE1064-D102-6F9D-E6E5-8A5D5A1589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768121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34c76620728_0_1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g34c76620728_0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34c76620728_0_1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4" name="Google Shape;434;g34c76620728_0_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www.dartgo.org/RRADworkshops" TargetMode="External"/><Relationship Id="rId7"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hyperlink" Target="http://rc.dartmouth.edu/" TargetMode="External"/><Relationship Id="rId4" Type="http://schemas.openxmlformats.org/officeDocument/2006/relationships/hyperlink" Target="https://dartgo.org/steve"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vita.had.co.nz/papers/tidy-data.pdf" TargetMode="External"/><Relationship Id="rId7"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hyperlink" Target="https://services.dartmouth.edu/" TargetMode="External"/><Relationship Id="rId5" Type="http://schemas.openxmlformats.org/officeDocument/2006/relationships/hyperlink" Target="https://rc.dartmouth.edu/" TargetMode="External"/><Relationship Id="rId4" Type="http://schemas.openxmlformats.org/officeDocument/2006/relationships/hyperlink" Target="mailto:research.computing@dartmouth.edu" TargetMode="External"/></Relationships>
</file>

<file path=ppt/slides/_rels/slide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python-graph-gallery.com/" TargetMode="External"/><Relationship Id="rId7"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hyperlink" Target="https://www.w3schools.com/datascience/ds_python.asp" TargetMode="External"/><Relationship Id="rId4" Type="http://schemas.openxmlformats.org/officeDocument/2006/relationships/hyperlink" Target="https://www.oreilly.com/library/view/python-for-data/9781098104023/"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s://learning.oreilly.com/library/view/foundational-python-for/9780136624417/" TargetMode="External"/><Relationship Id="rId7" Type="http://schemas.openxmlformats.org/officeDocument/2006/relationships/hyperlink" Target="https://www.w3schools.com/datascience/ds_python.asp"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hyperlink" Target="https://seaborn.pydata.org/" TargetMode="External"/><Relationship Id="rId5" Type="http://schemas.openxmlformats.org/officeDocument/2006/relationships/hyperlink" Target="https://matplotlib.org/3.5.3/gallery/index.html" TargetMode="External"/><Relationship Id="rId4" Type="http://schemas.openxmlformats.org/officeDocument/2006/relationships/hyperlink" Target="https://python-graph-gallery.com/" TargetMode="External"/><Relationship Id="rId9"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hyperlink" Target="https://matplotlib.org/3.5.3/gallery/index.html" TargetMode="External"/><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hyperlink" Target="https://python-graph-gallery.com/"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www.anaconda.com/download" TargetMode="External"/><Relationship Id="rId7"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hyperlink" Target="https://services.dartmouth.edu/TDClient/1806/Portal/KB/ArticleDet?ID=155286" TargetMode="External"/><Relationship Id="rId5" Type="http://schemas.openxmlformats.org/officeDocument/2006/relationships/hyperlink" Target="https://colab.research.google.com/" TargetMode="External"/><Relationship Id="rId4" Type="http://schemas.openxmlformats.org/officeDocument/2006/relationships/hyperlink" Target="https://code.visualstudio.com/download" TargetMode="External"/></Relationships>
</file>

<file path=ppt/slides/_rels/slide16.xml.rels><?xml version="1.0" encoding="UTF-8" standalone="yes"?>
<Relationships xmlns="http://schemas.openxmlformats.org/package/2006/relationships"><Relationship Id="rId8" Type="http://schemas.openxmlformats.org/officeDocument/2006/relationships/hyperlink" Target="https://www.youtube.com/watch?v=D2cwvpJSBX4" TargetMode="External"/><Relationship Id="rId3" Type="http://schemas.openxmlformats.org/officeDocument/2006/relationships/hyperlink" Target="https://github.com/Dartmouth-Libraries/Intro-to-Python" TargetMode="External"/><Relationship Id="rId7" Type="http://schemas.openxmlformats.org/officeDocument/2006/relationships/hyperlink" Target="https://code.visualstudio.com/docs/python/python-tutorial"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hyperlink" Target="https://code.visualstudio.com/download" TargetMode="External"/><Relationship Id="rId11" Type="http://schemas.openxmlformats.org/officeDocument/2006/relationships/image" Target="../media/image3.png"/><Relationship Id="rId5" Type="http://schemas.openxmlformats.org/officeDocument/2006/relationships/hyperlink" Target="https://www.anaconda.com/download/success" TargetMode="External"/><Relationship Id="rId10" Type="http://schemas.openxmlformats.org/officeDocument/2006/relationships/image" Target="../media/image2.png"/><Relationship Id="rId4" Type="http://schemas.openxmlformats.org/officeDocument/2006/relationships/hyperlink" Target="https://github.com/Dartmouth-Libraries/data-viz-matplotlib" TargetMode="External"/><Relationship Id="rId9" Type="http://schemas.openxmlformats.org/officeDocument/2006/relationships/hyperlink" Target="https://www.youtube.com/@code" TargetMode="External"/></Relationships>
</file>

<file path=ppt/slides/_rels/slide17.xml.rels><?xml version="1.0" encoding="UTF-8" standalone="yes"?>
<Relationships xmlns="http://schemas.openxmlformats.org/package/2006/relationships"><Relationship Id="rId8" Type="http://schemas.openxmlformats.org/officeDocument/2006/relationships/hyperlink" Target="https://docs.brew.sh/Homebrew-and-Python" TargetMode="External"/><Relationship Id="rId3" Type="http://schemas.openxmlformats.org/officeDocument/2006/relationships/hyperlink" Target="https://www.anaconda.com/docs/getting-started/working-with-conda/environments" TargetMode="External"/><Relationship Id="rId7" Type="http://schemas.openxmlformats.org/officeDocument/2006/relationships/hyperlink" Target="https://brew.sh/"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hyperlink" Target="https://pypi.org/project/pip/" TargetMode="External"/><Relationship Id="rId5" Type="http://schemas.openxmlformats.org/officeDocument/2006/relationships/hyperlink" Target="https://docs.conda.io/projects/conda/en/latest/user-guide/tasks/manage-environments.html" TargetMode="External"/><Relationship Id="rId10" Type="http://schemas.openxmlformats.org/officeDocument/2006/relationships/image" Target="../media/image3.png"/><Relationship Id="rId4" Type="http://schemas.openxmlformats.org/officeDocument/2006/relationships/hyperlink" Target="https://services.dartmouth.edu/TDClient/1806/Portal/KB/ArticleDet?ID=72888" TargetMode="External"/><Relationship Id="rId9"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hyperlink" Target="https://www.kaggle.com/code/sunaysawant/penguin-in-antarctica-eda" TargetMode="External"/><Relationship Id="rId5" Type="http://schemas.openxmlformats.org/officeDocument/2006/relationships/image" Target="../media/image15.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hyperlink" Target="https://dartgo.org/penguin_data_csv" TargetMode="Externa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hyperlink" Target="https://seaborn.pydata.org/examples/index.html" TargetMode="Externa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hyperlink" Target="https://r4ds.had.co.nz/tidy-data.html" TargetMode="Externa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8" Type="http://schemas.openxmlformats.org/officeDocument/2006/relationships/hyperlink" Target="https://en.wikipedia.org/wiki/Iris_flower_data_set#/media/File:Iris_virginica.jpg" TargetMode="External"/><Relationship Id="rId3" Type="http://schemas.openxmlformats.org/officeDocument/2006/relationships/image" Target="../media/image2.png"/><Relationship Id="rId7" Type="http://schemas.openxmlformats.org/officeDocument/2006/relationships/hyperlink" Target="https://www.kaggle.com/code/sunaysawant/penguin-in-antarctica-eda" TargetMode="External"/><Relationship Id="rId2" Type="http://schemas.openxmlformats.org/officeDocument/2006/relationships/notesSlide" Target="../notesSlides/notesSlide28.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23.png"/><Relationship Id="rId4" Type="http://schemas.openxmlformats.org/officeDocument/2006/relationships/image" Target="../media/image3.png"/><Relationship Id="rId9" Type="http://schemas.openxmlformats.org/officeDocument/2006/relationships/hyperlink" Target="https://en.wikipedia.org/wiki/Iris_flower_data_set#/media/File:Iris_versicolor_3.jpg" TargetMode="External"/></Relationships>
</file>

<file path=ppt/slides/_rels/slide2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s://pandas.pydata.org/docs/getting_started/intro_tutorials/index.html" TargetMode="External"/><Relationship Id="rId7" Type="http://schemas.openxmlformats.org/officeDocument/2006/relationships/hyperlink" Target="https://docs.scipy.org/doc/scipy-1.15.0/reference/stats.html" TargetMode="External"/><Relationship Id="rId2" Type="http://schemas.openxmlformats.org/officeDocument/2006/relationships/notesSlide" Target="../notesSlides/notesSlide29.xml"/><Relationship Id="rId1" Type="http://schemas.openxmlformats.org/officeDocument/2006/relationships/slideLayout" Target="../slideLayouts/slideLayout3.xml"/><Relationship Id="rId6" Type="http://schemas.openxmlformats.org/officeDocument/2006/relationships/hyperlink" Target="https://docs.scipy.org/doc/numpy/reference/routines.statistics.html" TargetMode="External"/><Relationship Id="rId5" Type="http://schemas.openxmlformats.org/officeDocument/2006/relationships/hyperlink" Target="https://www.w3schools.com/python/matplotlib_intro.asp" TargetMode="External"/><Relationship Id="rId4" Type="http://schemas.openxmlformats.org/officeDocument/2006/relationships/hyperlink" Target="https://seaborn.pydata.org/" TargetMode="External"/><Relationship Id="rId9"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hyperlink" Target="https://seaborn.pydata.org/tutorial.html" TargetMode="External"/><Relationship Id="rId7" Type="http://schemas.openxmlformats.org/officeDocument/2006/relationships/hyperlink" Target="https://swcarpentry.github.io/python-novice-gapminder/" TargetMode="External"/><Relationship Id="rId2" Type="http://schemas.openxmlformats.org/officeDocument/2006/relationships/notesSlide" Target="../notesSlides/notesSlide31.xml"/><Relationship Id="rId1" Type="http://schemas.openxmlformats.org/officeDocument/2006/relationships/slideLayout" Target="../slideLayouts/slideLayout3.xml"/><Relationship Id="rId6" Type="http://schemas.openxmlformats.org/officeDocument/2006/relationships/hyperlink" Target="https://stackoverflow.com/" TargetMode="External"/><Relationship Id="rId5" Type="http://schemas.openxmlformats.org/officeDocument/2006/relationships/hyperlink" Target="https://pandas.pydata.org/docs/user_guide/10min.html" TargetMode="External"/><Relationship Id="rId10" Type="http://schemas.openxmlformats.org/officeDocument/2006/relationships/hyperlink" Target="https://github.com/Dartmouth-Libraries/reproducible-research" TargetMode="External"/><Relationship Id="rId4" Type="http://schemas.openxmlformats.org/officeDocument/2006/relationships/hyperlink" Target="https://www.w3schools.com/python/pandas/default.asp" TargetMode="External"/><Relationship Id="rId9"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hyperlink" Target="https://rc.dartmouth.edu/" TargetMode="External"/><Relationship Id="rId2" Type="http://schemas.openxmlformats.org/officeDocument/2006/relationships/notesSlide" Target="../notesSlides/notesSlide32.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dartgo.org/rradworkshops"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s://dartgo.org/python-data" TargetMode="External"/><Relationship Id="rId2" Type="http://schemas.openxmlformats.org/officeDocument/2006/relationships/notesSlide" Target="../notesSlides/notesSlide33.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hyperlink" Target="https://dartgo.org/feedback" TargetMode="External"/><Relationship Id="rId2" Type="http://schemas.openxmlformats.org/officeDocument/2006/relationships/notesSlide" Target="../notesSlides/notesSlide38.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png"/><Relationship Id="rId7" Type="http://schemas.openxmlformats.org/officeDocument/2006/relationships/hyperlink" Target="https://services.dartmouth.edu/" TargetMode="External"/><Relationship Id="rId2" Type="http://schemas.openxmlformats.org/officeDocument/2006/relationships/notesSlide" Target="../notesSlides/notesSlide39.xml"/><Relationship Id="rId1" Type="http://schemas.openxmlformats.org/officeDocument/2006/relationships/slideLayout" Target="../slideLayouts/slideLayout3.xml"/><Relationship Id="rId6" Type="http://schemas.openxmlformats.org/officeDocument/2006/relationships/hyperlink" Target="https://rc.dartmouth.edu/" TargetMode="External"/><Relationship Id="rId5" Type="http://schemas.openxmlformats.org/officeDocument/2006/relationships/hyperlink" Target="mailto:research.computing@dartmouth.edu" TargetMode="Externa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4397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400" dirty="0"/>
              <a:t>Python Graph Gallery </a:t>
            </a:r>
            <a:br>
              <a:rPr lang="en" sz="4400" dirty="0"/>
            </a:br>
            <a:endParaRPr sz="4400" dirty="0"/>
          </a:p>
        </p:txBody>
      </p:sp>
      <p:sp>
        <p:nvSpPr>
          <p:cNvPr id="55" name="Google Shape;55;p13"/>
          <p:cNvSpPr txBox="1">
            <a:spLocks noGrp="1"/>
          </p:cNvSpPr>
          <p:nvPr>
            <p:ph type="subTitle" idx="1"/>
          </p:nvPr>
        </p:nvSpPr>
        <p:spPr>
          <a:xfrm>
            <a:off x="311700" y="2371500"/>
            <a:ext cx="8520600" cy="2429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2000" dirty="0">
                <a:solidFill>
                  <a:srgbClr val="4A86E8"/>
                </a:solidFill>
              </a:rPr>
              <a:t>A part of the Reproducible Research Workshop Series</a:t>
            </a:r>
            <a:endParaRPr sz="2000" dirty="0">
              <a:solidFill>
                <a:srgbClr val="4A86E8"/>
              </a:solidFill>
            </a:endParaRPr>
          </a:p>
          <a:p>
            <a:pPr marL="0" lvl="0" indent="0" algn="ctr" rtl="0">
              <a:spcBef>
                <a:spcPts val="0"/>
              </a:spcBef>
              <a:spcAft>
                <a:spcPts val="0"/>
              </a:spcAft>
              <a:buClr>
                <a:schemeClr val="dk1"/>
              </a:buClr>
              <a:buSzPts val="1100"/>
              <a:buFont typeface="Arial"/>
              <a:buNone/>
            </a:pPr>
            <a:r>
              <a:rPr lang="en" sz="2000" u="sng" dirty="0">
                <a:solidFill>
                  <a:schemeClr val="accent5"/>
                </a:solidFill>
                <a:hlinkClick r:id="rId3">
                  <a:extLst>
                    <a:ext uri="{A12FA001-AC4F-418D-AE19-62706E023703}">
                      <ahyp:hlinkClr xmlns:ahyp="http://schemas.microsoft.com/office/drawing/2018/hyperlinkcolor" val="tx"/>
                    </a:ext>
                  </a:extLst>
                </a:hlinkClick>
              </a:rPr>
              <a:t>www.dartgo.org/RRADworkshops</a:t>
            </a:r>
            <a:r>
              <a:rPr lang="en" sz="2000" dirty="0">
                <a:solidFill>
                  <a:schemeClr val="dk1"/>
                </a:solidFill>
              </a:rPr>
              <a:t> </a:t>
            </a:r>
            <a:endParaRPr sz="2000" dirty="0">
              <a:solidFill>
                <a:schemeClr val="dk1"/>
              </a:solidFill>
            </a:endParaRPr>
          </a:p>
          <a:p>
            <a:pPr marL="0" lvl="0" indent="0" algn="ctr" rtl="0">
              <a:spcBef>
                <a:spcPts val="0"/>
              </a:spcBef>
              <a:spcAft>
                <a:spcPts val="0"/>
              </a:spcAft>
              <a:buClr>
                <a:schemeClr val="dk1"/>
              </a:buClr>
              <a:buSzPts val="1100"/>
              <a:buFont typeface="Arial"/>
              <a:buNone/>
            </a:pPr>
            <a:r>
              <a:rPr lang="en" sz="2000" dirty="0">
                <a:solidFill>
                  <a:srgbClr val="4A86E8"/>
                </a:solidFill>
              </a:rPr>
              <a:t>Steve Gaughan</a:t>
            </a:r>
            <a:endParaRPr sz="2000" dirty="0">
              <a:solidFill>
                <a:srgbClr val="4A86E8"/>
              </a:solidFill>
            </a:endParaRPr>
          </a:p>
          <a:p>
            <a:pPr marL="0" lvl="0" indent="0" algn="ctr" rtl="0">
              <a:spcBef>
                <a:spcPts val="0"/>
              </a:spcBef>
              <a:spcAft>
                <a:spcPts val="0"/>
              </a:spcAft>
              <a:buClr>
                <a:schemeClr val="dk1"/>
              </a:buClr>
              <a:buSzPts val="1100"/>
              <a:buFont typeface="Arial"/>
              <a:buNone/>
            </a:pPr>
            <a:r>
              <a:rPr lang="en" sz="2000" dirty="0">
                <a:solidFill>
                  <a:srgbClr val="4A86E8"/>
                </a:solidFill>
              </a:rPr>
              <a:t> </a:t>
            </a:r>
            <a:r>
              <a:rPr lang="en" sz="2000" u="sng" dirty="0">
                <a:solidFill>
                  <a:schemeClr val="accent5"/>
                </a:solidFill>
                <a:hlinkClick r:id="rId4">
                  <a:extLst>
                    <a:ext uri="{A12FA001-AC4F-418D-AE19-62706E023703}">
                      <ahyp:hlinkClr xmlns:ahyp="http://schemas.microsoft.com/office/drawing/2018/hyperlinkcolor" val="tx"/>
                    </a:ext>
                  </a:extLst>
                </a:hlinkClick>
              </a:rPr>
              <a:t>https://dartgo.org/steve</a:t>
            </a:r>
            <a:r>
              <a:rPr lang="en" sz="2000" dirty="0">
                <a:solidFill>
                  <a:srgbClr val="4A86E8"/>
                </a:solidFill>
              </a:rPr>
              <a:t> </a:t>
            </a:r>
            <a:endParaRPr sz="2000" dirty="0">
              <a:solidFill>
                <a:srgbClr val="4A86E8"/>
              </a:solidFill>
            </a:endParaRPr>
          </a:p>
          <a:p>
            <a:pPr marL="0" lvl="0" indent="0" algn="ctr" rtl="0">
              <a:spcBef>
                <a:spcPts val="0"/>
              </a:spcBef>
              <a:spcAft>
                <a:spcPts val="0"/>
              </a:spcAft>
              <a:buClr>
                <a:schemeClr val="dk1"/>
              </a:buClr>
              <a:buSzPts val="1100"/>
              <a:buFont typeface="Arial"/>
              <a:buNone/>
            </a:pPr>
            <a:r>
              <a:rPr lang="en" sz="2000" dirty="0">
                <a:solidFill>
                  <a:srgbClr val="4A86E8"/>
                </a:solidFill>
              </a:rPr>
              <a:t>Research Computing &amp; D</a:t>
            </a:r>
            <a:r>
              <a:rPr lang="en-US" sz="2000" dirty="0">
                <a:solidFill>
                  <a:srgbClr val="4A86E8"/>
                </a:solidFill>
              </a:rPr>
              <a:t>a</a:t>
            </a:r>
            <a:r>
              <a:rPr lang="en" sz="2000" dirty="0">
                <a:solidFill>
                  <a:srgbClr val="4A86E8"/>
                </a:solidFill>
              </a:rPr>
              <a:t>ta @ ITC</a:t>
            </a:r>
          </a:p>
          <a:p>
            <a:pPr marL="0" lvl="0" indent="0" algn="ctr" rtl="0">
              <a:spcBef>
                <a:spcPts val="0"/>
              </a:spcBef>
              <a:spcAft>
                <a:spcPts val="0"/>
              </a:spcAft>
              <a:buClr>
                <a:schemeClr val="dk1"/>
              </a:buClr>
              <a:buSzPts val="1100"/>
              <a:buFont typeface="Arial"/>
              <a:buNone/>
            </a:pPr>
            <a:r>
              <a:rPr lang="en-US" sz="2000" u="sng" dirty="0">
                <a:solidFill>
                  <a:srgbClr val="4A86E8"/>
                </a:solidFill>
                <a:hlinkClick r:id="rId5"/>
              </a:rPr>
              <a:t>r</a:t>
            </a:r>
            <a:r>
              <a:rPr lang="en" sz="2000" u="sng" dirty="0">
                <a:solidFill>
                  <a:srgbClr val="4A86E8"/>
                </a:solidFill>
                <a:hlinkClick r:id="rId5"/>
              </a:rPr>
              <a:t>c.</a:t>
            </a:r>
            <a:r>
              <a:rPr lang="en-US" sz="2000" u="sng" dirty="0">
                <a:solidFill>
                  <a:srgbClr val="4A86E8"/>
                </a:solidFill>
                <a:hlinkClick r:id="rId5"/>
              </a:rPr>
              <a:t>d</a:t>
            </a:r>
            <a:r>
              <a:rPr lang="en" sz="2000" u="sng" dirty="0">
                <a:solidFill>
                  <a:srgbClr val="4A86E8"/>
                </a:solidFill>
                <a:hlinkClick r:id="rId5"/>
              </a:rPr>
              <a:t>artmouth.edu</a:t>
            </a:r>
            <a:endParaRPr sz="2000" dirty="0"/>
          </a:p>
          <a:p>
            <a:pPr marL="0" lvl="0" indent="0" algn="ctr" rtl="0">
              <a:lnSpc>
                <a:spcPct val="138000"/>
              </a:lnSpc>
              <a:spcBef>
                <a:spcPts val="1600"/>
              </a:spcBef>
              <a:spcAft>
                <a:spcPts val="0"/>
              </a:spcAft>
              <a:buNone/>
            </a:pPr>
            <a:endParaRPr sz="1200" dirty="0"/>
          </a:p>
          <a:p>
            <a:pPr marL="0" lvl="0" indent="0" algn="l" rtl="0">
              <a:spcBef>
                <a:spcPts val="1600"/>
              </a:spcBef>
              <a:spcAft>
                <a:spcPts val="0"/>
              </a:spcAft>
              <a:buNone/>
            </a:pPr>
            <a:endParaRPr sz="1200" dirty="0"/>
          </a:p>
          <a:p>
            <a:pPr marL="0" lvl="0" indent="0" algn="ctr" rtl="0">
              <a:spcBef>
                <a:spcPts val="0"/>
              </a:spcBef>
              <a:spcAft>
                <a:spcPts val="0"/>
              </a:spcAft>
              <a:buNone/>
            </a:pPr>
            <a:endParaRPr sz="1200" dirty="0"/>
          </a:p>
          <a:p>
            <a:pPr marL="0" lvl="0" indent="0" algn="ctr" rtl="0">
              <a:spcBef>
                <a:spcPts val="0"/>
              </a:spcBef>
              <a:spcAft>
                <a:spcPts val="0"/>
              </a:spcAft>
              <a:buNone/>
            </a:pPr>
            <a:endParaRPr sz="1200" dirty="0"/>
          </a:p>
        </p:txBody>
      </p:sp>
      <p:sp>
        <p:nvSpPr>
          <p:cNvPr id="56" name="Google Shape;56;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a:t>
            </a:fld>
            <a:endParaRPr/>
          </a:p>
        </p:txBody>
      </p:sp>
      <p:pic>
        <p:nvPicPr>
          <p:cNvPr id="57" name="Google Shape;57;p13"/>
          <p:cNvPicPr preferRelativeResize="0"/>
          <p:nvPr/>
        </p:nvPicPr>
        <p:blipFill>
          <a:blip r:embed="rId6">
            <a:alphaModFix/>
          </a:blip>
          <a:stretch>
            <a:fillRect/>
          </a:stretch>
        </p:blipFill>
        <p:spPr>
          <a:xfrm>
            <a:off x="7602000" y="3505200"/>
            <a:ext cx="1199825" cy="1199825"/>
          </a:xfrm>
          <a:prstGeom prst="rect">
            <a:avLst/>
          </a:prstGeom>
          <a:noFill/>
          <a:ln>
            <a:noFill/>
          </a:ln>
          <a:effectLst>
            <a:outerShdw blurRad="57150" dist="19050" dir="5400000" algn="bl" rotWithShape="0">
              <a:srgbClr val="000000">
                <a:alpha val="50000"/>
              </a:srgbClr>
            </a:outerShdw>
          </a:effectLst>
        </p:spPr>
      </p:pic>
      <p:pic>
        <p:nvPicPr>
          <p:cNvPr id="58" name="Google Shape;58;p13"/>
          <p:cNvPicPr preferRelativeResize="0"/>
          <p:nvPr/>
        </p:nvPicPr>
        <p:blipFill>
          <a:blip r:embed="rId7">
            <a:alphaModFix/>
          </a:blip>
          <a:stretch>
            <a:fillRect/>
          </a:stretch>
        </p:blipFill>
        <p:spPr>
          <a:xfrm>
            <a:off x="685800" y="4114800"/>
            <a:ext cx="1714625" cy="315575"/>
          </a:xfrm>
          <a:prstGeom prst="rect">
            <a:avLst/>
          </a:prstGeom>
          <a:noFill/>
          <a:ln>
            <a:noFill/>
          </a:ln>
        </p:spPr>
      </p:pic>
      <p:pic>
        <p:nvPicPr>
          <p:cNvPr id="59" name="Google Shape;59;p13"/>
          <p:cNvPicPr preferRelativeResize="0"/>
          <p:nvPr/>
        </p:nvPicPr>
        <p:blipFill>
          <a:blip r:embed="rId8">
            <a:alphaModFix/>
          </a:blip>
          <a:stretch>
            <a:fillRect/>
          </a:stretch>
        </p:blipFill>
        <p:spPr>
          <a:xfrm>
            <a:off x="203250" y="3973175"/>
            <a:ext cx="451850" cy="4518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About the Reproducible Research Group</a:t>
            </a:r>
            <a:endParaRPr/>
          </a:p>
        </p:txBody>
      </p:sp>
      <p:sp>
        <p:nvSpPr>
          <p:cNvPr id="65" name="Google Shape;65;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dirty="0"/>
              <a:t>Joint venture of </a:t>
            </a:r>
            <a:r>
              <a:rPr lang="en" b="1" dirty="0"/>
              <a:t>Research Computing @ ITC</a:t>
            </a:r>
            <a:r>
              <a:rPr lang="en" dirty="0"/>
              <a:t> and </a:t>
            </a:r>
            <a:r>
              <a:rPr lang="en" b="1" dirty="0"/>
              <a:t>Research Data Services @ Library</a:t>
            </a:r>
            <a:endParaRPr b="1" dirty="0"/>
          </a:p>
          <a:p>
            <a:pPr marL="457200" lvl="0" indent="-342900" algn="l" rtl="0">
              <a:spcBef>
                <a:spcPts val="0"/>
              </a:spcBef>
              <a:spcAft>
                <a:spcPts val="0"/>
              </a:spcAft>
              <a:buSzPts val="1800"/>
              <a:buChar char="●"/>
            </a:pPr>
            <a:r>
              <a:rPr lang="en" dirty="0"/>
              <a:t>Consult with us on</a:t>
            </a:r>
          </a:p>
          <a:p>
            <a:pPr lvl="1" indent="-342900">
              <a:spcBef>
                <a:spcPts val="0"/>
              </a:spcBef>
              <a:buSzPts val="1800"/>
              <a:buChar char="●"/>
            </a:pPr>
            <a:r>
              <a:rPr lang="en" dirty="0"/>
              <a:t>Research data management</a:t>
            </a:r>
          </a:p>
          <a:p>
            <a:pPr lvl="1" indent="-342900">
              <a:spcBef>
                <a:spcPts val="0"/>
              </a:spcBef>
              <a:buSzPts val="1800"/>
              <a:buChar char="●"/>
            </a:pPr>
            <a:r>
              <a:rPr lang="en" dirty="0"/>
              <a:t>Data visualization</a:t>
            </a:r>
          </a:p>
          <a:p>
            <a:pPr lvl="1" indent="-342900">
              <a:spcBef>
                <a:spcPts val="0"/>
              </a:spcBef>
              <a:buSzPts val="1800"/>
              <a:buChar char="●"/>
            </a:pPr>
            <a:r>
              <a:rPr lang="en" dirty="0"/>
              <a:t>Biomedical research support</a:t>
            </a:r>
          </a:p>
          <a:p>
            <a:pPr lvl="1" indent="-342900">
              <a:spcBef>
                <a:spcPts val="0"/>
              </a:spcBef>
              <a:buSzPts val="1800"/>
              <a:buChar char="●"/>
            </a:pPr>
            <a:r>
              <a:rPr lang="en" dirty="0"/>
              <a:t>Spatial data and GIS</a:t>
            </a:r>
          </a:p>
          <a:p>
            <a:pPr lvl="1" indent="-342900">
              <a:spcBef>
                <a:spcPts val="0"/>
              </a:spcBef>
              <a:buSzPts val="1800"/>
              <a:buChar char="●"/>
            </a:pPr>
            <a:r>
              <a:rPr lang="en" dirty="0"/>
              <a:t>High performance and research computing </a:t>
            </a:r>
          </a:p>
          <a:p>
            <a:pPr lvl="1" indent="-342900">
              <a:spcBef>
                <a:spcPts val="0"/>
              </a:spcBef>
              <a:buSzPts val="1800"/>
              <a:buChar char="●"/>
            </a:pPr>
            <a:r>
              <a:rPr lang="en" dirty="0"/>
              <a:t>Statistical software and tools</a:t>
            </a:r>
          </a:p>
          <a:p>
            <a:pPr lvl="1" indent="-342900">
              <a:spcBef>
                <a:spcPts val="0"/>
              </a:spcBef>
              <a:buSzPts val="1800"/>
              <a:buChar char="●"/>
            </a:pPr>
            <a:r>
              <a:rPr lang="en" dirty="0"/>
              <a:t>Economics and social sciences data </a:t>
            </a:r>
            <a:endParaRPr dirty="0"/>
          </a:p>
          <a:p>
            <a:pPr marL="457200" lvl="0" indent="-342900" algn="l" rtl="0">
              <a:spcBef>
                <a:spcPts val="0"/>
              </a:spcBef>
              <a:spcAft>
                <a:spcPts val="0"/>
              </a:spcAft>
              <a:buSzPts val="1800"/>
              <a:buChar char="●"/>
            </a:pPr>
            <a:r>
              <a:rPr lang="en" b="1" dirty="0"/>
              <a:t>Meet</a:t>
            </a:r>
            <a:r>
              <a:rPr lang="en" dirty="0"/>
              <a:t> the people on campus that support your reproducible research lifecycle</a:t>
            </a:r>
            <a:endParaRPr dirty="0"/>
          </a:p>
          <a:p>
            <a:pPr marL="457200" lvl="0" indent="-342900" algn="l" rtl="0">
              <a:spcBef>
                <a:spcPts val="0"/>
              </a:spcBef>
              <a:spcAft>
                <a:spcPts val="0"/>
              </a:spcAft>
              <a:buSzPts val="1800"/>
              <a:buChar char="●"/>
            </a:pPr>
            <a:r>
              <a:rPr lang="en" b="1" dirty="0"/>
              <a:t>Engage</a:t>
            </a:r>
            <a:r>
              <a:rPr lang="en" dirty="0"/>
              <a:t> in community discussions to learn from other researchers on campus</a:t>
            </a:r>
            <a:endParaRPr dirty="0"/>
          </a:p>
          <a:p>
            <a:pPr marL="457200" lvl="0" indent="-342900" algn="l" rtl="0">
              <a:spcBef>
                <a:spcPts val="0"/>
              </a:spcBef>
              <a:spcAft>
                <a:spcPts val="0"/>
              </a:spcAft>
              <a:buSzPts val="1800"/>
              <a:buChar char="●"/>
            </a:pPr>
            <a:r>
              <a:rPr lang="en" b="1" dirty="0"/>
              <a:t>Attend</a:t>
            </a:r>
            <a:r>
              <a:rPr lang="en" dirty="0"/>
              <a:t> our workshops to </a:t>
            </a:r>
            <a:r>
              <a:rPr lang="en" b="1" dirty="0"/>
              <a:t>learn</a:t>
            </a:r>
            <a:r>
              <a:rPr lang="en" dirty="0"/>
              <a:t> practical tools and tips </a:t>
            </a:r>
            <a:endParaRPr dirty="0"/>
          </a:p>
        </p:txBody>
      </p:sp>
      <p:sp>
        <p:nvSpPr>
          <p:cNvPr id="66" name="Google Shape;66;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a:t>
            </a:fld>
            <a:endParaRPr/>
          </a:p>
        </p:txBody>
      </p:sp>
      <p:pic>
        <p:nvPicPr>
          <p:cNvPr id="67" name="Google Shape;67;p14"/>
          <p:cNvPicPr preferRelativeResize="0"/>
          <p:nvPr/>
        </p:nvPicPr>
        <p:blipFill>
          <a:blip r:embed="rId3">
            <a:alphaModFix/>
          </a:blip>
          <a:stretch>
            <a:fillRect/>
          </a:stretch>
        </p:blipFill>
        <p:spPr>
          <a:xfrm>
            <a:off x="7391400" y="152400"/>
            <a:ext cx="1359149" cy="250150"/>
          </a:xfrm>
          <a:prstGeom prst="rect">
            <a:avLst/>
          </a:prstGeom>
          <a:noFill/>
          <a:ln>
            <a:noFill/>
          </a:ln>
        </p:spPr>
      </p:pic>
      <p:pic>
        <p:nvPicPr>
          <p:cNvPr id="68" name="Google Shape;68;p14"/>
          <p:cNvPicPr preferRelativeResize="0"/>
          <p:nvPr/>
        </p:nvPicPr>
        <p:blipFill>
          <a:blip r:embed="rId4">
            <a:alphaModFix/>
          </a:blip>
          <a:stretch>
            <a:fillRect/>
          </a:stretch>
        </p:blipFill>
        <p:spPr>
          <a:xfrm>
            <a:off x="203250" y="86975"/>
            <a:ext cx="315575" cy="3155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5"/>
          <p:cNvSpPr txBox="1">
            <a:spLocks noGrp="1"/>
          </p:cNvSpPr>
          <p:nvPr>
            <p:ph type="title"/>
          </p:nvPr>
        </p:nvSpPr>
        <p:spPr>
          <a:xfrm>
            <a:off x="311700" y="2926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About Research Computing and Data </a:t>
            </a:r>
            <a:endParaRPr dirty="0"/>
          </a:p>
        </p:txBody>
      </p:sp>
      <p:sp>
        <p:nvSpPr>
          <p:cNvPr id="74" name="Google Shape;74;p15"/>
          <p:cNvSpPr txBox="1">
            <a:spLocks noGrp="1"/>
          </p:cNvSpPr>
          <p:nvPr>
            <p:ph type="body" idx="1"/>
          </p:nvPr>
        </p:nvSpPr>
        <p:spPr>
          <a:xfrm>
            <a:off x="83100" y="1076275"/>
            <a:ext cx="27381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b="1" dirty="0"/>
              <a:t>High Performance Computing</a:t>
            </a:r>
            <a:endParaRPr sz="1400" b="1" dirty="0"/>
          </a:p>
          <a:p>
            <a:pPr marL="0" lvl="0" indent="0" algn="l" rtl="0">
              <a:spcBef>
                <a:spcPts val="1600"/>
              </a:spcBef>
              <a:spcAft>
                <a:spcPts val="0"/>
              </a:spcAft>
              <a:buNone/>
            </a:pPr>
            <a:r>
              <a:rPr lang="en" sz="1400" dirty="0"/>
              <a:t>Linux Cluster and High Performance Network Storage </a:t>
            </a:r>
            <a:endParaRPr sz="1400" dirty="0"/>
          </a:p>
          <a:p>
            <a:pPr marL="0" lvl="0" indent="0" algn="l" rtl="0">
              <a:spcBef>
                <a:spcPts val="1600"/>
              </a:spcBef>
              <a:spcAft>
                <a:spcPts val="0"/>
              </a:spcAft>
              <a:buNone/>
            </a:pPr>
            <a:r>
              <a:rPr lang="en" sz="1400" dirty="0"/>
              <a:t>Secure systems for medical and protected data  </a:t>
            </a:r>
            <a:endParaRPr sz="1400" dirty="0"/>
          </a:p>
        </p:txBody>
      </p:sp>
      <p:sp>
        <p:nvSpPr>
          <p:cNvPr id="75" name="Google Shape;75;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a:t>
            </a:fld>
            <a:endParaRPr/>
          </a:p>
        </p:txBody>
      </p:sp>
      <p:pic>
        <p:nvPicPr>
          <p:cNvPr id="76" name="Google Shape;76;p15"/>
          <p:cNvPicPr preferRelativeResize="0"/>
          <p:nvPr/>
        </p:nvPicPr>
        <p:blipFill>
          <a:blip r:embed="rId3">
            <a:alphaModFix/>
          </a:blip>
          <a:stretch>
            <a:fillRect/>
          </a:stretch>
        </p:blipFill>
        <p:spPr>
          <a:xfrm>
            <a:off x="7391400" y="152400"/>
            <a:ext cx="1359149" cy="250150"/>
          </a:xfrm>
          <a:prstGeom prst="rect">
            <a:avLst/>
          </a:prstGeom>
          <a:noFill/>
          <a:ln>
            <a:noFill/>
          </a:ln>
        </p:spPr>
      </p:pic>
      <p:pic>
        <p:nvPicPr>
          <p:cNvPr id="77" name="Google Shape;77;p15"/>
          <p:cNvPicPr preferRelativeResize="0"/>
          <p:nvPr/>
        </p:nvPicPr>
        <p:blipFill>
          <a:blip r:embed="rId4">
            <a:alphaModFix/>
          </a:blip>
          <a:stretch>
            <a:fillRect/>
          </a:stretch>
        </p:blipFill>
        <p:spPr>
          <a:xfrm>
            <a:off x="203250" y="86975"/>
            <a:ext cx="315575" cy="315575"/>
          </a:xfrm>
          <a:prstGeom prst="rect">
            <a:avLst/>
          </a:prstGeom>
          <a:noFill/>
          <a:ln>
            <a:noFill/>
          </a:ln>
        </p:spPr>
      </p:pic>
      <p:sp>
        <p:nvSpPr>
          <p:cNvPr id="78" name="Google Shape;78;p15"/>
          <p:cNvSpPr txBox="1">
            <a:spLocks noGrp="1"/>
          </p:cNvSpPr>
          <p:nvPr>
            <p:ph type="body" idx="1"/>
          </p:nvPr>
        </p:nvSpPr>
        <p:spPr>
          <a:xfrm>
            <a:off x="3054900" y="1076275"/>
            <a:ext cx="29184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b="1" dirty="0"/>
              <a:t>Data Science, Data Analysis, Data Visualization </a:t>
            </a:r>
            <a:endParaRPr sz="1400" b="1" dirty="0"/>
          </a:p>
          <a:p>
            <a:pPr marL="0" lvl="0" indent="0" algn="l" rtl="0">
              <a:spcBef>
                <a:spcPts val="1600"/>
              </a:spcBef>
              <a:spcAft>
                <a:spcPts val="0"/>
              </a:spcAft>
              <a:buNone/>
            </a:pPr>
            <a:r>
              <a:rPr lang="en" sz="1400" dirty="0"/>
              <a:t>Textual, numerical, spatial data</a:t>
            </a:r>
            <a:endParaRPr sz="1400" dirty="0"/>
          </a:p>
          <a:p>
            <a:pPr marL="0" lvl="0" indent="0" algn="l" rtl="0">
              <a:spcBef>
                <a:spcPts val="1600"/>
              </a:spcBef>
              <a:spcAft>
                <a:spcPts val="0"/>
              </a:spcAft>
              <a:buNone/>
            </a:pPr>
            <a:r>
              <a:rPr lang="en" sz="1400" dirty="0"/>
              <a:t>Assistance with building reproducible workflows </a:t>
            </a:r>
            <a:endParaRPr sz="1400" dirty="0"/>
          </a:p>
          <a:p>
            <a:pPr marL="0" lvl="0" indent="0" algn="l" rtl="0">
              <a:spcBef>
                <a:spcPts val="1600"/>
              </a:spcBef>
              <a:spcAft>
                <a:spcPts val="0"/>
              </a:spcAft>
              <a:buNone/>
            </a:pPr>
            <a:r>
              <a:rPr lang="en" sz="1400" dirty="0"/>
              <a:t>Scripting in R and Python  </a:t>
            </a:r>
            <a:endParaRPr sz="1400" dirty="0"/>
          </a:p>
          <a:p>
            <a:pPr marL="0" lvl="0" indent="0" algn="l" rtl="0">
              <a:spcBef>
                <a:spcPts val="1600"/>
              </a:spcBef>
              <a:spcAft>
                <a:spcPts val="0"/>
              </a:spcAft>
              <a:buNone/>
            </a:pPr>
            <a:endParaRPr sz="1400" dirty="0"/>
          </a:p>
          <a:p>
            <a:pPr marL="0" lvl="0" indent="0" algn="l" rtl="0">
              <a:spcBef>
                <a:spcPts val="1600"/>
              </a:spcBef>
              <a:spcAft>
                <a:spcPts val="1600"/>
              </a:spcAft>
              <a:buNone/>
            </a:pPr>
            <a:endParaRPr sz="1400" dirty="0"/>
          </a:p>
        </p:txBody>
      </p:sp>
      <p:sp>
        <p:nvSpPr>
          <p:cNvPr id="79" name="Google Shape;79;p15"/>
          <p:cNvSpPr txBox="1">
            <a:spLocks noGrp="1"/>
          </p:cNvSpPr>
          <p:nvPr>
            <p:ph type="body" idx="1"/>
          </p:nvPr>
        </p:nvSpPr>
        <p:spPr>
          <a:xfrm>
            <a:off x="6102900" y="1076275"/>
            <a:ext cx="29184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b="1" dirty="0"/>
              <a:t>Consulting </a:t>
            </a:r>
            <a:endParaRPr sz="1400" b="1" dirty="0"/>
          </a:p>
          <a:p>
            <a:pPr marL="0" lvl="0" indent="0" algn="l" rtl="0">
              <a:spcBef>
                <a:spcPts val="1600"/>
              </a:spcBef>
              <a:spcAft>
                <a:spcPts val="0"/>
              </a:spcAft>
              <a:buNone/>
            </a:pPr>
            <a:r>
              <a:rPr lang="en" sz="1400" dirty="0"/>
              <a:t>Computational project planning </a:t>
            </a:r>
            <a:endParaRPr sz="1400" dirty="0"/>
          </a:p>
          <a:p>
            <a:pPr marL="0" lvl="0" indent="0" algn="l" rtl="0">
              <a:spcBef>
                <a:spcPts val="1600"/>
              </a:spcBef>
              <a:spcAft>
                <a:spcPts val="0"/>
              </a:spcAft>
              <a:buNone/>
            </a:pPr>
            <a:r>
              <a:rPr lang="en" sz="1400" dirty="0"/>
              <a:t>Storytelling with data and visualizations</a:t>
            </a:r>
            <a:endParaRPr sz="1400" dirty="0"/>
          </a:p>
          <a:p>
            <a:pPr marL="0" lvl="0" indent="0" algn="l" rtl="0">
              <a:spcBef>
                <a:spcPts val="1600"/>
              </a:spcBef>
              <a:spcAft>
                <a:spcPts val="0"/>
              </a:spcAft>
              <a:buNone/>
            </a:pPr>
            <a:r>
              <a:rPr lang="en" sz="1400" dirty="0"/>
              <a:t>Digital Humanities support</a:t>
            </a:r>
            <a:endParaRPr sz="1400" dirty="0"/>
          </a:p>
          <a:p>
            <a:pPr marL="0" lvl="0" indent="0" algn="l" rtl="0">
              <a:spcBef>
                <a:spcPts val="1600"/>
              </a:spcBef>
              <a:spcAft>
                <a:spcPts val="0"/>
              </a:spcAft>
              <a:buNone/>
            </a:pPr>
            <a:endParaRPr sz="1400" dirty="0"/>
          </a:p>
          <a:p>
            <a:pPr marL="0" lvl="0" indent="0" algn="l" rtl="0">
              <a:spcBef>
                <a:spcPts val="1600"/>
              </a:spcBef>
              <a:spcAft>
                <a:spcPts val="1600"/>
              </a:spcAft>
              <a:buNone/>
            </a:pPr>
            <a:endParaRPr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roadmap for this workshop</a:t>
            </a:r>
            <a:endParaRPr/>
          </a:p>
        </p:txBody>
      </p:sp>
      <p:sp>
        <p:nvSpPr>
          <p:cNvPr id="85" name="Google Shape;85;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dirty="0"/>
              <a:t>Why Python for </a:t>
            </a:r>
            <a:r>
              <a:rPr lang="en-US" dirty="0"/>
              <a:t>Graphs &amp; Plots? </a:t>
            </a:r>
            <a:endParaRPr dirty="0"/>
          </a:p>
          <a:p>
            <a:pPr marL="457200" lvl="0" indent="-342900" algn="l" rtl="0">
              <a:spcBef>
                <a:spcPts val="0"/>
              </a:spcBef>
              <a:spcAft>
                <a:spcPts val="0"/>
              </a:spcAft>
              <a:buSzPts val="1800"/>
              <a:buChar char="●"/>
            </a:pPr>
            <a:r>
              <a:rPr lang="en" dirty="0"/>
              <a:t>Python </a:t>
            </a:r>
            <a:r>
              <a:rPr lang="en" dirty="0" err="1"/>
              <a:t>Jupyter</a:t>
            </a:r>
            <a:r>
              <a:rPr lang="en" dirty="0"/>
              <a:t> Notebooks</a:t>
            </a:r>
            <a:endParaRPr dirty="0"/>
          </a:p>
          <a:p>
            <a:pPr marL="457200" lvl="0" indent="-342900" algn="l" rtl="0">
              <a:spcBef>
                <a:spcPts val="0"/>
              </a:spcBef>
              <a:spcAft>
                <a:spcPts val="0"/>
              </a:spcAft>
              <a:buSzPts val="1800"/>
              <a:buChar char="●"/>
            </a:pPr>
            <a:r>
              <a:rPr lang="en" dirty="0">
                <a:hlinkClick r:id="rId3"/>
              </a:rPr>
              <a:t>Tidy</a:t>
            </a:r>
            <a:r>
              <a:rPr lang="en" dirty="0"/>
              <a:t> Data</a:t>
            </a:r>
            <a:endParaRPr dirty="0"/>
          </a:p>
          <a:p>
            <a:pPr marL="457200" lvl="0" indent="-342900" algn="l" rtl="0">
              <a:spcBef>
                <a:spcPts val="0"/>
              </a:spcBef>
              <a:spcAft>
                <a:spcPts val="0"/>
              </a:spcAft>
              <a:buSzPts val="1800"/>
              <a:buChar char="●"/>
            </a:pPr>
            <a:r>
              <a:rPr lang="en" dirty="0"/>
              <a:t>Live-coding using Python with a reproducible plotting and graphing techniques </a:t>
            </a:r>
          </a:p>
          <a:p>
            <a:r>
              <a:rPr lang="en-US" dirty="0"/>
              <a:t>Feel free to contact us anytime! </a:t>
            </a:r>
            <a:r>
              <a:rPr lang="en-US" u="sng" dirty="0">
                <a:solidFill>
                  <a:schemeClr val="hlink"/>
                </a:solidFill>
                <a:hlinkClick r:id="rId4"/>
              </a:rPr>
              <a:t>research.computing -at- dartmouth.edu</a:t>
            </a:r>
            <a:r>
              <a:rPr lang="en-US" dirty="0"/>
              <a:t>  </a:t>
            </a:r>
            <a:endParaRPr lang="en" dirty="0"/>
          </a:p>
          <a:p>
            <a:r>
              <a:rPr lang="en-US" sz="1800" dirty="0"/>
              <a:t>Research Computing homepage </a:t>
            </a:r>
            <a:r>
              <a:rPr lang="en-US" sz="1800" dirty="0">
                <a:hlinkClick r:id="rId5"/>
              </a:rPr>
              <a:t>https://rc.dartmouth.edu/</a:t>
            </a:r>
            <a:r>
              <a:rPr lang="en-US" dirty="0"/>
              <a:t> </a:t>
            </a:r>
            <a:endParaRPr lang="en-US" sz="1800" dirty="0"/>
          </a:p>
          <a:p>
            <a:r>
              <a:rPr lang="en-US" dirty="0"/>
              <a:t>ITC homepage  </a:t>
            </a:r>
            <a:r>
              <a:rPr lang="en-US" dirty="0">
                <a:hlinkClick r:id="rId6"/>
              </a:rPr>
              <a:t>https://services.dartmouth.edu/</a:t>
            </a:r>
            <a:r>
              <a:rPr lang="en-US" dirty="0"/>
              <a:t> </a:t>
            </a:r>
          </a:p>
          <a:p>
            <a:pPr lvl="0"/>
            <a:endParaRPr lang="en-US" dirty="0"/>
          </a:p>
          <a:p>
            <a:pPr marL="457200" lvl="0" indent="-342900" algn="l" rtl="0">
              <a:spcBef>
                <a:spcPts val="0"/>
              </a:spcBef>
              <a:spcAft>
                <a:spcPts val="0"/>
              </a:spcAft>
              <a:buSzPts val="1800"/>
              <a:buChar char="●"/>
            </a:pPr>
            <a:endParaRPr lang="en" dirty="0"/>
          </a:p>
        </p:txBody>
      </p:sp>
      <p:sp>
        <p:nvSpPr>
          <p:cNvPr id="86" name="Google Shape;86;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a:t>
            </a:fld>
            <a:endParaRPr/>
          </a:p>
        </p:txBody>
      </p:sp>
      <p:pic>
        <p:nvPicPr>
          <p:cNvPr id="87" name="Google Shape;87;p16"/>
          <p:cNvPicPr preferRelativeResize="0"/>
          <p:nvPr/>
        </p:nvPicPr>
        <p:blipFill>
          <a:blip r:embed="rId7">
            <a:alphaModFix/>
          </a:blip>
          <a:stretch>
            <a:fillRect/>
          </a:stretch>
        </p:blipFill>
        <p:spPr>
          <a:xfrm>
            <a:off x="7391400" y="152400"/>
            <a:ext cx="1359149" cy="250150"/>
          </a:xfrm>
          <a:prstGeom prst="rect">
            <a:avLst/>
          </a:prstGeom>
          <a:noFill/>
          <a:ln>
            <a:noFill/>
          </a:ln>
        </p:spPr>
      </p:pic>
      <p:pic>
        <p:nvPicPr>
          <p:cNvPr id="88" name="Google Shape;88;p16"/>
          <p:cNvPicPr preferRelativeResize="0"/>
          <p:nvPr/>
        </p:nvPicPr>
        <p:blipFill>
          <a:blip r:embed="rId8">
            <a:alphaModFix/>
          </a:blip>
          <a:stretch>
            <a:fillRect/>
          </a:stretch>
        </p:blipFill>
        <p:spPr>
          <a:xfrm>
            <a:off x="203250" y="86975"/>
            <a:ext cx="315575" cy="3155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Why Python? </a:t>
            </a:r>
            <a:endParaRPr dirty="0"/>
          </a:p>
        </p:txBody>
      </p:sp>
      <p:sp>
        <p:nvSpPr>
          <p:cNvPr id="94" name="Google Shape;94;p17"/>
          <p:cNvSpPr txBox="1">
            <a:spLocks noGrp="1"/>
          </p:cNvSpPr>
          <p:nvPr>
            <p:ph type="body" idx="1"/>
          </p:nvPr>
        </p:nvSpPr>
        <p:spPr>
          <a:xfrm>
            <a:off x="311700" y="1017725"/>
            <a:ext cx="5925000" cy="373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t>Python can help us make our research reproducible</a:t>
            </a:r>
            <a:endParaRPr sz="1400" dirty="0"/>
          </a:p>
          <a:p>
            <a:pPr marL="457200" lvl="0" indent="-317500" algn="l" rtl="0">
              <a:spcBef>
                <a:spcPts val="1600"/>
              </a:spcBef>
              <a:spcAft>
                <a:spcPts val="0"/>
              </a:spcAft>
              <a:buSzPts val="1400"/>
              <a:buChar char="●"/>
            </a:pPr>
            <a:r>
              <a:rPr lang="en" sz="1400" dirty="0"/>
              <a:t>Python is open source, with many libraries built specifically for data science </a:t>
            </a:r>
            <a:endParaRPr sz="1400" dirty="0"/>
          </a:p>
          <a:p>
            <a:pPr marL="457200" lvl="0" indent="-317500" algn="l" rtl="0">
              <a:spcBef>
                <a:spcPts val="0"/>
              </a:spcBef>
              <a:spcAft>
                <a:spcPts val="0"/>
              </a:spcAft>
              <a:buSzPts val="1400"/>
              <a:buChar char="●"/>
            </a:pPr>
            <a:r>
              <a:rPr lang="en" sz="1400" dirty="0"/>
              <a:t>Python is a free and easy to download</a:t>
            </a:r>
          </a:p>
          <a:p>
            <a:pPr marL="457200" lvl="0" indent="-317500" algn="l" rtl="0">
              <a:spcBef>
                <a:spcPts val="0"/>
              </a:spcBef>
              <a:spcAft>
                <a:spcPts val="0"/>
              </a:spcAft>
              <a:buSzPts val="1400"/>
              <a:buChar char="●"/>
            </a:pPr>
            <a:r>
              <a:rPr lang="en" sz="1400" dirty="0"/>
              <a:t>Standard libraries like Matplotlib and Seaborn for professional quality graphs and plots </a:t>
            </a:r>
            <a:endParaRPr sz="1400" dirty="0"/>
          </a:p>
          <a:p>
            <a:pPr marL="457200" lvl="0" indent="-317500" algn="l" rtl="0">
              <a:spcBef>
                <a:spcPts val="0"/>
              </a:spcBef>
              <a:spcAft>
                <a:spcPts val="0"/>
              </a:spcAft>
              <a:buSzPts val="1400"/>
              <a:buChar char="●"/>
            </a:pPr>
            <a:r>
              <a:rPr lang="en" sz="1400" dirty="0"/>
              <a:t>Python's importable libraries make it a useful language for data science and data analysis</a:t>
            </a:r>
            <a:endParaRPr sz="1400" dirty="0"/>
          </a:p>
          <a:p>
            <a:pPr marL="457200" lvl="0" indent="-317500" algn="l" rtl="0">
              <a:spcBef>
                <a:spcPts val="0"/>
              </a:spcBef>
              <a:spcAft>
                <a:spcPts val="0"/>
              </a:spcAft>
              <a:buSzPts val="1400"/>
              <a:buChar char="●"/>
            </a:pPr>
            <a:r>
              <a:rPr lang="en" sz="1400" dirty="0"/>
              <a:t>Python can import and export common data formats such as CSV files </a:t>
            </a:r>
            <a:endParaRPr dirty="0">
              <a:highlight>
                <a:srgbClr val="FFFFFF"/>
              </a:highlight>
            </a:endParaRPr>
          </a:p>
          <a:p>
            <a:pPr marL="457200" lvl="0" indent="-317500" algn="l" rtl="0">
              <a:spcBef>
                <a:spcPts val="0"/>
              </a:spcBef>
              <a:spcAft>
                <a:spcPts val="0"/>
              </a:spcAft>
              <a:buSzPts val="1400"/>
              <a:buChar char="●"/>
            </a:pPr>
            <a:r>
              <a:rPr lang="en" sz="1400" dirty="0"/>
              <a:t>References:  </a:t>
            </a:r>
            <a:r>
              <a:rPr lang="en" sz="1400" b="1" i="1" dirty="0">
                <a:hlinkClick r:id="rId3"/>
              </a:rPr>
              <a:t>Python Graph Gallery</a:t>
            </a:r>
            <a:r>
              <a:rPr lang="en" sz="1400" b="1" i="1" dirty="0"/>
              <a:t>, </a:t>
            </a:r>
            <a:r>
              <a:rPr lang="en" sz="1400" b="1" i="1" dirty="0">
                <a:hlinkClick r:id="rId4"/>
              </a:rPr>
              <a:t>Python for Data Analysis</a:t>
            </a:r>
            <a:r>
              <a:rPr lang="en" sz="1400" b="1" i="1" dirty="0"/>
              <a:t>, by Wes McKinney, O'Reilly Publishing </a:t>
            </a:r>
            <a:r>
              <a:rPr lang="en" sz="1400" b="1" i="1" u="sng" dirty="0">
                <a:solidFill>
                  <a:schemeClr val="hlink"/>
                </a:solidFill>
                <a:hlinkClick r:id="rId5"/>
              </a:rPr>
              <a:t>https://www.w3schools.com/datascience/ds_python.asp</a:t>
            </a:r>
            <a:r>
              <a:rPr lang="en" sz="1400" b="1" i="1" dirty="0"/>
              <a:t> </a:t>
            </a:r>
            <a:endParaRPr sz="1400" dirty="0">
              <a:highlight>
                <a:srgbClr val="FFFFFF"/>
              </a:highlight>
            </a:endParaRPr>
          </a:p>
        </p:txBody>
      </p:sp>
      <p:sp>
        <p:nvSpPr>
          <p:cNvPr id="95" name="Google Shape;95;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5</a:t>
            </a:fld>
            <a:endParaRPr/>
          </a:p>
        </p:txBody>
      </p:sp>
      <p:pic>
        <p:nvPicPr>
          <p:cNvPr id="96" name="Google Shape;96;p17"/>
          <p:cNvPicPr preferRelativeResize="0"/>
          <p:nvPr/>
        </p:nvPicPr>
        <p:blipFill>
          <a:blip r:embed="rId6">
            <a:alphaModFix/>
          </a:blip>
          <a:stretch>
            <a:fillRect/>
          </a:stretch>
        </p:blipFill>
        <p:spPr>
          <a:xfrm>
            <a:off x="7391400" y="152400"/>
            <a:ext cx="1359149" cy="250150"/>
          </a:xfrm>
          <a:prstGeom prst="rect">
            <a:avLst/>
          </a:prstGeom>
          <a:noFill/>
          <a:ln>
            <a:noFill/>
          </a:ln>
        </p:spPr>
      </p:pic>
      <p:pic>
        <p:nvPicPr>
          <p:cNvPr id="97" name="Google Shape;97;p17"/>
          <p:cNvPicPr preferRelativeResize="0"/>
          <p:nvPr/>
        </p:nvPicPr>
        <p:blipFill>
          <a:blip r:embed="rId7">
            <a:alphaModFix/>
          </a:blip>
          <a:stretch>
            <a:fillRect/>
          </a:stretch>
        </p:blipFill>
        <p:spPr>
          <a:xfrm>
            <a:off x="203250" y="86975"/>
            <a:ext cx="315575" cy="315575"/>
          </a:xfrm>
          <a:prstGeom prst="rect">
            <a:avLst/>
          </a:prstGeom>
          <a:noFill/>
          <a:ln>
            <a:noFill/>
          </a:ln>
        </p:spPr>
      </p:pic>
      <p:pic>
        <p:nvPicPr>
          <p:cNvPr id="98" name="Google Shape;98;p17"/>
          <p:cNvPicPr preferRelativeResize="0"/>
          <p:nvPr/>
        </p:nvPicPr>
        <p:blipFill>
          <a:blip r:embed="rId8">
            <a:alphaModFix/>
          </a:blip>
          <a:stretch>
            <a:fillRect/>
          </a:stretch>
        </p:blipFill>
        <p:spPr>
          <a:xfrm>
            <a:off x="6160525" y="546550"/>
            <a:ext cx="2817525" cy="3682550"/>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
          <a:extLst>
            <a:ext uri="{FF2B5EF4-FFF2-40B4-BE49-F238E27FC236}">
              <a16:creationId xmlns:a16="http://schemas.microsoft.com/office/drawing/2014/main" id="{9BF4D339-2172-665C-9AFE-5A6A70C1B179}"/>
            </a:ext>
          </a:extLst>
        </p:cNvPr>
        <p:cNvGrpSpPr/>
        <p:nvPr/>
      </p:nvGrpSpPr>
      <p:grpSpPr>
        <a:xfrm>
          <a:off x="0" y="0"/>
          <a:ext cx="0" cy="0"/>
          <a:chOff x="0" y="0"/>
          <a:chExt cx="0" cy="0"/>
        </a:xfrm>
      </p:grpSpPr>
      <p:sp>
        <p:nvSpPr>
          <p:cNvPr id="93" name="Google Shape;93;p17">
            <a:extLst>
              <a:ext uri="{FF2B5EF4-FFF2-40B4-BE49-F238E27FC236}">
                <a16:creationId xmlns:a16="http://schemas.microsoft.com/office/drawing/2014/main" id="{4FC9B951-38BA-933C-0F1A-A2C23D614E2D}"/>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Python Graph Gallery and Python for Data Science</a:t>
            </a:r>
            <a:endParaRPr dirty="0"/>
          </a:p>
        </p:txBody>
      </p:sp>
      <p:sp>
        <p:nvSpPr>
          <p:cNvPr id="95" name="Google Shape;95;p17">
            <a:extLst>
              <a:ext uri="{FF2B5EF4-FFF2-40B4-BE49-F238E27FC236}">
                <a16:creationId xmlns:a16="http://schemas.microsoft.com/office/drawing/2014/main" id="{F55DA83F-C42B-74A4-51C4-FE1E0BE97626}"/>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6</a:t>
            </a:fld>
            <a:endParaRPr/>
          </a:p>
        </p:txBody>
      </p:sp>
      <p:pic>
        <p:nvPicPr>
          <p:cNvPr id="96" name="Google Shape;96;p17">
            <a:extLst>
              <a:ext uri="{FF2B5EF4-FFF2-40B4-BE49-F238E27FC236}">
                <a16:creationId xmlns:a16="http://schemas.microsoft.com/office/drawing/2014/main" id="{B1C6099C-D398-6176-C45A-BA35B5DE4A1A}"/>
              </a:ext>
            </a:extLst>
          </p:cNvPr>
          <p:cNvPicPr preferRelativeResize="0"/>
          <p:nvPr/>
        </p:nvPicPr>
        <p:blipFill>
          <a:blip r:embed="rId3">
            <a:alphaModFix/>
          </a:blip>
          <a:stretch>
            <a:fillRect/>
          </a:stretch>
        </p:blipFill>
        <p:spPr>
          <a:xfrm>
            <a:off x="7391400" y="152400"/>
            <a:ext cx="1359149" cy="250150"/>
          </a:xfrm>
          <a:prstGeom prst="rect">
            <a:avLst/>
          </a:prstGeom>
          <a:noFill/>
          <a:ln>
            <a:noFill/>
          </a:ln>
        </p:spPr>
      </p:pic>
      <p:pic>
        <p:nvPicPr>
          <p:cNvPr id="97" name="Google Shape;97;p17">
            <a:extLst>
              <a:ext uri="{FF2B5EF4-FFF2-40B4-BE49-F238E27FC236}">
                <a16:creationId xmlns:a16="http://schemas.microsoft.com/office/drawing/2014/main" id="{357B128C-F9C3-2FF6-EBC2-A61A9D657333}"/>
              </a:ext>
            </a:extLst>
          </p:cNvPr>
          <p:cNvPicPr preferRelativeResize="0"/>
          <p:nvPr/>
        </p:nvPicPr>
        <p:blipFill>
          <a:blip r:embed="rId4">
            <a:alphaModFix/>
          </a:blip>
          <a:stretch>
            <a:fillRect/>
          </a:stretch>
        </p:blipFill>
        <p:spPr>
          <a:xfrm>
            <a:off x="203250" y="86975"/>
            <a:ext cx="315575" cy="315575"/>
          </a:xfrm>
          <a:prstGeom prst="rect">
            <a:avLst/>
          </a:prstGeom>
          <a:noFill/>
          <a:ln>
            <a:noFill/>
          </a:ln>
        </p:spPr>
      </p:pic>
      <p:pic>
        <p:nvPicPr>
          <p:cNvPr id="3" name="Picture 2" descr="A screenshot of a chart&#10;&#10;AI-generated content may be incorrect.">
            <a:extLst>
              <a:ext uri="{FF2B5EF4-FFF2-40B4-BE49-F238E27FC236}">
                <a16:creationId xmlns:a16="http://schemas.microsoft.com/office/drawing/2014/main" id="{61D0025A-EE23-C7BD-26E7-2F9592BB1FCA}"/>
              </a:ext>
            </a:extLst>
          </p:cNvPr>
          <p:cNvPicPr>
            <a:picLocks noChangeAspect="1"/>
          </p:cNvPicPr>
          <p:nvPr/>
        </p:nvPicPr>
        <p:blipFill>
          <a:blip r:embed="rId5"/>
          <a:stretch>
            <a:fillRect/>
          </a:stretch>
        </p:blipFill>
        <p:spPr>
          <a:xfrm>
            <a:off x="518825" y="1235550"/>
            <a:ext cx="3168091" cy="3820975"/>
          </a:xfrm>
          <a:prstGeom prst="rect">
            <a:avLst/>
          </a:prstGeom>
          <a:effectLst>
            <a:outerShdw blurRad="50800" dist="38100" dir="8100000" algn="tr" rotWithShape="0">
              <a:prstClr val="black">
                <a:alpha val="40000"/>
              </a:prstClr>
            </a:outerShdw>
          </a:effectLst>
        </p:spPr>
      </p:pic>
      <p:pic>
        <p:nvPicPr>
          <p:cNvPr id="4" name="Picture 3">
            <a:extLst>
              <a:ext uri="{FF2B5EF4-FFF2-40B4-BE49-F238E27FC236}">
                <a16:creationId xmlns:a16="http://schemas.microsoft.com/office/drawing/2014/main" id="{12137305-5B40-3DDA-D489-B4A262357AE4}"/>
              </a:ext>
            </a:extLst>
          </p:cNvPr>
          <p:cNvPicPr>
            <a:picLocks noChangeAspect="1"/>
          </p:cNvPicPr>
          <p:nvPr/>
        </p:nvPicPr>
        <p:blipFill>
          <a:blip r:embed="rId6"/>
          <a:stretch>
            <a:fillRect/>
          </a:stretch>
        </p:blipFill>
        <p:spPr>
          <a:xfrm>
            <a:off x="4208915" y="1351767"/>
            <a:ext cx="3741543" cy="3457824"/>
          </a:xfrm>
          <a:prstGeom prst="rect">
            <a:avLst/>
          </a:prstGeom>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2416727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Python Graphs &amp; Plots - Libraries </a:t>
            </a:r>
            <a:endParaRPr dirty="0"/>
          </a:p>
        </p:txBody>
      </p:sp>
      <p:sp>
        <p:nvSpPr>
          <p:cNvPr id="104" name="Google Shape;104;p18"/>
          <p:cNvSpPr txBox="1">
            <a:spLocks noGrp="1"/>
          </p:cNvSpPr>
          <p:nvPr>
            <p:ph type="body" idx="1"/>
          </p:nvPr>
        </p:nvSpPr>
        <p:spPr>
          <a:xfrm>
            <a:off x="311700" y="1017725"/>
            <a:ext cx="8520600" cy="373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t>Python can help us make our research reproducible with libraries that extend capabilities </a:t>
            </a:r>
            <a:endParaRPr sz="1400" dirty="0"/>
          </a:p>
          <a:p>
            <a:pPr marL="457200" lvl="0" indent="-317500" algn="l" rtl="0">
              <a:spcBef>
                <a:spcPts val="1600"/>
              </a:spcBef>
              <a:spcAft>
                <a:spcPts val="0"/>
              </a:spcAft>
              <a:buSzPts val="1400"/>
              <a:buChar char="●"/>
            </a:pPr>
            <a:r>
              <a:rPr lang="en" sz="1400" dirty="0"/>
              <a:t>Some data science libraries include: </a:t>
            </a:r>
            <a:endParaRPr sz="1400" dirty="0"/>
          </a:p>
          <a:p>
            <a:pPr marL="914400" lvl="1" indent="-317500" algn="l" rtl="0">
              <a:spcBef>
                <a:spcPts val="0"/>
              </a:spcBef>
              <a:spcAft>
                <a:spcPts val="0"/>
              </a:spcAft>
              <a:buSzPts val="1400"/>
              <a:buChar char="○"/>
            </a:pPr>
            <a:r>
              <a:rPr lang="en" i="1" dirty="0">
                <a:highlight>
                  <a:srgbClr val="FFFFFF"/>
                </a:highlight>
              </a:rPr>
              <a:t>NumPy &amp; SciPy</a:t>
            </a:r>
            <a:r>
              <a:rPr lang="en" dirty="0">
                <a:highlight>
                  <a:srgbClr val="FFFFFF"/>
                </a:highlight>
              </a:rPr>
              <a:t> - For numerical  &amp; scientific computations and linear algebra</a:t>
            </a:r>
            <a:endParaRPr dirty="0">
              <a:highlight>
                <a:srgbClr val="FFFFFF"/>
              </a:highlight>
            </a:endParaRPr>
          </a:p>
          <a:p>
            <a:pPr marL="914400" lvl="1" indent="-317500" algn="l" rtl="0">
              <a:spcBef>
                <a:spcPts val="0"/>
              </a:spcBef>
              <a:spcAft>
                <a:spcPts val="0"/>
              </a:spcAft>
              <a:buSzPts val="1400"/>
              <a:buChar char="○"/>
            </a:pPr>
            <a:r>
              <a:rPr lang="en" i="1" dirty="0">
                <a:highlight>
                  <a:srgbClr val="FFFFFF"/>
                </a:highlight>
              </a:rPr>
              <a:t>Pandas</a:t>
            </a:r>
            <a:r>
              <a:rPr lang="en" dirty="0">
                <a:highlight>
                  <a:srgbClr val="FFFFFF"/>
                </a:highlight>
              </a:rPr>
              <a:t> (data frames) - Handling and manipulating data structures / data frames</a:t>
            </a:r>
            <a:endParaRPr dirty="0">
              <a:highlight>
                <a:srgbClr val="FFFFFF"/>
              </a:highlight>
            </a:endParaRPr>
          </a:p>
          <a:p>
            <a:pPr marL="914400" lvl="1" indent="-317500" algn="l" rtl="0">
              <a:spcBef>
                <a:spcPts val="0"/>
              </a:spcBef>
              <a:spcAft>
                <a:spcPts val="0"/>
              </a:spcAft>
              <a:buSzPts val="1400"/>
              <a:buChar char="○"/>
            </a:pPr>
            <a:r>
              <a:rPr lang="en" i="1" dirty="0">
                <a:highlight>
                  <a:srgbClr val="FFFFFF"/>
                </a:highlight>
              </a:rPr>
              <a:t>Matplotlib</a:t>
            </a:r>
            <a:r>
              <a:rPr lang="en" dirty="0">
                <a:highlight>
                  <a:srgbClr val="FFFFFF"/>
                </a:highlight>
              </a:rPr>
              <a:t> - Data visualization</a:t>
            </a:r>
            <a:endParaRPr dirty="0">
              <a:highlight>
                <a:srgbClr val="FFFFFF"/>
              </a:highlight>
            </a:endParaRPr>
          </a:p>
          <a:p>
            <a:pPr marL="914400" lvl="1" indent="-317500" algn="l" rtl="0">
              <a:spcBef>
                <a:spcPts val="0"/>
              </a:spcBef>
              <a:spcAft>
                <a:spcPts val="0"/>
              </a:spcAft>
              <a:buSzPts val="1400"/>
              <a:buChar char="○"/>
            </a:pPr>
            <a:r>
              <a:rPr lang="en" i="1" dirty="0">
                <a:highlight>
                  <a:srgbClr val="FFFFFF"/>
                </a:highlight>
              </a:rPr>
              <a:t>Seaborn</a:t>
            </a:r>
            <a:r>
              <a:rPr lang="en" dirty="0">
                <a:highlight>
                  <a:srgbClr val="FFFFFF"/>
                </a:highlight>
              </a:rPr>
              <a:t> - Statistical graphics, which build on matplotlib's foundation</a:t>
            </a:r>
            <a:endParaRPr dirty="0">
              <a:highlight>
                <a:srgbClr val="FFFFFF"/>
              </a:highlight>
            </a:endParaRPr>
          </a:p>
          <a:p>
            <a:pPr marL="914400" lvl="1" indent="-317500" algn="l" rtl="0">
              <a:spcBef>
                <a:spcPts val="0"/>
              </a:spcBef>
              <a:spcAft>
                <a:spcPts val="0"/>
              </a:spcAft>
              <a:buSzPts val="1400"/>
              <a:buChar char="○"/>
            </a:pPr>
            <a:r>
              <a:rPr lang="en" i="1" dirty="0" err="1">
                <a:highlight>
                  <a:srgbClr val="FFFFFF"/>
                </a:highlight>
              </a:rPr>
              <a:t>Plotly</a:t>
            </a:r>
            <a:r>
              <a:rPr lang="en" dirty="0">
                <a:highlight>
                  <a:srgbClr val="FFFFFF"/>
                </a:highlight>
              </a:rPr>
              <a:t> - Interactive and dynamic data visualizations</a:t>
            </a:r>
            <a:endParaRPr dirty="0">
              <a:highlight>
                <a:srgbClr val="FFFFFF"/>
              </a:highlight>
            </a:endParaRPr>
          </a:p>
          <a:p>
            <a:pPr marL="914400" lvl="1" indent="-317500" algn="l" rtl="0">
              <a:spcBef>
                <a:spcPts val="0"/>
              </a:spcBef>
              <a:spcAft>
                <a:spcPts val="0"/>
              </a:spcAft>
              <a:buSzPts val="1400"/>
              <a:buChar char="○"/>
            </a:pPr>
            <a:r>
              <a:rPr lang="en" i="1" dirty="0" err="1">
                <a:highlight>
                  <a:srgbClr val="FFFFFF"/>
                </a:highlight>
              </a:rPr>
              <a:t>Scipy</a:t>
            </a:r>
            <a:r>
              <a:rPr lang="en" i="1" dirty="0">
                <a:highlight>
                  <a:srgbClr val="FFFFFF"/>
                </a:highlight>
              </a:rPr>
              <a:t> Stats and </a:t>
            </a:r>
            <a:r>
              <a:rPr lang="en" i="1" dirty="0" err="1">
                <a:highlight>
                  <a:srgbClr val="FFFFFF"/>
                </a:highlight>
              </a:rPr>
              <a:t>Statsmodels</a:t>
            </a:r>
            <a:r>
              <a:rPr lang="en" dirty="0">
                <a:highlight>
                  <a:srgbClr val="FFFFFF"/>
                </a:highlight>
              </a:rPr>
              <a:t> - Econometric and statistical modeling</a:t>
            </a:r>
            <a:endParaRPr dirty="0">
              <a:highlight>
                <a:srgbClr val="FFFFFF"/>
              </a:highlight>
            </a:endParaRPr>
          </a:p>
          <a:p>
            <a:pPr marL="457200" lvl="0" indent="-317500" algn="l" rtl="0">
              <a:spcBef>
                <a:spcPts val="0"/>
              </a:spcBef>
              <a:spcAft>
                <a:spcPts val="0"/>
              </a:spcAft>
              <a:buSzPts val="1400"/>
              <a:buChar char="●"/>
            </a:pPr>
            <a:r>
              <a:rPr lang="en" sz="1400" dirty="0"/>
              <a:t>Note: R &amp; RStudio are a great option also, many similarities (data frames, </a:t>
            </a:r>
            <a:r>
              <a:rPr lang="en" sz="1400" dirty="0" err="1"/>
              <a:t>ggplot</a:t>
            </a:r>
            <a:r>
              <a:rPr lang="en" sz="1400" dirty="0"/>
              <a:t>, stats)</a:t>
            </a:r>
            <a:endParaRPr sz="1400" dirty="0"/>
          </a:p>
          <a:p>
            <a:pPr marL="457200" lvl="0" indent="-317500" algn="l" rtl="0">
              <a:spcBef>
                <a:spcPts val="0"/>
              </a:spcBef>
              <a:spcAft>
                <a:spcPts val="0"/>
              </a:spcAft>
              <a:buSzPts val="1400"/>
              <a:buChar char="●"/>
            </a:pPr>
            <a:r>
              <a:rPr lang="en" sz="1400" dirty="0"/>
              <a:t>More books and resources: </a:t>
            </a:r>
            <a:endParaRPr sz="1400" dirty="0"/>
          </a:p>
          <a:p>
            <a:pPr marL="914400" lvl="1" indent="-317500" algn="l" rtl="0">
              <a:spcBef>
                <a:spcPts val="0"/>
              </a:spcBef>
              <a:spcAft>
                <a:spcPts val="0"/>
              </a:spcAft>
              <a:buSzPts val="1400"/>
              <a:buChar char="○"/>
            </a:pPr>
            <a:r>
              <a:rPr lang="en" i="1" dirty="0"/>
              <a:t>Python for Data Analysis, </a:t>
            </a:r>
            <a:r>
              <a:rPr lang="en" dirty="0"/>
              <a:t>Wes McKinney, O'Reilly Publishing </a:t>
            </a:r>
            <a:endParaRPr dirty="0"/>
          </a:p>
          <a:p>
            <a:pPr marL="914400" lvl="1" indent="-317500" algn="l" rtl="0">
              <a:spcBef>
                <a:spcPts val="0"/>
              </a:spcBef>
              <a:spcAft>
                <a:spcPts val="0"/>
              </a:spcAft>
              <a:buSzPts val="1400"/>
              <a:buChar char="○"/>
            </a:pPr>
            <a:r>
              <a:rPr lang="en" i="1" dirty="0"/>
              <a:t>Data Science from Scratch: First Principles with Python 2nd Edition</a:t>
            </a:r>
            <a:r>
              <a:rPr lang="en" dirty="0"/>
              <a:t>, Joel Grus</a:t>
            </a:r>
            <a:endParaRPr dirty="0"/>
          </a:p>
          <a:p>
            <a:pPr marL="914400" lvl="1" indent="-317500" algn="l" rtl="0">
              <a:spcBef>
                <a:spcPts val="0"/>
              </a:spcBef>
              <a:spcAft>
                <a:spcPts val="0"/>
              </a:spcAft>
              <a:buSzPts val="1400"/>
              <a:buChar char="○"/>
            </a:pPr>
            <a:r>
              <a:rPr lang="en" i="1" dirty="0"/>
              <a:t>Python for Data Science: A Hands-On Introduction</a:t>
            </a:r>
            <a:r>
              <a:rPr lang="en" dirty="0"/>
              <a:t>, Yuli Vasiliev </a:t>
            </a:r>
            <a:endParaRPr sz="1400" dirty="0">
              <a:highlight>
                <a:srgbClr val="FFFFFF"/>
              </a:highlight>
            </a:endParaRPr>
          </a:p>
        </p:txBody>
      </p:sp>
      <p:sp>
        <p:nvSpPr>
          <p:cNvPr id="105" name="Google Shape;105;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7</a:t>
            </a:fld>
            <a:endParaRPr/>
          </a:p>
        </p:txBody>
      </p:sp>
      <p:pic>
        <p:nvPicPr>
          <p:cNvPr id="106" name="Google Shape;106;p18"/>
          <p:cNvPicPr preferRelativeResize="0"/>
          <p:nvPr/>
        </p:nvPicPr>
        <p:blipFill>
          <a:blip r:embed="rId3">
            <a:alphaModFix/>
          </a:blip>
          <a:stretch>
            <a:fillRect/>
          </a:stretch>
        </p:blipFill>
        <p:spPr>
          <a:xfrm>
            <a:off x="7391400" y="152400"/>
            <a:ext cx="1359149" cy="250150"/>
          </a:xfrm>
          <a:prstGeom prst="rect">
            <a:avLst/>
          </a:prstGeom>
          <a:noFill/>
          <a:ln>
            <a:noFill/>
          </a:ln>
        </p:spPr>
      </p:pic>
      <p:pic>
        <p:nvPicPr>
          <p:cNvPr id="107" name="Google Shape;107;p18"/>
          <p:cNvPicPr preferRelativeResize="0"/>
          <p:nvPr/>
        </p:nvPicPr>
        <p:blipFill>
          <a:blip r:embed="rId4">
            <a:alphaModFix/>
          </a:blip>
          <a:stretch>
            <a:fillRect/>
          </a:stretch>
        </p:blipFill>
        <p:spPr>
          <a:xfrm>
            <a:off x="203250" y="86975"/>
            <a:ext cx="315575" cy="315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1FF702AF-9575-BEAB-8943-88E30217F9FB}"/>
            </a:ext>
          </a:extLst>
        </p:cNvPr>
        <p:cNvGrpSpPr/>
        <p:nvPr/>
      </p:nvGrpSpPr>
      <p:grpSpPr>
        <a:xfrm>
          <a:off x="0" y="0"/>
          <a:ext cx="0" cy="0"/>
          <a:chOff x="0" y="0"/>
          <a:chExt cx="0" cy="0"/>
        </a:xfrm>
      </p:grpSpPr>
      <p:sp>
        <p:nvSpPr>
          <p:cNvPr id="103" name="Google Shape;103;p18">
            <a:extLst>
              <a:ext uri="{FF2B5EF4-FFF2-40B4-BE49-F238E27FC236}">
                <a16:creationId xmlns:a16="http://schemas.microsoft.com/office/drawing/2014/main" id="{D4A36C3D-A6E7-4184-1991-79313A29CC15}"/>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Python Graphs &amp; Plots - Libraries </a:t>
            </a:r>
            <a:endParaRPr dirty="0"/>
          </a:p>
        </p:txBody>
      </p:sp>
      <p:sp>
        <p:nvSpPr>
          <p:cNvPr id="104" name="Google Shape;104;p18">
            <a:extLst>
              <a:ext uri="{FF2B5EF4-FFF2-40B4-BE49-F238E27FC236}">
                <a16:creationId xmlns:a16="http://schemas.microsoft.com/office/drawing/2014/main" id="{74772BE0-7CBC-0F5E-E7F6-16935D4B6FF3}"/>
              </a:ext>
            </a:extLst>
          </p:cNvPr>
          <p:cNvSpPr txBox="1">
            <a:spLocks noGrp="1"/>
          </p:cNvSpPr>
          <p:nvPr>
            <p:ph type="body" idx="1"/>
          </p:nvPr>
        </p:nvSpPr>
        <p:spPr>
          <a:xfrm>
            <a:off x="311700" y="1017725"/>
            <a:ext cx="8520600" cy="373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t>Python can help us make our research reproducible with libraries that extend capabilities </a:t>
            </a:r>
            <a:endParaRPr sz="1400" dirty="0"/>
          </a:p>
          <a:p>
            <a:pPr marL="457200" lvl="0" indent="-317500" algn="l" rtl="0">
              <a:spcBef>
                <a:spcPts val="1600"/>
              </a:spcBef>
              <a:spcAft>
                <a:spcPts val="0"/>
              </a:spcAft>
              <a:buSzPts val="1400"/>
              <a:buChar char="●"/>
            </a:pPr>
            <a:r>
              <a:rPr lang="en" sz="1400" dirty="0"/>
              <a:t>Some data science libraries include: </a:t>
            </a:r>
            <a:endParaRPr sz="1400" dirty="0"/>
          </a:p>
          <a:p>
            <a:pPr marL="914400" lvl="1" indent="-317500" algn="l" rtl="0">
              <a:spcBef>
                <a:spcPts val="0"/>
              </a:spcBef>
              <a:spcAft>
                <a:spcPts val="0"/>
              </a:spcAft>
              <a:buSzPts val="1400"/>
              <a:buChar char="○"/>
            </a:pPr>
            <a:r>
              <a:rPr lang="en" i="1" dirty="0">
                <a:highlight>
                  <a:srgbClr val="FFFFFF"/>
                </a:highlight>
              </a:rPr>
              <a:t>NumPy &amp; SciPy</a:t>
            </a:r>
            <a:r>
              <a:rPr lang="en" dirty="0">
                <a:highlight>
                  <a:srgbClr val="FFFFFF"/>
                </a:highlight>
              </a:rPr>
              <a:t> - For numerical  &amp; scientific computations and linear algebra</a:t>
            </a:r>
          </a:p>
          <a:p>
            <a:pPr marL="914400" lvl="1" indent="-317500" algn="l" rtl="0">
              <a:spcBef>
                <a:spcPts val="0"/>
              </a:spcBef>
              <a:spcAft>
                <a:spcPts val="0"/>
              </a:spcAft>
              <a:buSzPts val="1400"/>
              <a:buChar char="○"/>
            </a:pPr>
            <a:r>
              <a:rPr lang="en" dirty="0">
                <a:highlight>
                  <a:srgbClr val="FFFFFF"/>
                </a:highlight>
              </a:rPr>
              <a:t>Available through Dartmouth College Lib</a:t>
            </a:r>
            <a:r>
              <a:rPr lang="en-US" dirty="0">
                <a:highlight>
                  <a:srgbClr val="FFFFFF"/>
                </a:highlight>
              </a:rPr>
              <a:t>r</a:t>
            </a:r>
            <a:r>
              <a:rPr lang="en" dirty="0" err="1">
                <a:highlight>
                  <a:srgbClr val="FFFFFF"/>
                </a:highlight>
              </a:rPr>
              <a:t>ary</a:t>
            </a:r>
            <a:endParaRPr lang="en" dirty="0">
              <a:highlight>
                <a:srgbClr val="FFFFFF"/>
              </a:highlight>
            </a:endParaRPr>
          </a:p>
          <a:p>
            <a:pPr lvl="2">
              <a:spcBef>
                <a:spcPts val="0"/>
              </a:spcBef>
              <a:buChar char="○"/>
            </a:pPr>
            <a:r>
              <a:rPr lang="en" dirty="0">
                <a:highlight>
                  <a:srgbClr val="FFFFFF"/>
                </a:highlight>
              </a:rPr>
              <a:t>Online edition of “Foundational Python for Data Science”  </a:t>
            </a:r>
            <a:r>
              <a:rPr lang="en-US" dirty="0">
                <a:hlinkClick r:id="rId3"/>
              </a:rPr>
              <a:t>https://learning.oreilly.com/library/view/foundational-python-for/9780136624417/</a:t>
            </a:r>
            <a:r>
              <a:rPr lang="en-US" dirty="0"/>
              <a:t> </a:t>
            </a:r>
          </a:p>
          <a:p>
            <a:pPr lvl="1">
              <a:spcBef>
                <a:spcPts val="0"/>
              </a:spcBef>
            </a:pPr>
            <a:r>
              <a:rPr lang="en-US" dirty="0"/>
              <a:t>Python Graph Gallery </a:t>
            </a:r>
            <a:r>
              <a:rPr lang="en-US" dirty="0">
                <a:hlinkClick r:id="rId4"/>
              </a:rPr>
              <a:t>https://python-graph-gallery.com/</a:t>
            </a:r>
            <a:r>
              <a:rPr lang="en-US" dirty="0"/>
              <a:t> </a:t>
            </a:r>
          </a:p>
          <a:p>
            <a:pPr lvl="1">
              <a:spcBef>
                <a:spcPts val="0"/>
              </a:spcBef>
            </a:pPr>
            <a:r>
              <a:rPr lang="en-US" dirty="0"/>
              <a:t>Matplotlib </a:t>
            </a:r>
            <a:r>
              <a:rPr lang="en-US" dirty="0">
                <a:hlinkClick r:id="rId5"/>
              </a:rPr>
              <a:t>https://matplotlib.org/3.5.3/gallery/index.html</a:t>
            </a:r>
            <a:r>
              <a:rPr lang="en-US" dirty="0"/>
              <a:t> </a:t>
            </a:r>
          </a:p>
          <a:p>
            <a:pPr lvl="1">
              <a:spcBef>
                <a:spcPts val="0"/>
              </a:spcBef>
            </a:pPr>
            <a:r>
              <a:rPr lang="en-US" dirty="0"/>
              <a:t>Seaborn </a:t>
            </a:r>
            <a:r>
              <a:rPr lang="en-US" dirty="0">
                <a:hlinkClick r:id="rId6"/>
              </a:rPr>
              <a:t>https://seaborn.pydata.org/</a:t>
            </a:r>
            <a:r>
              <a:rPr lang="en-US" dirty="0"/>
              <a:t> </a:t>
            </a:r>
          </a:p>
          <a:p>
            <a:pPr lvl="1">
              <a:spcBef>
                <a:spcPts val="0"/>
              </a:spcBef>
            </a:pPr>
            <a:r>
              <a:rPr lang="en-US" dirty="0"/>
              <a:t>Python for Data Science </a:t>
            </a:r>
            <a:r>
              <a:rPr lang="en-US" dirty="0">
                <a:hlinkClick r:id="rId7"/>
              </a:rPr>
              <a:t>https://www.w3schools.com/datascience/ds_python.asp</a:t>
            </a:r>
            <a:r>
              <a:rPr lang="en-US" dirty="0"/>
              <a:t> </a:t>
            </a:r>
          </a:p>
          <a:p>
            <a:pPr lvl="2">
              <a:spcBef>
                <a:spcPts val="0"/>
              </a:spcBef>
              <a:buChar char="○"/>
            </a:pPr>
            <a:endParaRPr lang="en" dirty="0">
              <a:highlight>
                <a:srgbClr val="FFFFFF"/>
              </a:highlight>
            </a:endParaRPr>
          </a:p>
        </p:txBody>
      </p:sp>
      <p:sp>
        <p:nvSpPr>
          <p:cNvPr id="105" name="Google Shape;105;p18">
            <a:extLst>
              <a:ext uri="{FF2B5EF4-FFF2-40B4-BE49-F238E27FC236}">
                <a16:creationId xmlns:a16="http://schemas.microsoft.com/office/drawing/2014/main" id="{C9D6DAB1-B507-4B48-03EC-51DB2A0353AA}"/>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8</a:t>
            </a:fld>
            <a:endParaRPr/>
          </a:p>
        </p:txBody>
      </p:sp>
      <p:pic>
        <p:nvPicPr>
          <p:cNvPr id="106" name="Google Shape;106;p18">
            <a:extLst>
              <a:ext uri="{FF2B5EF4-FFF2-40B4-BE49-F238E27FC236}">
                <a16:creationId xmlns:a16="http://schemas.microsoft.com/office/drawing/2014/main" id="{01AA3DBA-430D-4B73-F632-6F2181F1BACA}"/>
              </a:ext>
            </a:extLst>
          </p:cNvPr>
          <p:cNvPicPr preferRelativeResize="0"/>
          <p:nvPr/>
        </p:nvPicPr>
        <p:blipFill>
          <a:blip r:embed="rId8">
            <a:alphaModFix/>
          </a:blip>
          <a:stretch>
            <a:fillRect/>
          </a:stretch>
        </p:blipFill>
        <p:spPr>
          <a:xfrm>
            <a:off x="7391400" y="152400"/>
            <a:ext cx="1359149" cy="250150"/>
          </a:xfrm>
          <a:prstGeom prst="rect">
            <a:avLst/>
          </a:prstGeom>
          <a:noFill/>
          <a:ln>
            <a:noFill/>
          </a:ln>
        </p:spPr>
      </p:pic>
      <p:pic>
        <p:nvPicPr>
          <p:cNvPr id="107" name="Google Shape;107;p18">
            <a:extLst>
              <a:ext uri="{FF2B5EF4-FFF2-40B4-BE49-F238E27FC236}">
                <a16:creationId xmlns:a16="http://schemas.microsoft.com/office/drawing/2014/main" id="{B36E28E7-9DD4-6646-986D-D6AA2012831F}"/>
              </a:ext>
            </a:extLst>
          </p:cNvPr>
          <p:cNvPicPr preferRelativeResize="0"/>
          <p:nvPr/>
        </p:nvPicPr>
        <p:blipFill>
          <a:blip r:embed="rId9">
            <a:alphaModFix/>
          </a:blip>
          <a:stretch>
            <a:fillRect/>
          </a:stretch>
        </p:blipFill>
        <p:spPr>
          <a:xfrm>
            <a:off x="203250" y="86975"/>
            <a:ext cx="315575" cy="315575"/>
          </a:xfrm>
          <a:prstGeom prst="rect">
            <a:avLst/>
          </a:prstGeom>
          <a:noFill/>
          <a:ln>
            <a:noFill/>
          </a:ln>
        </p:spPr>
      </p:pic>
    </p:spTree>
    <p:extLst>
      <p:ext uri="{BB962C8B-B14F-4D97-AF65-F5344CB8AC3E}">
        <p14:creationId xmlns:p14="http://schemas.microsoft.com/office/powerpoint/2010/main" val="29800013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B078133F-84DD-7D31-AE7E-4AC06A8066AB}"/>
            </a:ext>
          </a:extLst>
        </p:cNvPr>
        <p:cNvGrpSpPr/>
        <p:nvPr/>
      </p:nvGrpSpPr>
      <p:grpSpPr>
        <a:xfrm>
          <a:off x="0" y="0"/>
          <a:ext cx="0" cy="0"/>
          <a:chOff x="0" y="0"/>
          <a:chExt cx="0" cy="0"/>
        </a:xfrm>
      </p:grpSpPr>
      <p:sp>
        <p:nvSpPr>
          <p:cNvPr id="103" name="Google Shape;103;p18">
            <a:extLst>
              <a:ext uri="{FF2B5EF4-FFF2-40B4-BE49-F238E27FC236}">
                <a16:creationId xmlns:a16="http://schemas.microsoft.com/office/drawing/2014/main" id="{2AECAB1F-37D5-32A7-5DEB-8A382FF5A183}"/>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Matplotlib library for Data Visualization  </a:t>
            </a:r>
            <a:endParaRPr dirty="0"/>
          </a:p>
        </p:txBody>
      </p:sp>
      <p:sp>
        <p:nvSpPr>
          <p:cNvPr id="104" name="Google Shape;104;p18">
            <a:extLst>
              <a:ext uri="{FF2B5EF4-FFF2-40B4-BE49-F238E27FC236}">
                <a16:creationId xmlns:a16="http://schemas.microsoft.com/office/drawing/2014/main" id="{2A8272D0-BC5C-35F4-1EAF-658A11A5783B}"/>
              </a:ext>
            </a:extLst>
          </p:cNvPr>
          <p:cNvSpPr txBox="1">
            <a:spLocks noGrp="1"/>
          </p:cNvSpPr>
          <p:nvPr>
            <p:ph type="body" idx="1"/>
          </p:nvPr>
        </p:nvSpPr>
        <p:spPr>
          <a:xfrm>
            <a:off x="311700" y="1017725"/>
            <a:ext cx="8520600" cy="373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hlinkClick r:id="rId3"/>
              </a:rPr>
              <a:t>Matplotlib</a:t>
            </a:r>
            <a:r>
              <a:rPr lang="en-US" sz="1400" dirty="0"/>
              <a:t> </a:t>
            </a:r>
            <a:r>
              <a:rPr lang="en-US" sz="1400" dirty="0" err="1"/>
              <a:t>pyplot</a:t>
            </a:r>
            <a:r>
              <a:rPr lang="en-US" sz="1400" dirty="0"/>
              <a:t> </a:t>
            </a:r>
            <a:endParaRPr lang="en" dirty="0">
              <a:highlight>
                <a:srgbClr val="FFFFFF"/>
              </a:highlight>
            </a:endParaRPr>
          </a:p>
        </p:txBody>
      </p:sp>
      <p:sp>
        <p:nvSpPr>
          <p:cNvPr id="105" name="Google Shape;105;p18">
            <a:extLst>
              <a:ext uri="{FF2B5EF4-FFF2-40B4-BE49-F238E27FC236}">
                <a16:creationId xmlns:a16="http://schemas.microsoft.com/office/drawing/2014/main" id="{2EF0FDA7-0D9B-2907-38E6-FE67C22AC6E3}"/>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9</a:t>
            </a:fld>
            <a:endParaRPr/>
          </a:p>
        </p:txBody>
      </p:sp>
      <p:pic>
        <p:nvPicPr>
          <p:cNvPr id="106" name="Google Shape;106;p18">
            <a:extLst>
              <a:ext uri="{FF2B5EF4-FFF2-40B4-BE49-F238E27FC236}">
                <a16:creationId xmlns:a16="http://schemas.microsoft.com/office/drawing/2014/main" id="{F360B007-24F0-EBE8-60D2-E5834EA348C2}"/>
              </a:ext>
            </a:extLst>
          </p:cNvPr>
          <p:cNvPicPr preferRelativeResize="0"/>
          <p:nvPr/>
        </p:nvPicPr>
        <p:blipFill>
          <a:blip r:embed="rId4">
            <a:alphaModFix/>
          </a:blip>
          <a:stretch>
            <a:fillRect/>
          </a:stretch>
        </p:blipFill>
        <p:spPr>
          <a:xfrm>
            <a:off x="7391400" y="152400"/>
            <a:ext cx="1359149" cy="250150"/>
          </a:xfrm>
          <a:prstGeom prst="rect">
            <a:avLst/>
          </a:prstGeom>
          <a:noFill/>
          <a:ln>
            <a:noFill/>
          </a:ln>
        </p:spPr>
      </p:pic>
      <p:pic>
        <p:nvPicPr>
          <p:cNvPr id="107" name="Google Shape;107;p18">
            <a:extLst>
              <a:ext uri="{FF2B5EF4-FFF2-40B4-BE49-F238E27FC236}">
                <a16:creationId xmlns:a16="http://schemas.microsoft.com/office/drawing/2014/main" id="{9D5088F1-D612-B250-FB59-7B16786E2916}"/>
              </a:ext>
            </a:extLst>
          </p:cNvPr>
          <p:cNvPicPr preferRelativeResize="0"/>
          <p:nvPr/>
        </p:nvPicPr>
        <p:blipFill>
          <a:blip r:embed="rId5">
            <a:alphaModFix/>
          </a:blip>
          <a:stretch>
            <a:fillRect/>
          </a:stretch>
        </p:blipFill>
        <p:spPr>
          <a:xfrm>
            <a:off x="203250" y="86975"/>
            <a:ext cx="315575" cy="315575"/>
          </a:xfrm>
          <a:prstGeom prst="rect">
            <a:avLst/>
          </a:prstGeom>
          <a:noFill/>
          <a:ln>
            <a:noFill/>
          </a:ln>
        </p:spPr>
      </p:pic>
      <p:pic>
        <p:nvPicPr>
          <p:cNvPr id="3" name="Picture 2">
            <a:extLst>
              <a:ext uri="{FF2B5EF4-FFF2-40B4-BE49-F238E27FC236}">
                <a16:creationId xmlns:a16="http://schemas.microsoft.com/office/drawing/2014/main" id="{0E1E482A-3146-351E-7EDE-1E09D918B70F}"/>
              </a:ext>
            </a:extLst>
          </p:cNvPr>
          <p:cNvPicPr>
            <a:picLocks noChangeAspect="1"/>
          </p:cNvPicPr>
          <p:nvPr/>
        </p:nvPicPr>
        <p:blipFill>
          <a:blip r:embed="rId6"/>
          <a:stretch>
            <a:fillRect/>
          </a:stretch>
        </p:blipFill>
        <p:spPr>
          <a:xfrm>
            <a:off x="1132115" y="1598177"/>
            <a:ext cx="7064829" cy="3389725"/>
          </a:xfrm>
          <a:prstGeom prst="rect">
            <a:avLst/>
          </a:prstGeom>
          <a:effectLst>
            <a:innerShdw blurRad="114300">
              <a:prstClr val="black"/>
            </a:innerShdw>
          </a:effectLst>
        </p:spPr>
      </p:pic>
    </p:spTree>
    <p:extLst>
      <p:ext uri="{BB962C8B-B14F-4D97-AF65-F5344CB8AC3E}">
        <p14:creationId xmlns:p14="http://schemas.microsoft.com/office/powerpoint/2010/main" val="3434807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D986F0B2-CADD-1389-DC0E-88A30A96AE81}"/>
            </a:ext>
          </a:extLst>
        </p:cNvPr>
        <p:cNvGrpSpPr/>
        <p:nvPr/>
      </p:nvGrpSpPr>
      <p:grpSpPr>
        <a:xfrm>
          <a:off x="0" y="0"/>
          <a:ext cx="0" cy="0"/>
          <a:chOff x="0" y="0"/>
          <a:chExt cx="0" cy="0"/>
        </a:xfrm>
      </p:grpSpPr>
      <p:sp>
        <p:nvSpPr>
          <p:cNvPr id="103" name="Google Shape;103;p18">
            <a:extLst>
              <a:ext uri="{FF2B5EF4-FFF2-40B4-BE49-F238E27FC236}">
                <a16:creationId xmlns:a16="http://schemas.microsoft.com/office/drawing/2014/main" id="{339632B0-98C5-4EA3-D991-32BA3029F223}"/>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Seaborn library for Data Visualization  </a:t>
            </a:r>
            <a:endParaRPr dirty="0"/>
          </a:p>
        </p:txBody>
      </p:sp>
      <p:sp>
        <p:nvSpPr>
          <p:cNvPr id="104" name="Google Shape;104;p18">
            <a:extLst>
              <a:ext uri="{FF2B5EF4-FFF2-40B4-BE49-F238E27FC236}">
                <a16:creationId xmlns:a16="http://schemas.microsoft.com/office/drawing/2014/main" id="{0E8B752D-4BBE-22CF-801A-283DADA7E6DC}"/>
              </a:ext>
            </a:extLst>
          </p:cNvPr>
          <p:cNvSpPr txBox="1">
            <a:spLocks noGrp="1"/>
          </p:cNvSpPr>
          <p:nvPr>
            <p:ph type="body" idx="1"/>
          </p:nvPr>
        </p:nvSpPr>
        <p:spPr>
          <a:xfrm>
            <a:off x="311700" y="1017725"/>
            <a:ext cx="8520600" cy="373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t>Seaborn </a:t>
            </a:r>
            <a:endParaRPr sz="1400" dirty="0"/>
          </a:p>
          <a:p>
            <a:pPr marL="457200" lvl="0" indent="-317500" algn="l" rtl="0">
              <a:spcBef>
                <a:spcPts val="1600"/>
              </a:spcBef>
              <a:spcAft>
                <a:spcPts val="0"/>
              </a:spcAft>
              <a:buSzPts val="1400"/>
              <a:buChar char="●"/>
            </a:pPr>
            <a:r>
              <a:rPr lang="en-US" sz="1400" dirty="0">
                <a:highlight>
                  <a:srgbClr val="FFFFFF"/>
                </a:highlight>
              </a:rPr>
              <a:t>Seaborn </a:t>
            </a:r>
            <a:endParaRPr lang="en" dirty="0">
              <a:highlight>
                <a:srgbClr val="FFFFFF"/>
              </a:highlight>
            </a:endParaRPr>
          </a:p>
        </p:txBody>
      </p:sp>
      <p:sp>
        <p:nvSpPr>
          <p:cNvPr id="105" name="Google Shape;105;p18">
            <a:extLst>
              <a:ext uri="{FF2B5EF4-FFF2-40B4-BE49-F238E27FC236}">
                <a16:creationId xmlns:a16="http://schemas.microsoft.com/office/drawing/2014/main" id="{BFD72E76-457D-7FF2-AF7F-73B90D5DEA07}"/>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10</a:t>
            </a:fld>
            <a:endParaRPr/>
          </a:p>
        </p:txBody>
      </p:sp>
      <p:pic>
        <p:nvPicPr>
          <p:cNvPr id="106" name="Google Shape;106;p18">
            <a:extLst>
              <a:ext uri="{FF2B5EF4-FFF2-40B4-BE49-F238E27FC236}">
                <a16:creationId xmlns:a16="http://schemas.microsoft.com/office/drawing/2014/main" id="{DBF43EFF-0859-2963-9AE0-6B1E901CA7E8}"/>
              </a:ext>
            </a:extLst>
          </p:cNvPr>
          <p:cNvPicPr preferRelativeResize="0"/>
          <p:nvPr/>
        </p:nvPicPr>
        <p:blipFill>
          <a:blip r:embed="rId3">
            <a:alphaModFix/>
          </a:blip>
          <a:stretch>
            <a:fillRect/>
          </a:stretch>
        </p:blipFill>
        <p:spPr>
          <a:xfrm>
            <a:off x="7391400" y="152400"/>
            <a:ext cx="1359149" cy="250150"/>
          </a:xfrm>
          <a:prstGeom prst="rect">
            <a:avLst/>
          </a:prstGeom>
          <a:noFill/>
          <a:ln>
            <a:noFill/>
          </a:ln>
        </p:spPr>
      </p:pic>
      <p:pic>
        <p:nvPicPr>
          <p:cNvPr id="107" name="Google Shape;107;p18">
            <a:extLst>
              <a:ext uri="{FF2B5EF4-FFF2-40B4-BE49-F238E27FC236}">
                <a16:creationId xmlns:a16="http://schemas.microsoft.com/office/drawing/2014/main" id="{3BD43C9E-80A8-2CD0-A8FC-C723C6399FBE}"/>
              </a:ext>
            </a:extLst>
          </p:cNvPr>
          <p:cNvPicPr preferRelativeResize="0"/>
          <p:nvPr/>
        </p:nvPicPr>
        <p:blipFill>
          <a:blip r:embed="rId4">
            <a:alphaModFix/>
          </a:blip>
          <a:stretch>
            <a:fillRect/>
          </a:stretch>
        </p:blipFill>
        <p:spPr>
          <a:xfrm>
            <a:off x="203250" y="86975"/>
            <a:ext cx="315575" cy="315575"/>
          </a:xfrm>
          <a:prstGeom prst="rect">
            <a:avLst/>
          </a:prstGeom>
          <a:noFill/>
          <a:ln>
            <a:noFill/>
          </a:ln>
        </p:spPr>
      </p:pic>
      <p:pic>
        <p:nvPicPr>
          <p:cNvPr id="2" name="Picture 1">
            <a:extLst>
              <a:ext uri="{FF2B5EF4-FFF2-40B4-BE49-F238E27FC236}">
                <a16:creationId xmlns:a16="http://schemas.microsoft.com/office/drawing/2014/main" id="{D6651DC0-800E-E431-B653-958CB122575F}"/>
              </a:ext>
            </a:extLst>
          </p:cNvPr>
          <p:cNvPicPr>
            <a:picLocks noChangeAspect="1"/>
          </p:cNvPicPr>
          <p:nvPr/>
        </p:nvPicPr>
        <p:blipFill>
          <a:blip r:embed="rId5"/>
          <a:stretch>
            <a:fillRect/>
          </a:stretch>
        </p:blipFill>
        <p:spPr>
          <a:xfrm>
            <a:off x="685800" y="1983893"/>
            <a:ext cx="7772400" cy="3004514"/>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8208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6DAC8935-4CD0-2D1F-5BC5-5222CE52E881}"/>
            </a:ext>
          </a:extLst>
        </p:cNvPr>
        <p:cNvGrpSpPr/>
        <p:nvPr/>
      </p:nvGrpSpPr>
      <p:grpSpPr>
        <a:xfrm>
          <a:off x="0" y="0"/>
          <a:ext cx="0" cy="0"/>
          <a:chOff x="0" y="0"/>
          <a:chExt cx="0" cy="0"/>
        </a:xfrm>
      </p:grpSpPr>
      <p:sp>
        <p:nvSpPr>
          <p:cNvPr id="103" name="Google Shape;103;p18">
            <a:extLst>
              <a:ext uri="{FF2B5EF4-FFF2-40B4-BE49-F238E27FC236}">
                <a16:creationId xmlns:a16="http://schemas.microsoft.com/office/drawing/2014/main" id="{751D30D7-6531-8222-779F-025BEE79009F}"/>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Python Graph </a:t>
            </a:r>
            <a:br>
              <a:rPr lang="en" dirty="0"/>
            </a:br>
            <a:r>
              <a:rPr lang="en" dirty="0"/>
              <a:t>Gallery</a:t>
            </a:r>
            <a:endParaRPr dirty="0"/>
          </a:p>
        </p:txBody>
      </p:sp>
      <p:sp>
        <p:nvSpPr>
          <p:cNvPr id="104" name="Google Shape;104;p18">
            <a:extLst>
              <a:ext uri="{FF2B5EF4-FFF2-40B4-BE49-F238E27FC236}">
                <a16:creationId xmlns:a16="http://schemas.microsoft.com/office/drawing/2014/main" id="{5DFF1CDC-6652-52B1-651F-2D6451A311B9}"/>
              </a:ext>
            </a:extLst>
          </p:cNvPr>
          <p:cNvSpPr txBox="1">
            <a:spLocks noGrp="1"/>
          </p:cNvSpPr>
          <p:nvPr>
            <p:ph type="body" idx="1"/>
          </p:nvPr>
        </p:nvSpPr>
        <p:spPr>
          <a:xfrm>
            <a:off x="311700" y="1944913"/>
            <a:ext cx="8520600" cy="280991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t>Python </a:t>
            </a:r>
            <a:r>
              <a:rPr lang="en-US" sz="1400" dirty="0">
                <a:hlinkClick r:id="rId3"/>
              </a:rPr>
              <a:t>Graph Gallery site </a:t>
            </a:r>
            <a:endParaRPr sz="1400" dirty="0"/>
          </a:p>
          <a:p>
            <a:pPr marL="457200" lvl="0" indent="-317500" algn="l" rtl="0">
              <a:spcBef>
                <a:spcPts val="1600"/>
              </a:spcBef>
              <a:spcAft>
                <a:spcPts val="0"/>
              </a:spcAft>
              <a:buSzPts val="1400"/>
              <a:buChar char="●"/>
            </a:pPr>
            <a:r>
              <a:rPr lang="en-US" sz="1400" dirty="0">
                <a:highlight>
                  <a:srgbClr val="FFFFFF"/>
                </a:highlight>
              </a:rPr>
              <a:t>Graph Gallery  </a:t>
            </a:r>
            <a:endParaRPr lang="en" dirty="0">
              <a:highlight>
                <a:srgbClr val="FFFFFF"/>
              </a:highlight>
            </a:endParaRPr>
          </a:p>
        </p:txBody>
      </p:sp>
      <p:sp>
        <p:nvSpPr>
          <p:cNvPr id="105" name="Google Shape;105;p18">
            <a:extLst>
              <a:ext uri="{FF2B5EF4-FFF2-40B4-BE49-F238E27FC236}">
                <a16:creationId xmlns:a16="http://schemas.microsoft.com/office/drawing/2014/main" id="{1D3E0C7A-7DF1-7D35-C159-A2682104F228}"/>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11</a:t>
            </a:fld>
            <a:endParaRPr/>
          </a:p>
        </p:txBody>
      </p:sp>
      <p:pic>
        <p:nvPicPr>
          <p:cNvPr id="106" name="Google Shape;106;p18">
            <a:extLst>
              <a:ext uri="{FF2B5EF4-FFF2-40B4-BE49-F238E27FC236}">
                <a16:creationId xmlns:a16="http://schemas.microsoft.com/office/drawing/2014/main" id="{35A2F6BD-EBCB-27DA-8210-5E1A7688BC36}"/>
              </a:ext>
            </a:extLst>
          </p:cNvPr>
          <p:cNvPicPr preferRelativeResize="0"/>
          <p:nvPr/>
        </p:nvPicPr>
        <p:blipFill>
          <a:blip r:embed="rId4">
            <a:alphaModFix/>
          </a:blip>
          <a:stretch>
            <a:fillRect/>
          </a:stretch>
        </p:blipFill>
        <p:spPr>
          <a:xfrm>
            <a:off x="7391400" y="152400"/>
            <a:ext cx="1359149" cy="250150"/>
          </a:xfrm>
          <a:prstGeom prst="rect">
            <a:avLst/>
          </a:prstGeom>
          <a:noFill/>
          <a:ln>
            <a:noFill/>
          </a:ln>
        </p:spPr>
      </p:pic>
      <p:pic>
        <p:nvPicPr>
          <p:cNvPr id="107" name="Google Shape;107;p18">
            <a:extLst>
              <a:ext uri="{FF2B5EF4-FFF2-40B4-BE49-F238E27FC236}">
                <a16:creationId xmlns:a16="http://schemas.microsoft.com/office/drawing/2014/main" id="{B77318CA-5E92-16BF-3E71-358B845332C9}"/>
              </a:ext>
            </a:extLst>
          </p:cNvPr>
          <p:cNvPicPr preferRelativeResize="0"/>
          <p:nvPr/>
        </p:nvPicPr>
        <p:blipFill>
          <a:blip r:embed="rId5">
            <a:alphaModFix/>
          </a:blip>
          <a:stretch>
            <a:fillRect/>
          </a:stretch>
        </p:blipFill>
        <p:spPr>
          <a:xfrm>
            <a:off x="203250" y="86975"/>
            <a:ext cx="315575" cy="315575"/>
          </a:xfrm>
          <a:prstGeom prst="rect">
            <a:avLst/>
          </a:prstGeom>
          <a:noFill/>
          <a:ln>
            <a:noFill/>
          </a:ln>
        </p:spPr>
      </p:pic>
      <p:pic>
        <p:nvPicPr>
          <p:cNvPr id="3" name="Picture 2">
            <a:extLst>
              <a:ext uri="{FF2B5EF4-FFF2-40B4-BE49-F238E27FC236}">
                <a16:creationId xmlns:a16="http://schemas.microsoft.com/office/drawing/2014/main" id="{4975411E-1047-EF41-5577-4E28906F3ED6}"/>
              </a:ext>
            </a:extLst>
          </p:cNvPr>
          <p:cNvPicPr>
            <a:picLocks noChangeAspect="1"/>
          </p:cNvPicPr>
          <p:nvPr/>
        </p:nvPicPr>
        <p:blipFill>
          <a:blip r:embed="rId6"/>
          <a:stretch>
            <a:fillRect/>
          </a:stretch>
        </p:blipFill>
        <p:spPr>
          <a:xfrm>
            <a:off x="3106057" y="612268"/>
            <a:ext cx="4978400" cy="4288509"/>
          </a:xfrm>
          <a:prstGeom prst="rect">
            <a:avLst/>
          </a:prstGeom>
          <a:effectLst>
            <a:innerShdw blurRad="114300">
              <a:prstClr val="black"/>
            </a:innerShdw>
          </a:effectLst>
        </p:spPr>
      </p:pic>
    </p:spTree>
    <p:extLst>
      <p:ext uri="{BB962C8B-B14F-4D97-AF65-F5344CB8AC3E}">
        <p14:creationId xmlns:p14="http://schemas.microsoft.com/office/powerpoint/2010/main" val="4163787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8FBEDDE8-F7E1-CC0B-6B46-411C0A442272}"/>
            </a:ext>
          </a:extLst>
        </p:cNvPr>
        <p:cNvGrpSpPr/>
        <p:nvPr/>
      </p:nvGrpSpPr>
      <p:grpSpPr>
        <a:xfrm>
          <a:off x="0" y="0"/>
          <a:ext cx="0" cy="0"/>
          <a:chOff x="0" y="0"/>
          <a:chExt cx="0" cy="0"/>
        </a:xfrm>
      </p:grpSpPr>
      <p:sp>
        <p:nvSpPr>
          <p:cNvPr id="103" name="Google Shape;103;p18">
            <a:extLst>
              <a:ext uri="{FF2B5EF4-FFF2-40B4-BE49-F238E27FC236}">
                <a16:creationId xmlns:a16="http://schemas.microsoft.com/office/drawing/2014/main" id="{F39D9058-7919-E250-7CAA-55B9D2B6B01D}"/>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Live code with built in datasets</a:t>
            </a:r>
            <a:endParaRPr dirty="0"/>
          </a:p>
        </p:txBody>
      </p:sp>
      <p:sp>
        <p:nvSpPr>
          <p:cNvPr id="105" name="Google Shape;105;p18">
            <a:extLst>
              <a:ext uri="{FF2B5EF4-FFF2-40B4-BE49-F238E27FC236}">
                <a16:creationId xmlns:a16="http://schemas.microsoft.com/office/drawing/2014/main" id="{513BDCA6-C670-6DA2-7653-9CCDBC290E2D}"/>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pic>
        <p:nvPicPr>
          <p:cNvPr id="106" name="Google Shape;106;p18">
            <a:extLst>
              <a:ext uri="{FF2B5EF4-FFF2-40B4-BE49-F238E27FC236}">
                <a16:creationId xmlns:a16="http://schemas.microsoft.com/office/drawing/2014/main" id="{C0C7BF43-44BC-B0DF-5DAA-ED7F61DB7658}"/>
              </a:ext>
            </a:extLst>
          </p:cNvPr>
          <p:cNvPicPr preferRelativeResize="0"/>
          <p:nvPr/>
        </p:nvPicPr>
        <p:blipFill>
          <a:blip r:embed="rId3">
            <a:alphaModFix/>
          </a:blip>
          <a:stretch>
            <a:fillRect/>
          </a:stretch>
        </p:blipFill>
        <p:spPr>
          <a:xfrm>
            <a:off x="7391400" y="152400"/>
            <a:ext cx="1359149" cy="250150"/>
          </a:xfrm>
          <a:prstGeom prst="rect">
            <a:avLst/>
          </a:prstGeom>
          <a:noFill/>
          <a:ln>
            <a:noFill/>
          </a:ln>
        </p:spPr>
      </p:pic>
      <p:pic>
        <p:nvPicPr>
          <p:cNvPr id="107" name="Google Shape;107;p18">
            <a:extLst>
              <a:ext uri="{FF2B5EF4-FFF2-40B4-BE49-F238E27FC236}">
                <a16:creationId xmlns:a16="http://schemas.microsoft.com/office/drawing/2014/main" id="{87F6DFB9-E924-505E-FE49-16CED812B3DA}"/>
              </a:ext>
            </a:extLst>
          </p:cNvPr>
          <p:cNvPicPr preferRelativeResize="0"/>
          <p:nvPr/>
        </p:nvPicPr>
        <p:blipFill>
          <a:blip r:embed="rId4">
            <a:alphaModFix/>
          </a:blip>
          <a:stretch>
            <a:fillRect/>
          </a:stretch>
        </p:blipFill>
        <p:spPr>
          <a:xfrm>
            <a:off x="203250" y="86975"/>
            <a:ext cx="315575" cy="315575"/>
          </a:xfrm>
          <a:prstGeom prst="rect">
            <a:avLst/>
          </a:prstGeom>
          <a:noFill/>
          <a:ln>
            <a:noFill/>
          </a:ln>
        </p:spPr>
      </p:pic>
      <p:sp>
        <p:nvSpPr>
          <p:cNvPr id="2" name="TextBox 1">
            <a:extLst>
              <a:ext uri="{FF2B5EF4-FFF2-40B4-BE49-F238E27FC236}">
                <a16:creationId xmlns:a16="http://schemas.microsoft.com/office/drawing/2014/main" id="{E7F3F5AD-21C9-16A1-B349-D9057BF347B5}"/>
              </a:ext>
            </a:extLst>
          </p:cNvPr>
          <p:cNvSpPr txBox="1"/>
          <p:nvPr/>
        </p:nvSpPr>
        <p:spPr>
          <a:xfrm>
            <a:off x="1059542" y="1318867"/>
            <a:ext cx="6444343" cy="1600438"/>
          </a:xfrm>
          <a:prstGeom prst="rect">
            <a:avLst/>
          </a:prstGeom>
          <a:noFill/>
        </p:spPr>
        <p:txBody>
          <a:bodyPr wrap="square" rtlCol="0">
            <a:spAutoFit/>
          </a:bodyPr>
          <a:lstStyle/>
          <a:p>
            <a:r>
              <a:rPr lang="en-US" dirty="0">
                <a:latin typeface="Lucida Console" panose="020B0609040504020204" pitchFamily="49" charset="0"/>
              </a:rPr>
              <a:t># library &amp; dataset</a:t>
            </a:r>
          </a:p>
          <a:p>
            <a:r>
              <a:rPr lang="en-US" dirty="0">
                <a:latin typeface="Lucida Console" panose="020B0609040504020204" pitchFamily="49" charset="0"/>
              </a:rPr>
              <a:t>import seaborn as </a:t>
            </a:r>
            <a:r>
              <a:rPr lang="en-US" dirty="0" err="1">
                <a:latin typeface="Lucida Console" panose="020B0609040504020204" pitchFamily="49" charset="0"/>
              </a:rPr>
              <a:t>sns</a:t>
            </a:r>
            <a:endParaRPr lang="en-US" dirty="0">
              <a:latin typeface="Lucida Console" panose="020B0609040504020204" pitchFamily="49" charset="0"/>
            </a:endParaRPr>
          </a:p>
          <a:p>
            <a:r>
              <a:rPr lang="en-US" dirty="0" err="1">
                <a:latin typeface="Lucida Console" panose="020B0609040504020204" pitchFamily="49" charset="0"/>
              </a:rPr>
              <a:t>df</a:t>
            </a:r>
            <a:r>
              <a:rPr lang="en-US" dirty="0">
                <a:latin typeface="Lucida Console" panose="020B0609040504020204" pitchFamily="49" charset="0"/>
              </a:rPr>
              <a:t> = </a:t>
            </a:r>
            <a:r>
              <a:rPr lang="en-US" dirty="0" err="1">
                <a:latin typeface="Lucida Console" panose="020B0609040504020204" pitchFamily="49" charset="0"/>
              </a:rPr>
              <a:t>sns.load_dataset</a:t>
            </a:r>
            <a:r>
              <a:rPr lang="en-US" dirty="0">
                <a:latin typeface="Lucida Console" panose="020B0609040504020204" pitchFamily="49" charset="0"/>
              </a:rPr>
              <a:t>('iris')</a:t>
            </a:r>
          </a:p>
          <a:p>
            <a:endParaRPr lang="en-US" dirty="0">
              <a:latin typeface="Lucida Console" panose="020B0609040504020204" pitchFamily="49" charset="0"/>
            </a:endParaRPr>
          </a:p>
          <a:p>
            <a:r>
              <a:rPr lang="en-US" dirty="0">
                <a:latin typeface="Lucida Console" panose="020B0609040504020204" pitchFamily="49" charset="0"/>
              </a:rPr>
              <a:t># Plot the histogram thanks to the </a:t>
            </a:r>
            <a:r>
              <a:rPr lang="en-US" dirty="0" err="1">
                <a:latin typeface="Lucida Console" panose="020B0609040504020204" pitchFamily="49" charset="0"/>
              </a:rPr>
              <a:t>displot</a:t>
            </a:r>
            <a:r>
              <a:rPr lang="en-US" dirty="0">
                <a:latin typeface="Lucida Console" panose="020B0609040504020204" pitchFamily="49" charset="0"/>
              </a:rPr>
              <a:t> function</a:t>
            </a:r>
          </a:p>
          <a:p>
            <a:r>
              <a:rPr lang="en-US" dirty="0" err="1">
                <a:latin typeface="Lucida Console" panose="020B0609040504020204" pitchFamily="49" charset="0"/>
              </a:rPr>
              <a:t>sns.displot</a:t>
            </a:r>
            <a:r>
              <a:rPr lang="en-US" dirty="0">
                <a:latin typeface="Lucida Console" panose="020B0609040504020204" pitchFamily="49" charset="0"/>
              </a:rPr>
              <a:t>( data=</a:t>
            </a:r>
            <a:r>
              <a:rPr lang="en-US" dirty="0" err="1">
                <a:latin typeface="Lucida Console" panose="020B0609040504020204" pitchFamily="49" charset="0"/>
              </a:rPr>
              <a:t>df</a:t>
            </a:r>
            <a:r>
              <a:rPr lang="en-US" dirty="0">
                <a:latin typeface="Lucida Console" panose="020B0609040504020204" pitchFamily="49" charset="0"/>
              </a:rPr>
              <a:t>["</a:t>
            </a:r>
            <a:r>
              <a:rPr lang="en-US" dirty="0" err="1">
                <a:latin typeface="Lucida Console" panose="020B0609040504020204" pitchFamily="49" charset="0"/>
              </a:rPr>
              <a:t>sepal_length</a:t>
            </a:r>
            <a:r>
              <a:rPr lang="en-US" dirty="0">
                <a:latin typeface="Lucida Console" panose="020B0609040504020204" pitchFamily="49" charset="0"/>
              </a:rPr>
              <a:t>"], </a:t>
            </a:r>
            <a:r>
              <a:rPr lang="en-US" dirty="0" err="1">
                <a:latin typeface="Lucida Console" panose="020B0609040504020204" pitchFamily="49" charset="0"/>
              </a:rPr>
              <a:t>kde</a:t>
            </a:r>
            <a:r>
              <a:rPr lang="en-US" dirty="0">
                <a:latin typeface="Lucida Console" panose="020B0609040504020204" pitchFamily="49" charset="0"/>
              </a:rPr>
              <a:t>=True )</a:t>
            </a:r>
          </a:p>
          <a:p>
            <a:endParaRPr lang="en-US" dirty="0">
              <a:latin typeface="Lucida Console" panose="020B0609040504020204" pitchFamily="49" charset="0"/>
            </a:endParaRPr>
          </a:p>
        </p:txBody>
      </p:sp>
      <p:pic>
        <p:nvPicPr>
          <p:cNvPr id="3" name="Picture 2">
            <a:extLst>
              <a:ext uri="{FF2B5EF4-FFF2-40B4-BE49-F238E27FC236}">
                <a16:creationId xmlns:a16="http://schemas.microsoft.com/office/drawing/2014/main" id="{DF71841E-9A2E-28DE-874F-2D15BF4502F5}"/>
              </a:ext>
            </a:extLst>
          </p:cNvPr>
          <p:cNvPicPr>
            <a:picLocks noChangeAspect="1"/>
          </p:cNvPicPr>
          <p:nvPr/>
        </p:nvPicPr>
        <p:blipFill>
          <a:blip r:embed="rId5"/>
          <a:stretch>
            <a:fillRect/>
          </a:stretch>
        </p:blipFill>
        <p:spPr>
          <a:xfrm>
            <a:off x="7260327" y="3614058"/>
            <a:ext cx="1244137" cy="1297214"/>
          </a:xfrm>
          <a:prstGeom prst="rect">
            <a:avLst/>
          </a:prstGeom>
          <a:effectLst>
            <a:outerShdw blurRad="50800" dist="38100" dir="13500000" algn="br" rotWithShape="0">
              <a:prstClr val="black">
                <a:alpha val="40000"/>
              </a:prstClr>
            </a:outerShdw>
          </a:effectLst>
        </p:spPr>
      </p:pic>
      <p:pic>
        <p:nvPicPr>
          <p:cNvPr id="6" name="Picture 5">
            <a:extLst>
              <a:ext uri="{FF2B5EF4-FFF2-40B4-BE49-F238E27FC236}">
                <a16:creationId xmlns:a16="http://schemas.microsoft.com/office/drawing/2014/main" id="{4A09734C-7D2D-924A-304C-3750448943C4}"/>
              </a:ext>
            </a:extLst>
          </p:cNvPr>
          <p:cNvPicPr>
            <a:picLocks noChangeAspect="1"/>
          </p:cNvPicPr>
          <p:nvPr/>
        </p:nvPicPr>
        <p:blipFill>
          <a:blip r:embed="rId6"/>
          <a:stretch>
            <a:fillRect/>
          </a:stretch>
        </p:blipFill>
        <p:spPr>
          <a:xfrm>
            <a:off x="4339771" y="2847923"/>
            <a:ext cx="2208894" cy="2208894"/>
          </a:xfrm>
          <a:prstGeom prst="rect">
            <a:avLst/>
          </a:prstGeom>
          <a:effectLst>
            <a:outerShdw blurRad="50800" dist="38100" dir="13500000" algn="br" rotWithShape="0">
              <a:prstClr val="black">
                <a:alpha val="40000"/>
              </a:prstClr>
            </a:outerShdw>
          </a:effectLst>
        </p:spPr>
      </p:pic>
    </p:spTree>
    <p:extLst>
      <p:ext uri="{BB962C8B-B14F-4D97-AF65-F5344CB8AC3E}">
        <p14:creationId xmlns:p14="http://schemas.microsoft.com/office/powerpoint/2010/main" val="1320762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Basics of Reproducible Research for Data Science</a:t>
            </a:r>
            <a:endParaRPr/>
          </a:p>
        </p:txBody>
      </p:sp>
      <p:sp>
        <p:nvSpPr>
          <p:cNvPr id="113" name="Google Shape;113;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To make our research reproducible:</a:t>
            </a:r>
            <a:endParaRPr sz="1600"/>
          </a:p>
          <a:p>
            <a:pPr marL="457200" lvl="0" indent="-330200" algn="l" rtl="0">
              <a:spcBef>
                <a:spcPts val="1600"/>
              </a:spcBef>
              <a:spcAft>
                <a:spcPts val="0"/>
              </a:spcAft>
              <a:buSzPts val="1600"/>
              <a:buChar char="●"/>
            </a:pPr>
            <a:r>
              <a:rPr lang="en" sz="1600"/>
              <a:t>Provide data, with metadata, and the code and software or software version used to run the analysis</a:t>
            </a:r>
            <a:endParaRPr sz="1600"/>
          </a:p>
          <a:p>
            <a:pPr marL="457200" lvl="0" indent="-330200" algn="l" rtl="0">
              <a:spcBef>
                <a:spcPts val="0"/>
              </a:spcBef>
              <a:spcAft>
                <a:spcPts val="0"/>
              </a:spcAft>
              <a:buSzPts val="1600"/>
              <a:buChar char="●"/>
            </a:pPr>
            <a:r>
              <a:rPr lang="en" sz="1600"/>
              <a:t>Emphasize transparency throughout the research lifecycle</a:t>
            </a:r>
            <a:endParaRPr sz="1600"/>
          </a:p>
          <a:p>
            <a:pPr marL="457200" lvl="0" indent="-330200" algn="l" rtl="0">
              <a:spcBef>
                <a:spcPts val="0"/>
              </a:spcBef>
              <a:spcAft>
                <a:spcPts val="0"/>
              </a:spcAft>
              <a:buSzPts val="1600"/>
              <a:buChar char="●"/>
            </a:pPr>
            <a:r>
              <a:rPr lang="en" sz="1600"/>
              <a:t>Test that you can generate the same result more than once</a:t>
            </a:r>
            <a:endParaRPr sz="1600"/>
          </a:p>
          <a:p>
            <a:pPr marL="457200" lvl="0" indent="-330200" algn="l" rtl="0">
              <a:spcBef>
                <a:spcPts val="0"/>
              </a:spcBef>
              <a:spcAft>
                <a:spcPts val="0"/>
              </a:spcAft>
              <a:buSzPts val="1600"/>
              <a:buChar char="●"/>
            </a:pPr>
            <a:r>
              <a:rPr lang="en" sz="1600"/>
              <a:t>Enable other researchers to be able to generate the same result, given the data and the scripts or programs that capture the methodology of the analysis, and then build on that with new data</a:t>
            </a:r>
            <a:endParaRPr sz="1600"/>
          </a:p>
          <a:p>
            <a:pPr marL="457200" lvl="0" indent="-330200" algn="l" rtl="0">
              <a:spcBef>
                <a:spcPts val="0"/>
              </a:spcBef>
              <a:spcAft>
                <a:spcPts val="0"/>
              </a:spcAft>
              <a:buSzPts val="1600"/>
              <a:buChar char="●"/>
            </a:pPr>
            <a:r>
              <a:rPr lang="en" sz="1600"/>
              <a:t>Run the same analysis steps, given new data with an identical data structure.  For example, the data is updated with new observations(rows) and the analysis is re-run. </a:t>
            </a:r>
            <a:endParaRPr sz="1600"/>
          </a:p>
        </p:txBody>
      </p:sp>
      <p:sp>
        <p:nvSpPr>
          <p:cNvPr id="114" name="Google Shape;114;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13</a:t>
            </a:fld>
            <a:endParaRPr/>
          </a:p>
        </p:txBody>
      </p:sp>
      <p:pic>
        <p:nvPicPr>
          <p:cNvPr id="115" name="Google Shape;115;p19"/>
          <p:cNvPicPr preferRelativeResize="0"/>
          <p:nvPr/>
        </p:nvPicPr>
        <p:blipFill>
          <a:blip r:embed="rId3">
            <a:alphaModFix/>
          </a:blip>
          <a:stretch>
            <a:fillRect/>
          </a:stretch>
        </p:blipFill>
        <p:spPr>
          <a:xfrm>
            <a:off x="7391400" y="152400"/>
            <a:ext cx="1359149" cy="250150"/>
          </a:xfrm>
          <a:prstGeom prst="rect">
            <a:avLst/>
          </a:prstGeom>
          <a:noFill/>
          <a:ln>
            <a:noFill/>
          </a:ln>
        </p:spPr>
      </p:pic>
      <p:pic>
        <p:nvPicPr>
          <p:cNvPr id="116" name="Google Shape;116;p19"/>
          <p:cNvPicPr preferRelativeResize="0"/>
          <p:nvPr/>
        </p:nvPicPr>
        <p:blipFill>
          <a:blip r:embed="rId4">
            <a:alphaModFix/>
          </a:blip>
          <a:stretch>
            <a:fillRect/>
          </a:stretch>
        </p:blipFill>
        <p:spPr>
          <a:xfrm>
            <a:off x="203250" y="86975"/>
            <a:ext cx="315575" cy="3155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What is a Jupyter Notebook? </a:t>
            </a:r>
            <a:endParaRPr/>
          </a:p>
        </p:txBody>
      </p:sp>
      <p:sp>
        <p:nvSpPr>
          <p:cNvPr id="122" name="Google Shape;122;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a:t>Jupyter Notebooks store code, and also show things like plots, visualizations, maps and explanations generated by the Python code and 'markdown' text </a:t>
            </a:r>
            <a:endParaRPr/>
          </a:p>
          <a:p>
            <a:pPr marL="457200" lvl="0" indent="-342900" algn="l" rtl="0">
              <a:spcBef>
                <a:spcPts val="0"/>
              </a:spcBef>
              <a:spcAft>
                <a:spcPts val="0"/>
              </a:spcAft>
              <a:buSzPts val="1800"/>
              <a:buChar char="●"/>
            </a:pPr>
            <a:r>
              <a:rPr lang="en"/>
              <a:t>Types:</a:t>
            </a:r>
            <a:endParaRPr/>
          </a:p>
          <a:p>
            <a:pPr marL="914400" lvl="1" indent="-317500" algn="l" rtl="0">
              <a:spcBef>
                <a:spcPts val="0"/>
              </a:spcBef>
              <a:spcAft>
                <a:spcPts val="0"/>
              </a:spcAft>
              <a:buSzPts val="1400"/>
              <a:buChar char="○"/>
            </a:pPr>
            <a:r>
              <a:rPr lang="en"/>
              <a:t>Anaconda Jupyter notebook</a:t>
            </a:r>
            <a:endParaRPr/>
          </a:p>
          <a:p>
            <a:pPr marL="914400" lvl="1" indent="-317500" algn="l" rtl="0">
              <a:spcBef>
                <a:spcPts val="0"/>
              </a:spcBef>
              <a:spcAft>
                <a:spcPts val="0"/>
              </a:spcAft>
              <a:buSzPts val="1400"/>
              <a:buChar char="○"/>
            </a:pPr>
            <a:r>
              <a:rPr lang="en"/>
              <a:t>VS Code </a:t>
            </a:r>
            <a:endParaRPr/>
          </a:p>
          <a:p>
            <a:pPr marL="914400" lvl="1" indent="-317500" algn="l" rtl="0">
              <a:spcBef>
                <a:spcPts val="0"/>
              </a:spcBef>
              <a:spcAft>
                <a:spcPts val="0"/>
              </a:spcAft>
              <a:buSzPts val="1400"/>
              <a:buChar char="○"/>
            </a:pPr>
            <a:r>
              <a:rPr lang="en"/>
              <a:t>Google Colab</a:t>
            </a:r>
            <a:endParaRPr/>
          </a:p>
        </p:txBody>
      </p:sp>
      <p:sp>
        <p:nvSpPr>
          <p:cNvPr id="123" name="Google Shape;123;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14</a:t>
            </a:fld>
            <a:endParaRPr/>
          </a:p>
        </p:txBody>
      </p:sp>
      <p:pic>
        <p:nvPicPr>
          <p:cNvPr id="124" name="Google Shape;124;p20"/>
          <p:cNvPicPr preferRelativeResize="0"/>
          <p:nvPr/>
        </p:nvPicPr>
        <p:blipFill>
          <a:blip r:embed="rId3">
            <a:alphaModFix/>
          </a:blip>
          <a:stretch>
            <a:fillRect/>
          </a:stretch>
        </p:blipFill>
        <p:spPr>
          <a:xfrm>
            <a:off x="2668425" y="2619125"/>
            <a:ext cx="5789776" cy="2310800"/>
          </a:xfrm>
          <a:prstGeom prst="rect">
            <a:avLst/>
          </a:prstGeom>
          <a:noFill/>
          <a:ln>
            <a:noFill/>
          </a:ln>
          <a:effectLst>
            <a:outerShdw blurRad="57150" dist="19050" dir="5400000" algn="bl" rotWithShape="0">
              <a:srgbClr val="000000">
                <a:alpha val="50000"/>
              </a:srgbClr>
            </a:outerShdw>
          </a:effectLst>
        </p:spPr>
      </p:pic>
      <p:pic>
        <p:nvPicPr>
          <p:cNvPr id="125" name="Google Shape;125;p20"/>
          <p:cNvPicPr preferRelativeResize="0"/>
          <p:nvPr/>
        </p:nvPicPr>
        <p:blipFill>
          <a:blip r:embed="rId4">
            <a:alphaModFix/>
          </a:blip>
          <a:stretch>
            <a:fillRect/>
          </a:stretch>
        </p:blipFill>
        <p:spPr>
          <a:xfrm>
            <a:off x="7391400" y="152400"/>
            <a:ext cx="1359149" cy="250150"/>
          </a:xfrm>
          <a:prstGeom prst="rect">
            <a:avLst/>
          </a:prstGeom>
          <a:noFill/>
          <a:ln>
            <a:noFill/>
          </a:ln>
        </p:spPr>
      </p:pic>
      <p:pic>
        <p:nvPicPr>
          <p:cNvPr id="126" name="Google Shape;126;p20"/>
          <p:cNvPicPr preferRelativeResize="0"/>
          <p:nvPr/>
        </p:nvPicPr>
        <p:blipFill>
          <a:blip r:embed="rId5">
            <a:alphaModFix/>
          </a:blip>
          <a:stretch>
            <a:fillRect/>
          </a:stretch>
        </p:blipFill>
        <p:spPr>
          <a:xfrm>
            <a:off x="203250" y="86975"/>
            <a:ext cx="315575" cy="3155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err="1"/>
              <a:t>Jupyter</a:t>
            </a:r>
            <a:r>
              <a:rPr lang="en" dirty="0"/>
              <a:t> Notebooks, Anaconda, VS Code, Google </a:t>
            </a:r>
            <a:r>
              <a:rPr lang="en" dirty="0" err="1"/>
              <a:t>Colab</a:t>
            </a:r>
            <a:r>
              <a:rPr lang="en" dirty="0"/>
              <a:t>…</a:t>
            </a:r>
            <a:endParaRPr dirty="0"/>
          </a:p>
        </p:txBody>
      </p:sp>
      <p:sp>
        <p:nvSpPr>
          <p:cNvPr id="141" name="Google Shape;141;p22"/>
          <p:cNvSpPr txBox="1">
            <a:spLocks noGrp="1"/>
          </p:cNvSpPr>
          <p:nvPr>
            <p:ph type="body" idx="1"/>
          </p:nvPr>
        </p:nvSpPr>
        <p:spPr>
          <a:xfrm>
            <a:off x="311700" y="1586753"/>
            <a:ext cx="8520600" cy="2982122"/>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US" dirty="0"/>
              <a:t>Python = programming language</a:t>
            </a:r>
          </a:p>
          <a:p>
            <a:pPr marL="457200" lvl="0" indent="-342900" algn="l" rtl="0">
              <a:spcBef>
                <a:spcPts val="0"/>
              </a:spcBef>
              <a:spcAft>
                <a:spcPts val="0"/>
              </a:spcAft>
              <a:buSzPts val="1800"/>
              <a:buChar char="●"/>
            </a:pPr>
            <a:r>
              <a:rPr lang="en-US" dirty="0">
                <a:hlinkClick r:id="rId3"/>
              </a:rPr>
              <a:t>Anaconda</a:t>
            </a:r>
            <a:r>
              <a:rPr lang="en-US" dirty="0"/>
              <a:t> = downloadable software for Mac, PC, Linux that contains a Python </a:t>
            </a:r>
            <a:r>
              <a:rPr lang="en-US" dirty="0" err="1"/>
              <a:t>Jupyter</a:t>
            </a:r>
            <a:r>
              <a:rPr lang="en-US" dirty="0"/>
              <a:t> Notebook system within it</a:t>
            </a:r>
          </a:p>
          <a:p>
            <a:pPr marL="457200" lvl="0" indent="-342900" algn="l" rtl="0">
              <a:spcBef>
                <a:spcPts val="0"/>
              </a:spcBef>
              <a:spcAft>
                <a:spcPts val="0"/>
              </a:spcAft>
              <a:buSzPts val="1800"/>
              <a:buChar char="●"/>
            </a:pPr>
            <a:r>
              <a:rPr lang="en-US" dirty="0">
                <a:hlinkClick r:id="rId4"/>
              </a:rPr>
              <a:t>VS Code </a:t>
            </a:r>
            <a:r>
              <a:rPr lang="en-US" dirty="0"/>
              <a:t>= downloadable software for Mac, PC, Linux that can (with the right plugins) be used as a Python </a:t>
            </a:r>
            <a:r>
              <a:rPr lang="en-US" dirty="0" err="1"/>
              <a:t>Jupyter</a:t>
            </a:r>
            <a:r>
              <a:rPr lang="en-US" dirty="0"/>
              <a:t> notebook</a:t>
            </a:r>
          </a:p>
          <a:p>
            <a:pPr marL="457200" lvl="0" indent="-342900" algn="l" rtl="0">
              <a:spcBef>
                <a:spcPts val="0"/>
              </a:spcBef>
              <a:spcAft>
                <a:spcPts val="0"/>
              </a:spcAft>
              <a:buSzPts val="1800"/>
              <a:buChar char="●"/>
            </a:pPr>
            <a:r>
              <a:rPr lang="en-US" dirty="0">
                <a:hlinkClick r:id="rId5"/>
              </a:rPr>
              <a:t>Google </a:t>
            </a:r>
            <a:r>
              <a:rPr lang="en-US" dirty="0" err="1">
                <a:hlinkClick r:id="rId5"/>
              </a:rPr>
              <a:t>Colab</a:t>
            </a:r>
            <a:r>
              <a:rPr lang="en-US" dirty="0">
                <a:hlinkClick r:id="rId5"/>
              </a:rPr>
              <a:t> </a:t>
            </a:r>
            <a:r>
              <a:rPr lang="en-US" dirty="0"/>
              <a:t>= browser-based Google product (must have a Google account of some sort) that mimics a Python </a:t>
            </a:r>
            <a:r>
              <a:rPr lang="en-US" dirty="0" err="1"/>
              <a:t>Jupyter</a:t>
            </a:r>
            <a:r>
              <a:rPr lang="en-US" dirty="0"/>
              <a:t> notebook</a:t>
            </a:r>
          </a:p>
          <a:p>
            <a:pPr lvl="0"/>
            <a:r>
              <a:rPr lang="en-US" dirty="0" err="1"/>
              <a:t>Jhub</a:t>
            </a:r>
            <a:r>
              <a:rPr lang="en-US" dirty="0"/>
              <a:t> = ”</a:t>
            </a:r>
            <a:r>
              <a:rPr lang="en-US" dirty="0" err="1"/>
              <a:t>JupyterHub</a:t>
            </a:r>
            <a:r>
              <a:rPr lang="en-US" dirty="0"/>
              <a:t>” and is a web or server-based </a:t>
            </a:r>
            <a:r>
              <a:rPr lang="en-US" dirty="0" err="1"/>
              <a:t>Jupyter</a:t>
            </a:r>
            <a:r>
              <a:rPr lang="en-US" dirty="0"/>
              <a:t> Notebook.  </a:t>
            </a:r>
            <a:r>
              <a:rPr lang="en-US" dirty="0" err="1"/>
              <a:t>Jhub.Dartmouth.edu</a:t>
            </a:r>
            <a:r>
              <a:rPr lang="en-US" dirty="0"/>
              <a:t> </a:t>
            </a:r>
            <a:r>
              <a:rPr lang="en-US" dirty="0">
                <a:hlinkClick r:id="rId6"/>
              </a:rPr>
              <a:t>jhub.dartmouth.edu</a:t>
            </a:r>
            <a:r>
              <a:rPr lang="en-US" dirty="0"/>
              <a:t>  is TEACHING &amp; LEARNING platform, not designed for research purposes </a:t>
            </a:r>
            <a:endParaRPr dirty="0"/>
          </a:p>
        </p:txBody>
      </p:sp>
      <p:sp>
        <p:nvSpPr>
          <p:cNvPr id="142" name="Google Shape;142;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15</a:t>
            </a:fld>
            <a:endParaRPr/>
          </a:p>
        </p:txBody>
      </p:sp>
      <p:pic>
        <p:nvPicPr>
          <p:cNvPr id="143" name="Google Shape;143;p22"/>
          <p:cNvPicPr preferRelativeResize="0"/>
          <p:nvPr/>
        </p:nvPicPr>
        <p:blipFill>
          <a:blip r:embed="rId7">
            <a:alphaModFix/>
          </a:blip>
          <a:stretch>
            <a:fillRect/>
          </a:stretch>
        </p:blipFill>
        <p:spPr>
          <a:xfrm>
            <a:off x="7391400" y="152400"/>
            <a:ext cx="1359149" cy="250150"/>
          </a:xfrm>
          <a:prstGeom prst="rect">
            <a:avLst/>
          </a:prstGeom>
          <a:noFill/>
          <a:ln>
            <a:noFill/>
          </a:ln>
        </p:spPr>
      </p:pic>
      <p:pic>
        <p:nvPicPr>
          <p:cNvPr id="144" name="Google Shape;144;p22"/>
          <p:cNvPicPr preferRelativeResize="0"/>
          <p:nvPr/>
        </p:nvPicPr>
        <p:blipFill>
          <a:blip r:embed="rId8">
            <a:alphaModFix/>
          </a:blip>
          <a:stretch>
            <a:fillRect/>
          </a:stretch>
        </p:blipFill>
        <p:spPr>
          <a:xfrm>
            <a:off x="203250" y="86975"/>
            <a:ext cx="315575" cy="3155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Notebooks &amp; Code for Python </a:t>
            </a:r>
            <a:endParaRPr/>
          </a:p>
        </p:txBody>
      </p:sp>
      <p:sp>
        <p:nvSpPr>
          <p:cNvPr id="132" name="Google Shape;132;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Anaconda Navigator or Visual Studio Code with Python can help us make our research reproducible</a:t>
            </a:r>
            <a:endParaRPr sz="1600"/>
          </a:p>
          <a:p>
            <a:pPr marL="457200" lvl="0" indent="-330200" algn="l" rtl="0">
              <a:spcBef>
                <a:spcPts val="1600"/>
              </a:spcBef>
              <a:spcAft>
                <a:spcPts val="0"/>
              </a:spcAft>
              <a:buSzPts val="1600"/>
              <a:buChar char="●"/>
            </a:pPr>
            <a:r>
              <a:rPr lang="en" sz="1600"/>
              <a:t>See these notebooks for more: </a:t>
            </a:r>
            <a:r>
              <a:rPr lang="en" sz="1600" u="sng">
                <a:solidFill>
                  <a:schemeClr val="hlink"/>
                </a:solidFill>
                <a:hlinkClick r:id="rId3"/>
              </a:rPr>
              <a:t>https://github.com/Dartmouth-Libraries/Intro-to-Python</a:t>
            </a:r>
            <a:r>
              <a:rPr lang="en" sz="1600"/>
              <a:t>  and </a:t>
            </a:r>
            <a:r>
              <a:rPr lang="en" sz="1600" u="sng">
                <a:solidFill>
                  <a:schemeClr val="hlink"/>
                </a:solidFill>
                <a:hlinkClick r:id="rId4"/>
              </a:rPr>
              <a:t>https://github.com/Dartmouth-Libraries/data-viz-matplotlib</a:t>
            </a:r>
            <a:r>
              <a:rPr lang="en" sz="1600"/>
              <a:t> </a:t>
            </a:r>
            <a:endParaRPr sz="1600"/>
          </a:p>
          <a:p>
            <a:pPr marL="457200" lvl="0" indent="-330200" algn="l" rtl="0">
              <a:spcBef>
                <a:spcPts val="0"/>
              </a:spcBef>
              <a:spcAft>
                <a:spcPts val="0"/>
              </a:spcAft>
              <a:buSzPts val="1600"/>
              <a:buChar char="●"/>
            </a:pPr>
            <a:r>
              <a:rPr lang="en" sz="1600"/>
              <a:t>Anaconda navigator: </a:t>
            </a:r>
            <a:r>
              <a:rPr lang="en" sz="1600" u="sng">
                <a:solidFill>
                  <a:schemeClr val="hlink"/>
                </a:solidFill>
                <a:hlinkClick r:id="rId5"/>
              </a:rPr>
              <a:t>https://www.anaconda.com/download/success</a:t>
            </a:r>
            <a:r>
              <a:rPr lang="en" sz="1600"/>
              <a:t> </a:t>
            </a:r>
            <a:endParaRPr sz="1600"/>
          </a:p>
          <a:p>
            <a:pPr marL="457200" lvl="0" indent="-330200" algn="l" rtl="0">
              <a:spcBef>
                <a:spcPts val="0"/>
              </a:spcBef>
              <a:spcAft>
                <a:spcPts val="0"/>
              </a:spcAft>
              <a:buSzPts val="1600"/>
              <a:buChar char="●"/>
            </a:pPr>
            <a:r>
              <a:rPr lang="en" sz="1600"/>
              <a:t>Download and install VS Code(Mac or PC) </a:t>
            </a:r>
            <a:r>
              <a:rPr lang="en" sz="1600" u="sng">
                <a:solidFill>
                  <a:schemeClr val="hlink"/>
                </a:solidFill>
                <a:hlinkClick r:id="rId6"/>
              </a:rPr>
              <a:t>https://code.visualstudio.com/download</a:t>
            </a:r>
            <a:r>
              <a:rPr lang="en" sz="1600"/>
              <a:t> </a:t>
            </a:r>
            <a:endParaRPr sz="1600"/>
          </a:p>
          <a:p>
            <a:pPr marL="457200" lvl="0" indent="-330200" algn="l" rtl="0">
              <a:spcBef>
                <a:spcPts val="0"/>
              </a:spcBef>
              <a:spcAft>
                <a:spcPts val="0"/>
              </a:spcAft>
              <a:buSzPts val="1600"/>
              <a:buChar char="●"/>
            </a:pPr>
            <a:r>
              <a:rPr lang="en" sz="1600"/>
              <a:t>See </a:t>
            </a:r>
            <a:r>
              <a:rPr lang="en" sz="1600" u="sng">
                <a:solidFill>
                  <a:schemeClr val="hlink"/>
                </a:solidFill>
                <a:hlinkClick r:id="rId7"/>
              </a:rPr>
              <a:t>https://code.visualstudio.com/docs/python/python-tutorial</a:t>
            </a:r>
            <a:r>
              <a:rPr lang="en" sz="1600"/>
              <a:t> </a:t>
            </a:r>
            <a:endParaRPr sz="1600"/>
          </a:p>
          <a:p>
            <a:pPr marL="457200" lvl="0" indent="-330200" algn="l" rtl="0">
              <a:spcBef>
                <a:spcPts val="0"/>
              </a:spcBef>
              <a:spcAft>
                <a:spcPts val="0"/>
              </a:spcAft>
              <a:buSzPts val="1600"/>
              <a:buChar char="●"/>
            </a:pPr>
            <a:r>
              <a:rPr lang="en" sz="1600"/>
              <a:t>Set up Python in VS Code (Getting Started with Python in VS Code): </a:t>
            </a:r>
            <a:r>
              <a:rPr lang="en" sz="1600" u="sng">
                <a:solidFill>
                  <a:schemeClr val="hlink"/>
                </a:solidFill>
                <a:hlinkClick r:id="rId8"/>
              </a:rPr>
              <a:t>https://www.youtube.com/watch?v=D2cwvpJSBX4</a:t>
            </a:r>
            <a:r>
              <a:rPr lang="en" sz="1600"/>
              <a:t> </a:t>
            </a:r>
            <a:endParaRPr sz="1600"/>
          </a:p>
          <a:p>
            <a:pPr marL="457200" lvl="0" indent="-330200" algn="l" rtl="0">
              <a:lnSpc>
                <a:spcPct val="120000"/>
              </a:lnSpc>
              <a:spcBef>
                <a:spcPts val="0"/>
              </a:spcBef>
              <a:spcAft>
                <a:spcPts val="0"/>
              </a:spcAft>
              <a:buSzPts val="1600"/>
              <a:buChar char="●"/>
            </a:pPr>
            <a:r>
              <a:rPr lang="en" sz="1600"/>
              <a:t>More Youtube videos on the Visual Studio Code youtube channel at </a:t>
            </a:r>
            <a:r>
              <a:rPr lang="en" sz="1600" u="sng">
                <a:solidFill>
                  <a:schemeClr val="hlink"/>
                </a:solidFill>
                <a:hlinkClick r:id="rId9"/>
              </a:rPr>
              <a:t>https://www.youtube.com/@code</a:t>
            </a:r>
            <a:r>
              <a:rPr lang="en" sz="1600" u="sng">
                <a:solidFill>
                  <a:schemeClr val="hlink"/>
                </a:solidFill>
              </a:rPr>
              <a:t> </a:t>
            </a:r>
            <a:endParaRPr sz="1600" u="sng">
              <a:solidFill>
                <a:schemeClr val="hlink"/>
              </a:solidFill>
            </a:endParaRPr>
          </a:p>
        </p:txBody>
      </p:sp>
      <p:sp>
        <p:nvSpPr>
          <p:cNvPr id="133" name="Google Shape;133;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16</a:t>
            </a:fld>
            <a:endParaRPr/>
          </a:p>
        </p:txBody>
      </p:sp>
      <p:pic>
        <p:nvPicPr>
          <p:cNvPr id="134" name="Google Shape;134;p21"/>
          <p:cNvPicPr preferRelativeResize="0"/>
          <p:nvPr/>
        </p:nvPicPr>
        <p:blipFill>
          <a:blip r:embed="rId10">
            <a:alphaModFix/>
          </a:blip>
          <a:stretch>
            <a:fillRect/>
          </a:stretch>
        </p:blipFill>
        <p:spPr>
          <a:xfrm>
            <a:off x="7391400" y="152400"/>
            <a:ext cx="1359149" cy="250150"/>
          </a:xfrm>
          <a:prstGeom prst="rect">
            <a:avLst/>
          </a:prstGeom>
          <a:noFill/>
          <a:ln>
            <a:noFill/>
          </a:ln>
        </p:spPr>
      </p:pic>
      <p:pic>
        <p:nvPicPr>
          <p:cNvPr id="135" name="Google Shape;135;p21"/>
          <p:cNvPicPr preferRelativeResize="0"/>
          <p:nvPr/>
        </p:nvPicPr>
        <p:blipFill>
          <a:blip r:embed="rId11">
            <a:alphaModFix/>
          </a:blip>
          <a:stretch>
            <a:fillRect/>
          </a:stretch>
        </p:blipFill>
        <p:spPr>
          <a:xfrm>
            <a:off x="203250" y="86975"/>
            <a:ext cx="315575" cy="3155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B6D99EA4-8DD3-36BD-DF72-45D34E24CA5F}"/>
            </a:ext>
          </a:extLst>
        </p:cNvPr>
        <p:cNvGrpSpPr/>
        <p:nvPr/>
      </p:nvGrpSpPr>
      <p:grpSpPr>
        <a:xfrm>
          <a:off x="0" y="0"/>
          <a:ext cx="0" cy="0"/>
          <a:chOff x="0" y="0"/>
          <a:chExt cx="0" cy="0"/>
        </a:xfrm>
      </p:grpSpPr>
      <p:sp>
        <p:nvSpPr>
          <p:cNvPr id="140" name="Google Shape;140;p22">
            <a:extLst>
              <a:ext uri="{FF2B5EF4-FFF2-40B4-BE49-F238E27FC236}">
                <a16:creationId xmlns:a16="http://schemas.microsoft.com/office/drawing/2014/main" id="{A1F74813-EC9E-69E3-0908-60767F6FD1B3}"/>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Conda, Pip, Homebrew </a:t>
            </a:r>
            <a:endParaRPr dirty="0"/>
          </a:p>
        </p:txBody>
      </p:sp>
      <p:sp>
        <p:nvSpPr>
          <p:cNvPr id="141" name="Google Shape;141;p22">
            <a:extLst>
              <a:ext uri="{FF2B5EF4-FFF2-40B4-BE49-F238E27FC236}">
                <a16:creationId xmlns:a16="http://schemas.microsoft.com/office/drawing/2014/main" id="{5B7D1C7E-E0B3-738D-F6C8-E9BF32021619}"/>
              </a:ext>
            </a:extLst>
          </p:cNvPr>
          <p:cNvSpPr txBox="1">
            <a:spLocks noGrp="1"/>
          </p:cNvSpPr>
          <p:nvPr>
            <p:ph type="body" idx="1"/>
          </p:nvPr>
        </p:nvSpPr>
        <p:spPr>
          <a:xfrm>
            <a:off x="311700" y="1586753"/>
            <a:ext cx="8520600" cy="2982122"/>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US" dirty="0"/>
              <a:t>What is does “pip install seaborn” mean? </a:t>
            </a:r>
          </a:p>
          <a:p>
            <a:pPr marL="457200" lvl="0" indent="-342900" algn="l" rtl="0">
              <a:spcBef>
                <a:spcPts val="0"/>
              </a:spcBef>
              <a:spcAft>
                <a:spcPts val="0"/>
              </a:spcAft>
              <a:buSzPts val="1800"/>
              <a:buChar char="●"/>
            </a:pPr>
            <a:r>
              <a:rPr lang="en-US" dirty="0"/>
              <a:t>Conda  environments, </a:t>
            </a:r>
            <a:r>
              <a:rPr lang="en-US" dirty="0">
                <a:hlinkClick r:id="rId3"/>
              </a:rPr>
              <a:t>Anaconda website </a:t>
            </a:r>
            <a:r>
              <a:rPr lang="en-US" dirty="0"/>
              <a:t>environments, </a:t>
            </a:r>
            <a:r>
              <a:rPr lang="en-US" dirty="0">
                <a:hlinkClick r:id="rId4"/>
              </a:rPr>
              <a:t>Conda environments on Dartmouth systems</a:t>
            </a:r>
            <a:r>
              <a:rPr lang="en-US" dirty="0"/>
              <a:t> and , </a:t>
            </a:r>
            <a:r>
              <a:rPr lang="en-US" dirty="0">
                <a:hlinkClick r:id="rId5"/>
              </a:rPr>
              <a:t>Conda website</a:t>
            </a:r>
            <a:endParaRPr lang="en-US" dirty="0"/>
          </a:p>
          <a:p>
            <a:pPr marL="457200" lvl="0" indent="-342900" algn="l" rtl="0">
              <a:spcBef>
                <a:spcPts val="0"/>
              </a:spcBef>
              <a:spcAft>
                <a:spcPts val="0"/>
              </a:spcAft>
              <a:buSzPts val="1800"/>
              <a:buChar char="●"/>
            </a:pPr>
            <a:r>
              <a:rPr lang="en-US" dirty="0"/>
              <a:t>Pip is a </a:t>
            </a:r>
            <a:r>
              <a:rPr lang="en-US" dirty="0">
                <a:hlinkClick r:id="rId6"/>
              </a:rPr>
              <a:t>Python package installer </a:t>
            </a:r>
            <a:r>
              <a:rPr lang="en-US" dirty="0"/>
              <a:t>system </a:t>
            </a:r>
          </a:p>
          <a:p>
            <a:pPr marL="457200" lvl="0" indent="-342900" algn="l" rtl="0">
              <a:spcBef>
                <a:spcPts val="0"/>
              </a:spcBef>
              <a:spcAft>
                <a:spcPts val="0"/>
              </a:spcAft>
              <a:buSzPts val="1800"/>
              <a:buChar char="●"/>
            </a:pPr>
            <a:r>
              <a:rPr lang="en-US" dirty="0"/>
              <a:t>Homebrew is a </a:t>
            </a:r>
            <a:r>
              <a:rPr lang="en-US" dirty="0">
                <a:hlinkClick r:id="rId7"/>
              </a:rPr>
              <a:t>Mac-only installer </a:t>
            </a:r>
            <a:r>
              <a:rPr lang="en-US" dirty="0"/>
              <a:t>system </a:t>
            </a:r>
            <a:r>
              <a:rPr lang="en-US" dirty="0">
                <a:hlinkClick r:id="rId8"/>
              </a:rPr>
              <a:t>Homebrew and Python </a:t>
            </a:r>
            <a:endParaRPr lang="en-US" dirty="0"/>
          </a:p>
        </p:txBody>
      </p:sp>
      <p:sp>
        <p:nvSpPr>
          <p:cNvPr id="142" name="Google Shape;142;p22">
            <a:extLst>
              <a:ext uri="{FF2B5EF4-FFF2-40B4-BE49-F238E27FC236}">
                <a16:creationId xmlns:a16="http://schemas.microsoft.com/office/drawing/2014/main" id="{5EFAA9FD-7A59-2164-6173-48E6C7BC8663}"/>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17</a:t>
            </a:fld>
            <a:endParaRPr/>
          </a:p>
        </p:txBody>
      </p:sp>
      <p:pic>
        <p:nvPicPr>
          <p:cNvPr id="143" name="Google Shape;143;p22">
            <a:extLst>
              <a:ext uri="{FF2B5EF4-FFF2-40B4-BE49-F238E27FC236}">
                <a16:creationId xmlns:a16="http://schemas.microsoft.com/office/drawing/2014/main" id="{CBB0DAF1-F1C7-CD0B-0A08-E93A6776828A}"/>
              </a:ext>
            </a:extLst>
          </p:cNvPr>
          <p:cNvPicPr preferRelativeResize="0"/>
          <p:nvPr/>
        </p:nvPicPr>
        <p:blipFill>
          <a:blip r:embed="rId9">
            <a:alphaModFix/>
          </a:blip>
          <a:stretch>
            <a:fillRect/>
          </a:stretch>
        </p:blipFill>
        <p:spPr>
          <a:xfrm>
            <a:off x="7391400" y="152400"/>
            <a:ext cx="1359149" cy="250150"/>
          </a:xfrm>
          <a:prstGeom prst="rect">
            <a:avLst/>
          </a:prstGeom>
          <a:noFill/>
          <a:ln>
            <a:noFill/>
          </a:ln>
        </p:spPr>
      </p:pic>
      <p:pic>
        <p:nvPicPr>
          <p:cNvPr id="144" name="Google Shape;144;p22">
            <a:extLst>
              <a:ext uri="{FF2B5EF4-FFF2-40B4-BE49-F238E27FC236}">
                <a16:creationId xmlns:a16="http://schemas.microsoft.com/office/drawing/2014/main" id="{70ED307B-FAF0-39C5-E03B-DBBCB6A4982D}"/>
              </a:ext>
            </a:extLst>
          </p:cNvPr>
          <p:cNvPicPr preferRelativeResize="0"/>
          <p:nvPr/>
        </p:nvPicPr>
        <p:blipFill>
          <a:blip r:embed="rId10">
            <a:alphaModFix/>
          </a:blip>
          <a:stretch>
            <a:fillRect/>
          </a:stretch>
        </p:blipFill>
        <p:spPr>
          <a:xfrm>
            <a:off x="203250" y="86975"/>
            <a:ext cx="315575" cy="315575"/>
          </a:xfrm>
          <a:prstGeom prst="rect">
            <a:avLst/>
          </a:prstGeom>
          <a:noFill/>
          <a:ln>
            <a:noFill/>
          </a:ln>
        </p:spPr>
      </p:pic>
    </p:spTree>
    <p:extLst>
      <p:ext uri="{BB962C8B-B14F-4D97-AF65-F5344CB8AC3E}">
        <p14:creationId xmlns:p14="http://schemas.microsoft.com/office/powerpoint/2010/main" val="35544844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40285120-BF5A-E312-40CA-E1D189982CCA}"/>
            </a:ext>
          </a:extLst>
        </p:cNvPr>
        <p:cNvGrpSpPr/>
        <p:nvPr/>
      </p:nvGrpSpPr>
      <p:grpSpPr>
        <a:xfrm>
          <a:off x="0" y="0"/>
          <a:ext cx="0" cy="0"/>
          <a:chOff x="0" y="0"/>
          <a:chExt cx="0" cy="0"/>
        </a:xfrm>
      </p:grpSpPr>
      <p:sp>
        <p:nvSpPr>
          <p:cNvPr id="140" name="Google Shape;140;p22">
            <a:extLst>
              <a:ext uri="{FF2B5EF4-FFF2-40B4-BE49-F238E27FC236}">
                <a16:creationId xmlns:a16="http://schemas.microsoft.com/office/drawing/2014/main" id="{311AB3F1-3CEB-DDF3-E0F5-343CB050CACE}"/>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File extensions: .</a:t>
            </a:r>
            <a:r>
              <a:rPr lang="en" dirty="0" err="1"/>
              <a:t>py</a:t>
            </a:r>
            <a:r>
              <a:rPr lang="en" dirty="0"/>
              <a:t>, .R, .</a:t>
            </a:r>
            <a:r>
              <a:rPr lang="en" dirty="0" err="1"/>
              <a:t>ipynb</a:t>
            </a:r>
            <a:r>
              <a:rPr lang="en" dirty="0"/>
              <a:t>, csv, </a:t>
            </a:r>
            <a:r>
              <a:rPr lang="en" dirty="0" err="1"/>
              <a:t>xls</a:t>
            </a:r>
            <a:r>
              <a:rPr lang="en" dirty="0"/>
              <a:t>, jpg, </a:t>
            </a:r>
            <a:r>
              <a:rPr lang="en" dirty="0" err="1"/>
              <a:t>png</a:t>
            </a:r>
            <a:r>
              <a:rPr lang="en" dirty="0"/>
              <a:t> </a:t>
            </a:r>
            <a:endParaRPr dirty="0"/>
          </a:p>
        </p:txBody>
      </p:sp>
      <p:sp>
        <p:nvSpPr>
          <p:cNvPr id="141" name="Google Shape;141;p22">
            <a:extLst>
              <a:ext uri="{FF2B5EF4-FFF2-40B4-BE49-F238E27FC236}">
                <a16:creationId xmlns:a16="http://schemas.microsoft.com/office/drawing/2014/main" id="{0935F954-071D-993B-5861-95E4C133491E}"/>
              </a:ext>
            </a:extLst>
          </p:cNvPr>
          <p:cNvSpPr txBox="1">
            <a:spLocks noGrp="1"/>
          </p:cNvSpPr>
          <p:nvPr>
            <p:ph type="body" idx="1"/>
          </p:nvPr>
        </p:nvSpPr>
        <p:spPr>
          <a:xfrm>
            <a:off x="311700" y="1586753"/>
            <a:ext cx="8520600" cy="2982122"/>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US" dirty="0"/>
              <a:t>Code (.</a:t>
            </a:r>
            <a:r>
              <a:rPr lang="en-US" dirty="0" err="1"/>
              <a:t>py</a:t>
            </a:r>
            <a:r>
              <a:rPr lang="en-US" dirty="0"/>
              <a:t>, .R)</a:t>
            </a:r>
          </a:p>
          <a:p>
            <a:pPr marL="457200" lvl="0" indent="-342900" algn="l" rtl="0">
              <a:spcBef>
                <a:spcPts val="0"/>
              </a:spcBef>
              <a:spcAft>
                <a:spcPts val="0"/>
              </a:spcAft>
              <a:buSzPts val="1800"/>
              <a:buChar char="●"/>
            </a:pPr>
            <a:r>
              <a:rPr lang="en-US" dirty="0"/>
              <a:t>Notebook (code + text(markdown) + images) (.</a:t>
            </a:r>
            <a:r>
              <a:rPr lang="en-US" dirty="0" err="1"/>
              <a:t>ipynb</a:t>
            </a:r>
            <a:r>
              <a:rPr lang="en-US" dirty="0"/>
              <a:t>) </a:t>
            </a:r>
          </a:p>
          <a:p>
            <a:pPr marL="457200" lvl="0" indent="-342900" algn="l" rtl="0">
              <a:spcBef>
                <a:spcPts val="0"/>
              </a:spcBef>
              <a:spcAft>
                <a:spcPts val="0"/>
              </a:spcAft>
              <a:buSzPts val="1800"/>
              <a:buChar char="●"/>
            </a:pPr>
            <a:r>
              <a:rPr lang="en-US" dirty="0"/>
              <a:t>Data (.csv, .</a:t>
            </a:r>
            <a:r>
              <a:rPr lang="en-US" dirty="0" err="1"/>
              <a:t>xls</a:t>
            </a:r>
            <a:r>
              <a:rPr lang="en-US" dirty="0"/>
              <a:t>)</a:t>
            </a:r>
          </a:p>
          <a:p>
            <a:pPr marL="457200" lvl="0" indent="-342900" algn="l" rtl="0">
              <a:spcBef>
                <a:spcPts val="0"/>
              </a:spcBef>
              <a:spcAft>
                <a:spcPts val="0"/>
              </a:spcAft>
              <a:buSzPts val="1800"/>
              <a:buChar char="●"/>
            </a:pPr>
            <a:r>
              <a:rPr lang="en-US" dirty="0"/>
              <a:t>Tidy data – rows and columns, one row per observation, one data type per column, column headings with no spaces no special characters </a:t>
            </a:r>
          </a:p>
          <a:p>
            <a:pPr marL="457200" lvl="0" indent="-342900" algn="l" rtl="0">
              <a:spcBef>
                <a:spcPts val="0"/>
              </a:spcBef>
              <a:spcAft>
                <a:spcPts val="0"/>
              </a:spcAft>
              <a:buSzPts val="1800"/>
              <a:buChar char="●"/>
            </a:pPr>
            <a:r>
              <a:rPr lang="en-US" dirty="0"/>
              <a:t>Images (.jpg, .</a:t>
            </a:r>
            <a:r>
              <a:rPr lang="en-US" dirty="0" err="1"/>
              <a:t>png</a:t>
            </a:r>
            <a:r>
              <a:rPr lang="en-US" dirty="0"/>
              <a:t>, .</a:t>
            </a:r>
            <a:r>
              <a:rPr lang="en-US" dirty="0" err="1"/>
              <a:t>svg</a:t>
            </a:r>
            <a:r>
              <a:rPr lang="en-US" dirty="0"/>
              <a:t>) </a:t>
            </a:r>
          </a:p>
          <a:p>
            <a:pPr marL="457200" lvl="0" indent="-342900" algn="l" rtl="0">
              <a:spcBef>
                <a:spcPts val="0"/>
              </a:spcBef>
              <a:spcAft>
                <a:spcPts val="0"/>
              </a:spcAft>
              <a:buSzPts val="1800"/>
              <a:buChar char="●"/>
            </a:pPr>
            <a:r>
              <a:rPr lang="en-US" dirty="0"/>
              <a:t>Code + data + </a:t>
            </a:r>
            <a:r>
              <a:rPr lang="en-US" dirty="0" err="1"/>
              <a:t>jupyter</a:t>
            </a:r>
            <a:r>
              <a:rPr lang="en-US" dirty="0"/>
              <a:t> md  = results, stats, plots </a:t>
            </a:r>
          </a:p>
        </p:txBody>
      </p:sp>
      <p:sp>
        <p:nvSpPr>
          <p:cNvPr id="142" name="Google Shape;142;p22">
            <a:extLst>
              <a:ext uri="{FF2B5EF4-FFF2-40B4-BE49-F238E27FC236}">
                <a16:creationId xmlns:a16="http://schemas.microsoft.com/office/drawing/2014/main" id="{C84A3120-C0F2-55EF-191F-67D84A14F51E}"/>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18</a:t>
            </a:fld>
            <a:endParaRPr/>
          </a:p>
        </p:txBody>
      </p:sp>
      <p:pic>
        <p:nvPicPr>
          <p:cNvPr id="143" name="Google Shape;143;p22">
            <a:extLst>
              <a:ext uri="{FF2B5EF4-FFF2-40B4-BE49-F238E27FC236}">
                <a16:creationId xmlns:a16="http://schemas.microsoft.com/office/drawing/2014/main" id="{481EFA0D-D43E-FD22-249E-860478CD9319}"/>
              </a:ext>
            </a:extLst>
          </p:cNvPr>
          <p:cNvPicPr preferRelativeResize="0"/>
          <p:nvPr/>
        </p:nvPicPr>
        <p:blipFill>
          <a:blip r:embed="rId3">
            <a:alphaModFix/>
          </a:blip>
          <a:stretch>
            <a:fillRect/>
          </a:stretch>
        </p:blipFill>
        <p:spPr>
          <a:xfrm>
            <a:off x="7391400" y="152400"/>
            <a:ext cx="1359149" cy="250150"/>
          </a:xfrm>
          <a:prstGeom prst="rect">
            <a:avLst/>
          </a:prstGeom>
          <a:noFill/>
          <a:ln>
            <a:noFill/>
          </a:ln>
        </p:spPr>
      </p:pic>
      <p:pic>
        <p:nvPicPr>
          <p:cNvPr id="144" name="Google Shape;144;p22">
            <a:extLst>
              <a:ext uri="{FF2B5EF4-FFF2-40B4-BE49-F238E27FC236}">
                <a16:creationId xmlns:a16="http://schemas.microsoft.com/office/drawing/2014/main" id="{5E112934-CC68-1416-6A88-5DDE02C3A898}"/>
              </a:ext>
            </a:extLst>
          </p:cNvPr>
          <p:cNvPicPr preferRelativeResize="0"/>
          <p:nvPr/>
        </p:nvPicPr>
        <p:blipFill>
          <a:blip r:embed="rId4">
            <a:alphaModFix/>
          </a:blip>
          <a:stretch>
            <a:fillRect/>
          </a:stretch>
        </p:blipFill>
        <p:spPr>
          <a:xfrm>
            <a:off x="203250" y="86975"/>
            <a:ext cx="315575" cy="315575"/>
          </a:xfrm>
          <a:prstGeom prst="rect">
            <a:avLst/>
          </a:prstGeom>
          <a:noFill/>
          <a:ln>
            <a:noFill/>
          </a:ln>
        </p:spPr>
      </p:pic>
      <p:pic>
        <p:nvPicPr>
          <p:cNvPr id="2" name="Picture 1">
            <a:extLst>
              <a:ext uri="{FF2B5EF4-FFF2-40B4-BE49-F238E27FC236}">
                <a16:creationId xmlns:a16="http://schemas.microsoft.com/office/drawing/2014/main" id="{76F59316-7AD9-92B4-2CCF-2036790514A0}"/>
              </a:ext>
            </a:extLst>
          </p:cNvPr>
          <p:cNvPicPr>
            <a:picLocks noChangeAspect="1"/>
          </p:cNvPicPr>
          <p:nvPr/>
        </p:nvPicPr>
        <p:blipFill>
          <a:blip r:embed="rId5"/>
          <a:stretch>
            <a:fillRect/>
          </a:stretch>
        </p:blipFill>
        <p:spPr>
          <a:xfrm>
            <a:off x="4860357" y="3964982"/>
            <a:ext cx="3860800" cy="774700"/>
          </a:xfrm>
          <a:prstGeom prst="rect">
            <a:avLst/>
          </a:prstGeom>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36795163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6"/>
          <p:cNvSpPr txBox="1">
            <a:spLocks noGrp="1"/>
          </p:cNvSpPr>
          <p:nvPr>
            <p:ph type="body" idx="1"/>
          </p:nvPr>
        </p:nvSpPr>
        <p:spPr>
          <a:xfrm>
            <a:off x="311700" y="516775"/>
            <a:ext cx="4979700" cy="19401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With just a few lines of code, here's a very basic example of how Python and Jupyter notebooks can be used to create reproducible code and a visualization, both of which are essential to data science: </a:t>
            </a:r>
            <a:endParaRPr/>
          </a:p>
        </p:txBody>
      </p:sp>
      <p:sp>
        <p:nvSpPr>
          <p:cNvPr id="181" name="Google Shape;181;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19</a:t>
            </a:fld>
            <a:endParaRPr/>
          </a:p>
        </p:txBody>
      </p:sp>
      <p:pic>
        <p:nvPicPr>
          <p:cNvPr id="182" name="Google Shape;182;p26"/>
          <p:cNvPicPr preferRelativeResize="0"/>
          <p:nvPr/>
        </p:nvPicPr>
        <p:blipFill>
          <a:blip r:embed="rId3">
            <a:alphaModFix/>
          </a:blip>
          <a:stretch>
            <a:fillRect/>
          </a:stretch>
        </p:blipFill>
        <p:spPr>
          <a:xfrm>
            <a:off x="7391400" y="152400"/>
            <a:ext cx="1359149" cy="250150"/>
          </a:xfrm>
          <a:prstGeom prst="rect">
            <a:avLst/>
          </a:prstGeom>
          <a:noFill/>
          <a:ln>
            <a:noFill/>
          </a:ln>
        </p:spPr>
      </p:pic>
      <p:pic>
        <p:nvPicPr>
          <p:cNvPr id="183" name="Google Shape;183;p26"/>
          <p:cNvPicPr preferRelativeResize="0"/>
          <p:nvPr/>
        </p:nvPicPr>
        <p:blipFill>
          <a:blip r:embed="rId4">
            <a:alphaModFix/>
          </a:blip>
          <a:stretch>
            <a:fillRect/>
          </a:stretch>
        </p:blipFill>
        <p:spPr>
          <a:xfrm>
            <a:off x="203250" y="86975"/>
            <a:ext cx="315575" cy="315575"/>
          </a:xfrm>
          <a:prstGeom prst="rect">
            <a:avLst/>
          </a:prstGeom>
          <a:noFill/>
          <a:ln>
            <a:noFill/>
          </a:ln>
        </p:spPr>
      </p:pic>
      <p:sp>
        <p:nvSpPr>
          <p:cNvPr id="184" name="Google Shape;184;p26"/>
          <p:cNvSpPr txBox="1"/>
          <p:nvPr/>
        </p:nvSpPr>
        <p:spPr>
          <a:xfrm>
            <a:off x="459350" y="2256000"/>
            <a:ext cx="4397100" cy="2811300"/>
          </a:xfrm>
          <a:prstGeom prst="rect">
            <a:avLst/>
          </a:prstGeom>
          <a:solidFill>
            <a:schemeClr val="lt2"/>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rgbClr val="0000FF"/>
                </a:solidFill>
                <a:latin typeface="Calibri"/>
                <a:ea typeface="Calibri"/>
                <a:cs typeface="Calibri"/>
                <a:sym typeface="Calibri"/>
              </a:rPr>
              <a:t>x = [1,2,3,4]</a:t>
            </a: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800">
                <a:solidFill>
                  <a:srgbClr val="0000FF"/>
                </a:solidFill>
                <a:latin typeface="Calibri"/>
                <a:ea typeface="Calibri"/>
                <a:cs typeface="Calibri"/>
                <a:sym typeface="Calibri"/>
              </a:rPr>
              <a:t>y = [1,4,9,16]</a:t>
            </a: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800">
                <a:solidFill>
                  <a:srgbClr val="0000FF"/>
                </a:solidFill>
                <a:latin typeface="Calibri"/>
                <a:ea typeface="Calibri"/>
                <a:cs typeface="Calibri"/>
                <a:sym typeface="Calibri"/>
              </a:rPr>
              <a:t>import matplotlib.pyplot as plt</a:t>
            </a: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800">
                <a:solidFill>
                  <a:srgbClr val="0000FF"/>
                </a:solidFill>
                <a:latin typeface="Calibri"/>
                <a:ea typeface="Calibri"/>
                <a:cs typeface="Calibri"/>
                <a:sym typeface="Calibri"/>
              </a:rPr>
              <a:t># this is a 'comment'</a:t>
            </a: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800">
                <a:solidFill>
                  <a:srgbClr val="0000FF"/>
                </a:solidFill>
                <a:latin typeface="Calibri"/>
                <a:ea typeface="Calibri"/>
                <a:cs typeface="Calibri"/>
                <a:sym typeface="Calibri"/>
              </a:rPr>
              <a:t># Sample datasets x and y, see above</a:t>
            </a: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800">
                <a:solidFill>
                  <a:srgbClr val="0000FF"/>
                </a:solidFill>
                <a:latin typeface="Calibri"/>
                <a:ea typeface="Calibri"/>
                <a:cs typeface="Calibri"/>
                <a:sym typeface="Calibri"/>
              </a:rPr>
              <a:t># Create the scatter plot</a:t>
            </a: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800">
                <a:solidFill>
                  <a:srgbClr val="0000FF"/>
                </a:solidFill>
                <a:latin typeface="Calibri"/>
                <a:ea typeface="Calibri"/>
                <a:cs typeface="Calibri"/>
                <a:sym typeface="Calibri"/>
              </a:rPr>
              <a:t>plt.scatter(x, y)</a:t>
            </a: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800">
                <a:solidFill>
                  <a:srgbClr val="0000FF"/>
                </a:solidFill>
                <a:latin typeface="Calibri"/>
                <a:ea typeface="Calibri"/>
                <a:cs typeface="Calibri"/>
                <a:sym typeface="Calibri"/>
              </a:rPr>
              <a:t># Display the plot</a:t>
            </a: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800">
                <a:solidFill>
                  <a:srgbClr val="0000FF"/>
                </a:solidFill>
                <a:latin typeface="Calibri"/>
                <a:ea typeface="Calibri"/>
                <a:cs typeface="Calibri"/>
                <a:sym typeface="Calibri"/>
              </a:rPr>
              <a:t>plt.show()</a:t>
            </a:r>
            <a:endParaRPr sz="1800">
              <a:solidFill>
                <a:srgbClr val="0000FF"/>
              </a:solidFill>
              <a:latin typeface="Calibri"/>
              <a:ea typeface="Calibri"/>
              <a:cs typeface="Calibri"/>
              <a:sym typeface="Calibri"/>
            </a:endParaRPr>
          </a:p>
          <a:p>
            <a:pPr marL="0" lvl="0" indent="0" algn="l" rtl="0">
              <a:spcBef>
                <a:spcPts val="0"/>
              </a:spcBef>
              <a:spcAft>
                <a:spcPts val="0"/>
              </a:spcAft>
              <a:buNone/>
            </a:pPr>
            <a:endParaRPr sz="1800">
              <a:solidFill>
                <a:schemeClr val="dk2"/>
              </a:solidFill>
              <a:latin typeface="Calibri"/>
              <a:ea typeface="Calibri"/>
              <a:cs typeface="Calibri"/>
              <a:sym typeface="Calibri"/>
            </a:endParaRPr>
          </a:p>
        </p:txBody>
      </p:sp>
      <p:pic>
        <p:nvPicPr>
          <p:cNvPr id="185" name="Google Shape;185;p26"/>
          <p:cNvPicPr preferRelativeResize="0"/>
          <p:nvPr/>
        </p:nvPicPr>
        <p:blipFill>
          <a:blip r:embed="rId5">
            <a:alphaModFix/>
          </a:blip>
          <a:stretch>
            <a:fillRect/>
          </a:stretch>
        </p:blipFill>
        <p:spPr>
          <a:xfrm>
            <a:off x="5228150" y="416475"/>
            <a:ext cx="3449576" cy="4498425"/>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7"/>
          <p:cNvSpPr txBox="1">
            <a:spLocks noGrp="1"/>
          </p:cNvSpPr>
          <p:nvPr>
            <p:ph type="body" idx="1"/>
          </p:nvPr>
        </p:nvSpPr>
        <p:spPr>
          <a:xfrm>
            <a:off x="311700" y="516775"/>
            <a:ext cx="4979700" cy="508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More code to run: </a:t>
            </a:r>
            <a:endParaRPr/>
          </a:p>
        </p:txBody>
      </p:sp>
      <p:sp>
        <p:nvSpPr>
          <p:cNvPr id="191" name="Google Shape;191;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20</a:t>
            </a:fld>
            <a:endParaRPr/>
          </a:p>
        </p:txBody>
      </p:sp>
      <p:pic>
        <p:nvPicPr>
          <p:cNvPr id="192" name="Google Shape;192;p27"/>
          <p:cNvPicPr preferRelativeResize="0"/>
          <p:nvPr/>
        </p:nvPicPr>
        <p:blipFill>
          <a:blip r:embed="rId3">
            <a:alphaModFix/>
          </a:blip>
          <a:stretch>
            <a:fillRect/>
          </a:stretch>
        </p:blipFill>
        <p:spPr>
          <a:xfrm>
            <a:off x="7391400" y="152400"/>
            <a:ext cx="1359149" cy="250150"/>
          </a:xfrm>
          <a:prstGeom prst="rect">
            <a:avLst/>
          </a:prstGeom>
          <a:noFill/>
          <a:ln>
            <a:noFill/>
          </a:ln>
        </p:spPr>
      </p:pic>
      <p:pic>
        <p:nvPicPr>
          <p:cNvPr id="193" name="Google Shape;193;p27"/>
          <p:cNvPicPr preferRelativeResize="0"/>
          <p:nvPr/>
        </p:nvPicPr>
        <p:blipFill>
          <a:blip r:embed="rId4">
            <a:alphaModFix/>
          </a:blip>
          <a:stretch>
            <a:fillRect/>
          </a:stretch>
        </p:blipFill>
        <p:spPr>
          <a:xfrm>
            <a:off x="203250" y="86975"/>
            <a:ext cx="315575" cy="315575"/>
          </a:xfrm>
          <a:prstGeom prst="rect">
            <a:avLst/>
          </a:prstGeom>
          <a:noFill/>
          <a:ln>
            <a:noFill/>
          </a:ln>
        </p:spPr>
      </p:pic>
      <p:sp>
        <p:nvSpPr>
          <p:cNvPr id="194" name="Google Shape;194;p27"/>
          <p:cNvSpPr txBox="1"/>
          <p:nvPr/>
        </p:nvSpPr>
        <p:spPr>
          <a:xfrm>
            <a:off x="459350" y="1025575"/>
            <a:ext cx="4397100" cy="3039600"/>
          </a:xfrm>
          <a:prstGeom prst="rect">
            <a:avLst/>
          </a:prstGeom>
          <a:solidFill>
            <a:schemeClr val="lt2"/>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rgbClr val="0000FF"/>
                </a:solidFill>
                <a:latin typeface="Calibri"/>
                <a:ea typeface="Calibri"/>
                <a:cs typeface="Calibri"/>
                <a:sym typeface="Calibri"/>
              </a:rPr>
              <a:t>import seaborn as sns</a:t>
            </a: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800">
                <a:solidFill>
                  <a:srgbClr val="0000FF"/>
                </a:solidFill>
                <a:latin typeface="Calibri"/>
                <a:ea typeface="Calibri"/>
                <a:cs typeface="Calibri"/>
                <a:sym typeface="Calibri"/>
              </a:rPr>
              <a:t># biology/ornithology/zoology example</a:t>
            </a: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800">
                <a:solidFill>
                  <a:srgbClr val="0000FF"/>
                </a:solidFill>
                <a:latin typeface="Calibri"/>
                <a:ea typeface="Calibri"/>
                <a:cs typeface="Calibri"/>
                <a:sym typeface="Calibri"/>
              </a:rPr>
              <a:t>penguins = sns.load_dataset('penguins')</a:t>
            </a: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800">
                <a:solidFill>
                  <a:srgbClr val="0000FF"/>
                </a:solidFill>
                <a:latin typeface="Calibri"/>
                <a:ea typeface="Calibri"/>
                <a:cs typeface="Calibri"/>
                <a:sym typeface="Calibri"/>
              </a:rPr>
              <a:t># first five rows of data </a:t>
            </a: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800">
                <a:solidFill>
                  <a:srgbClr val="0000FF"/>
                </a:solidFill>
                <a:latin typeface="Calibri"/>
                <a:ea typeface="Calibri"/>
                <a:cs typeface="Calibri"/>
                <a:sym typeface="Calibri"/>
              </a:rPr>
              <a:t>penguins.head(5)</a:t>
            </a: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800">
                <a:solidFill>
                  <a:srgbClr val="0000FF"/>
                </a:solidFill>
                <a:latin typeface="Calibri"/>
                <a:ea typeface="Calibri"/>
                <a:cs typeface="Calibri"/>
                <a:sym typeface="Calibri"/>
              </a:rPr>
              <a:t># shift run to run and create new cell </a:t>
            </a: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800">
                <a:solidFill>
                  <a:srgbClr val="0000FF"/>
                </a:solidFill>
                <a:latin typeface="Calibri"/>
                <a:ea typeface="Calibri"/>
                <a:cs typeface="Calibri"/>
                <a:sym typeface="Calibri"/>
              </a:rPr>
              <a:t># built-in dataset - penguins</a:t>
            </a: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solidFill>
                <a:srgbClr val="0000FF"/>
              </a:solidFill>
              <a:latin typeface="Calibri"/>
              <a:ea typeface="Calibri"/>
              <a:cs typeface="Calibri"/>
              <a:sym typeface="Calibri"/>
            </a:endParaRPr>
          </a:p>
          <a:p>
            <a:pPr marL="0" lvl="0" indent="0" algn="l" rtl="0">
              <a:spcBef>
                <a:spcPts val="0"/>
              </a:spcBef>
              <a:spcAft>
                <a:spcPts val="0"/>
              </a:spcAft>
              <a:buNone/>
            </a:pPr>
            <a:endParaRPr sz="1800">
              <a:solidFill>
                <a:schemeClr val="dk2"/>
              </a:solidFill>
              <a:latin typeface="Calibri"/>
              <a:ea typeface="Calibri"/>
              <a:cs typeface="Calibri"/>
              <a:sym typeface="Calibri"/>
            </a:endParaRPr>
          </a:p>
        </p:txBody>
      </p:sp>
      <p:pic>
        <p:nvPicPr>
          <p:cNvPr id="195" name="Google Shape;195;p27"/>
          <p:cNvPicPr preferRelativeResize="0"/>
          <p:nvPr/>
        </p:nvPicPr>
        <p:blipFill>
          <a:blip r:embed="rId5">
            <a:alphaModFix/>
          </a:blip>
          <a:stretch>
            <a:fillRect/>
          </a:stretch>
        </p:blipFill>
        <p:spPr>
          <a:xfrm>
            <a:off x="5096800" y="3060150"/>
            <a:ext cx="3256625" cy="1502325"/>
          </a:xfrm>
          <a:prstGeom prst="rect">
            <a:avLst/>
          </a:prstGeom>
          <a:noFill/>
          <a:ln>
            <a:noFill/>
          </a:ln>
          <a:effectLst>
            <a:outerShdw blurRad="57150" dist="19050" dir="5400000" algn="bl" rotWithShape="0">
              <a:srgbClr val="000000">
                <a:alpha val="50000"/>
              </a:srgbClr>
            </a:outerShdw>
          </a:effectLst>
        </p:spPr>
      </p:pic>
      <p:sp>
        <p:nvSpPr>
          <p:cNvPr id="196" name="Google Shape;196;p27"/>
          <p:cNvSpPr txBox="1"/>
          <p:nvPr/>
        </p:nvSpPr>
        <p:spPr>
          <a:xfrm>
            <a:off x="4995225" y="4506325"/>
            <a:ext cx="3815400" cy="25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chemeClr val="dk2"/>
                </a:solidFill>
              </a:rPr>
              <a:t>Source: </a:t>
            </a:r>
            <a:r>
              <a:rPr lang="en" sz="600" u="sng">
                <a:solidFill>
                  <a:schemeClr val="hlink"/>
                </a:solidFill>
                <a:hlinkClick r:id="rId6"/>
              </a:rPr>
              <a:t>https://www.kaggle.com/code/sunaysawant/penguin-in-antarctica-eda</a:t>
            </a:r>
            <a:r>
              <a:rPr lang="en" sz="600">
                <a:solidFill>
                  <a:schemeClr val="dk2"/>
                </a:solidFill>
              </a:rPr>
              <a:t> </a:t>
            </a:r>
            <a:endParaRPr sz="600">
              <a:solidFill>
                <a:schemeClr val="dk2"/>
              </a:solidFill>
            </a:endParaRPr>
          </a:p>
        </p:txBody>
      </p:sp>
      <p:pic>
        <p:nvPicPr>
          <p:cNvPr id="197" name="Google Shape;197;p27"/>
          <p:cNvPicPr preferRelativeResize="0"/>
          <p:nvPr/>
        </p:nvPicPr>
        <p:blipFill>
          <a:blip r:embed="rId7">
            <a:alphaModFix/>
          </a:blip>
          <a:stretch>
            <a:fillRect/>
          </a:stretch>
        </p:blipFill>
        <p:spPr>
          <a:xfrm>
            <a:off x="333625" y="3684850"/>
            <a:ext cx="4552700" cy="1134800"/>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8"/>
          <p:cNvSpPr txBox="1">
            <a:spLocks noGrp="1"/>
          </p:cNvSpPr>
          <p:nvPr>
            <p:ph type="body" idx="1"/>
          </p:nvPr>
        </p:nvSpPr>
        <p:spPr>
          <a:xfrm>
            <a:off x="311700" y="516775"/>
            <a:ext cx="4979700" cy="508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Import seaborn as sns</a:t>
            </a:r>
            <a:endParaRPr/>
          </a:p>
        </p:txBody>
      </p:sp>
      <p:sp>
        <p:nvSpPr>
          <p:cNvPr id="203" name="Google Shape;203;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21</a:t>
            </a:fld>
            <a:endParaRPr/>
          </a:p>
        </p:txBody>
      </p:sp>
      <p:pic>
        <p:nvPicPr>
          <p:cNvPr id="204" name="Google Shape;204;p28"/>
          <p:cNvPicPr preferRelativeResize="0"/>
          <p:nvPr/>
        </p:nvPicPr>
        <p:blipFill>
          <a:blip r:embed="rId3">
            <a:alphaModFix/>
          </a:blip>
          <a:stretch>
            <a:fillRect/>
          </a:stretch>
        </p:blipFill>
        <p:spPr>
          <a:xfrm>
            <a:off x="7391400" y="152400"/>
            <a:ext cx="1359149" cy="250150"/>
          </a:xfrm>
          <a:prstGeom prst="rect">
            <a:avLst/>
          </a:prstGeom>
          <a:noFill/>
          <a:ln>
            <a:noFill/>
          </a:ln>
        </p:spPr>
      </p:pic>
      <p:pic>
        <p:nvPicPr>
          <p:cNvPr id="205" name="Google Shape;205;p28"/>
          <p:cNvPicPr preferRelativeResize="0"/>
          <p:nvPr/>
        </p:nvPicPr>
        <p:blipFill>
          <a:blip r:embed="rId4">
            <a:alphaModFix/>
          </a:blip>
          <a:stretch>
            <a:fillRect/>
          </a:stretch>
        </p:blipFill>
        <p:spPr>
          <a:xfrm>
            <a:off x="203250" y="86975"/>
            <a:ext cx="315575" cy="315575"/>
          </a:xfrm>
          <a:prstGeom prst="rect">
            <a:avLst/>
          </a:prstGeom>
          <a:noFill/>
          <a:ln>
            <a:noFill/>
          </a:ln>
        </p:spPr>
      </p:pic>
      <p:sp>
        <p:nvSpPr>
          <p:cNvPr id="206" name="Google Shape;206;p28"/>
          <p:cNvSpPr txBox="1"/>
          <p:nvPr/>
        </p:nvSpPr>
        <p:spPr>
          <a:xfrm>
            <a:off x="459350" y="1025575"/>
            <a:ext cx="4397100" cy="730200"/>
          </a:xfrm>
          <a:prstGeom prst="rect">
            <a:avLst/>
          </a:prstGeom>
          <a:solidFill>
            <a:schemeClr val="lt2"/>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rgbClr val="0000FF"/>
                </a:solidFill>
                <a:latin typeface="Calibri"/>
                <a:ea typeface="Calibri"/>
                <a:cs typeface="Calibri"/>
                <a:sym typeface="Calibri"/>
              </a:rPr>
              <a:t>import seaborn as sns</a:t>
            </a: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800">
                <a:solidFill>
                  <a:srgbClr val="0000FF"/>
                </a:solidFill>
                <a:latin typeface="Calibri"/>
                <a:ea typeface="Calibri"/>
                <a:cs typeface="Calibri"/>
                <a:sym typeface="Calibri"/>
              </a:rPr>
              <a:t>penguins = sns.load_dataset('penguins')</a:t>
            </a:r>
            <a:endParaRPr sz="1800">
              <a:solidFill>
                <a:schemeClr val="dk2"/>
              </a:solidFill>
              <a:latin typeface="Calibri"/>
              <a:ea typeface="Calibri"/>
              <a:cs typeface="Calibri"/>
              <a:sym typeface="Calibri"/>
            </a:endParaRPr>
          </a:p>
        </p:txBody>
      </p:sp>
      <p:pic>
        <p:nvPicPr>
          <p:cNvPr id="207" name="Google Shape;207;p28"/>
          <p:cNvPicPr preferRelativeResize="0"/>
          <p:nvPr/>
        </p:nvPicPr>
        <p:blipFill>
          <a:blip r:embed="rId5">
            <a:alphaModFix/>
          </a:blip>
          <a:stretch>
            <a:fillRect/>
          </a:stretch>
        </p:blipFill>
        <p:spPr>
          <a:xfrm>
            <a:off x="229150" y="1908200"/>
            <a:ext cx="8610048" cy="30396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29"/>
          <p:cNvSpPr txBox="1">
            <a:spLocks noGrp="1"/>
          </p:cNvSpPr>
          <p:nvPr>
            <p:ph type="body" idx="1"/>
          </p:nvPr>
        </p:nvSpPr>
        <p:spPr>
          <a:xfrm>
            <a:off x="311700" y="516775"/>
            <a:ext cx="8160900" cy="6447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Loading external data from Excel or CSV, and exporting data to CSV or Excel </a:t>
            </a:r>
            <a:endParaRPr/>
          </a:p>
        </p:txBody>
      </p:sp>
      <p:sp>
        <p:nvSpPr>
          <p:cNvPr id="213" name="Google Shape;213;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22</a:t>
            </a:fld>
            <a:endParaRPr/>
          </a:p>
        </p:txBody>
      </p:sp>
      <p:pic>
        <p:nvPicPr>
          <p:cNvPr id="214" name="Google Shape;214;p29"/>
          <p:cNvPicPr preferRelativeResize="0"/>
          <p:nvPr/>
        </p:nvPicPr>
        <p:blipFill>
          <a:blip r:embed="rId3">
            <a:alphaModFix/>
          </a:blip>
          <a:stretch>
            <a:fillRect/>
          </a:stretch>
        </p:blipFill>
        <p:spPr>
          <a:xfrm>
            <a:off x="7391400" y="152400"/>
            <a:ext cx="1359149" cy="250150"/>
          </a:xfrm>
          <a:prstGeom prst="rect">
            <a:avLst/>
          </a:prstGeom>
          <a:noFill/>
          <a:ln>
            <a:noFill/>
          </a:ln>
        </p:spPr>
      </p:pic>
      <p:pic>
        <p:nvPicPr>
          <p:cNvPr id="215" name="Google Shape;215;p29"/>
          <p:cNvPicPr preferRelativeResize="0"/>
          <p:nvPr/>
        </p:nvPicPr>
        <p:blipFill>
          <a:blip r:embed="rId4">
            <a:alphaModFix/>
          </a:blip>
          <a:stretch>
            <a:fillRect/>
          </a:stretch>
        </p:blipFill>
        <p:spPr>
          <a:xfrm>
            <a:off x="203250" y="86975"/>
            <a:ext cx="315575" cy="315575"/>
          </a:xfrm>
          <a:prstGeom prst="rect">
            <a:avLst/>
          </a:prstGeom>
          <a:noFill/>
          <a:ln>
            <a:noFill/>
          </a:ln>
        </p:spPr>
      </p:pic>
      <p:sp>
        <p:nvSpPr>
          <p:cNvPr id="216" name="Google Shape;216;p29"/>
          <p:cNvSpPr txBox="1"/>
          <p:nvPr/>
        </p:nvSpPr>
        <p:spPr>
          <a:xfrm>
            <a:off x="306950" y="1146075"/>
            <a:ext cx="4397100" cy="3570900"/>
          </a:xfrm>
          <a:prstGeom prst="rect">
            <a:avLst/>
          </a:prstGeom>
          <a:solidFill>
            <a:schemeClr val="lt2"/>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rgbClr val="0000FF"/>
                </a:solidFill>
                <a:latin typeface="Calibri"/>
                <a:ea typeface="Calibri"/>
                <a:cs typeface="Calibri"/>
                <a:sym typeface="Calibri"/>
              </a:rPr>
              <a:t>import pandas as pd</a:t>
            </a: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800">
                <a:solidFill>
                  <a:srgbClr val="0000FF"/>
                </a:solidFill>
                <a:latin typeface="Calibri"/>
                <a:ea typeface="Calibri"/>
                <a:cs typeface="Calibri"/>
                <a:sym typeface="Calibri"/>
              </a:rPr>
              <a:t># pandas is an acronym for python data analysis / panel data attributed to Wes McKinney</a:t>
            </a: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800">
                <a:solidFill>
                  <a:srgbClr val="0000FF"/>
                </a:solidFill>
                <a:latin typeface="Calibri"/>
                <a:ea typeface="Calibri"/>
                <a:cs typeface="Calibri"/>
                <a:sym typeface="Calibri"/>
              </a:rPr>
              <a:t># Export the dataframe to a CSV file</a:t>
            </a: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800">
                <a:solidFill>
                  <a:srgbClr val="0000FF"/>
                </a:solidFill>
                <a:latin typeface="Calibri"/>
                <a:ea typeface="Calibri"/>
                <a:cs typeface="Calibri"/>
                <a:sym typeface="Calibri"/>
              </a:rPr>
              <a:t>penguins.to_csv('penguins.csv')</a:t>
            </a: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800">
                <a:solidFill>
                  <a:srgbClr val="0000FF"/>
                </a:solidFill>
                <a:latin typeface="Calibri"/>
                <a:ea typeface="Calibri"/>
                <a:cs typeface="Calibri"/>
                <a:sym typeface="Calibri"/>
              </a:rPr>
              <a:t># Import the 'penguins' dataset from a csv file into a new pandas 'data frame'</a:t>
            </a: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800">
                <a:solidFill>
                  <a:srgbClr val="0000FF"/>
                </a:solidFill>
                <a:latin typeface="Calibri"/>
                <a:ea typeface="Calibri"/>
                <a:cs typeface="Calibri"/>
                <a:sym typeface="Calibri"/>
              </a:rPr>
              <a:t>penguins_data_frame = pd.read_csv('penguins.csv')</a:t>
            </a: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solidFill>
                <a:srgbClr val="0000FF"/>
              </a:solidFill>
              <a:latin typeface="Calibri"/>
              <a:ea typeface="Calibri"/>
              <a:cs typeface="Calibri"/>
              <a:sym typeface="Calibri"/>
            </a:endParaRPr>
          </a:p>
          <a:p>
            <a:pPr marL="0" lvl="0" indent="0" algn="l" rtl="0">
              <a:spcBef>
                <a:spcPts val="0"/>
              </a:spcBef>
              <a:spcAft>
                <a:spcPts val="0"/>
              </a:spcAft>
              <a:buNone/>
            </a:pPr>
            <a:endParaRPr sz="1800">
              <a:solidFill>
                <a:schemeClr val="dk2"/>
              </a:solidFill>
              <a:latin typeface="Calibri"/>
              <a:ea typeface="Calibri"/>
              <a:cs typeface="Calibri"/>
              <a:sym typeface="Calibri"/>
            </a:endParaRPr>
          </a:p>
        </p:txBody>
      </p:sp>
      <p:sp>
        <p:nvSpPr>
          <p:cNvPr id="217" name="Google Shape;217;p29"/>
          <p:cNvSpPr txBox="1"/>
          <p:nvPr/>
        </p:nvSpPr>
        <p:spPr>
          <a:xfrm>
            <a:off x="4942025" y="1742150"/>
            <a:ext cx="3899100" cy="1555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None/>
            </a:pPr>
            <a:r>
              <a:rPr lang="en"/>
              <a:t>Or you can download the penguin data and then see if you can import it: </a:t>
            </a:r>
            <a:endParaRPr/>
          </a:p>
          <a:p>
            <a:pPr marL="0" lvl="0" indent="0" algn="l" rtl="0">
              <a:lnSpc>
                <a:spcPct val="115000"/>
              </a:lnSpc>
              <a:spcBef>
                <a:spcPts val="1800"/>
              </a:spcBef>
              <a:spcAft>
                <a:spcPts val="0"/>
              </a:spcAft>
              <a:buClr>
                <a:schemeClr val="dk1"/>
              </a:buClr>
              <a:buSzPts val="1100"/>
              <a:buFont typeface="Arial"/>
              <a:buNone/>
            </a:pPr>
            <a:r>
              <a:rPr lang="en" sz="1700" u="sng">
                <a:solidFill>
                  <a:schemeClr val="hlink"/>
                </a:solidFill>
                <a:hlinkClick r:id="rId5"/>
              </a:rPr>
              <a:t>https://dartgo.org/penguin_data_csv</a:t>
            </a:r>
            <a:r>
              <a:rPr lang="en" sz="1700">
                <a:solidFill>
                  <a:schemeClr val="dk1"/>
                </a:solidFill>
              </a:rPr>
              <a:t> </a:t>
            </a:r>
            <a:endParaRPr sz="1700">
              <a:solidFill>
                <a:schemeClr val="dk1"/>
              </a:solidFill>
            </a:endParaRPr>
          </a:p>
          <a:p>
            <a:pPr marL="0" lvl="0" indent="0" algn="l" rtl="0">
              <a:spcBef>
                <a:spcPts val="400"/>
              </a:spcBef>
              <a:spcAft>
                <a:spcPts val="0"/>
              </a:spcAft>
              <a:buNone/>
            </a:pPr>
            <a:endParaRPr sz="1800">
              <a:solidFill>
                <a:schemeClr val="dk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0"/>
          <p:cNvSpPr txBox="1">
            <a:spLocks noGrp="1"/>
          </p:cNvSpPr>
          <p:nvPr>
            <p:ph type="body" idx="1"/>
          </p:nvPr>
        </p:nvSpPr>
        <p:spPr>
          <a:xfrm>
            <a:off x="311700" y="516775"/>
            <a:ext cx="4979700" cy="508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Export to CSV / Excel, import to CSV / Excel: </a:t>
            </a:r>
            <a:endParaRPr/>
          </a:p>
        </p:txBody>
      </p:sp>
      <p:sp>
        <p:nvSpPr>
          <p:cNvPr id="223" name="Google Shape;223;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23</a:t>
            </a:fld>
            <a:endParaRPr/>
          </a:p>
        </p:txBody>
      </p:sp>
      <p:pic>
        <p:nvPicPr>
          <p:cNvPr id="224" name="Google Shape;224;p30"/>
          <p:cNvPicPr preferRelativeResize="0"/>
          <p:nvPr/>
        </p:nvPicPr>
        <p:blipFill>
          <a:blip r:embed="rId3">
            <a:alphaModFix/>
          </a:blip>
          <a:stretch>
            <a:fillRect/>
          </a:stretch>
        </p:blipFill>
        <p:spPr>
          <a:xfrm>
            <a:off x="7391400" y="152400"/>
            <a:ext cx="1359149" cy="250150"/>
          </a:xfrm>
          <a:prstGeom prst="rect">
            <a:avLst/>
          </a:prstGeom>
          <a:noFill/>
          <a:ln>
            <a:noFill/>
          </a:ln>
        </p:spPr>
      </p:pic>
      <p:pic>
        <p:nvPicPr>
          <p:cNvPr id="225" name="Google Shape;225;p30"/>
          <p:cNvPicPr preferRelativeResize="0"/>
          <p:nvPr/>
        </p:nvPicPr>
        <p:blipFill>
          <a:blip r:embed="rId4">
            <a:alphaModFix/>
          </a:blip>
          <a:stretch>
            <a:fillRect/>
          </a:stretch>
        </p:blipFill>
        <p:spPr>
          <a:xfrm>
            <a:off x="203250" y="86975"/>
            <a:ext cx="315575" cy="315575"/>
          </a:xfrm>
          <a:prstGeom prst="rect">
            <a:avLst/>
          </a:prstGeom>
          <a:noFill/>
          <a:ln>
            <a:noFill/>
          </a:ln>
        </p:spPr>
      </p:pic>
      <p:sp>
        <p:nvSpPr>
          <p:cNvPr id="226" name="Google Shape;226;p30"/>
          <p:cNvSpPr txBox="1"/>
          <p:nvPr/>
        </p:nvSpPr>
        <p:spPr>
          <a:xfrm>
            <a:off x="459350" y="1025575"/>
            <a:ext cx="4397100" cy="1027500"/>
          </a:xfrm>
          <a:prstGeom prst="rect">
            <a:avLst/>
          </a:prstGeom>
          <a:solidFill>
            <a:schemeClr val="lt2"/>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800">
                <a:solidFill>
                  <a:srgbClr val="0000FF"/>
                </a:solidFill>
                <a:latin typeface="Calibri"/>
                <a:ea typeface="Calibri"/>
                <a:cs typeface="Calibri"/>
                <a:sym typeface="Calibri"/>
              </a:rPr>
              <a:t>The Jupyter notebook, in this case, was in the user's "Documents" folder, so the exported CSV file was placed there </a:t>
            </a: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solidFill>
                <a:srgbClr val="0000F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solidFill>
                <a:srgbClr val="0000FF"/>
              </a:solidFill>
              <a:latin typeface="Calibri"/>
              <a:ea typeface="Calibri"/>
              <a:cs typeface="Calibri"/>
              <a:sym typeface="Calibri"/>
            </a:endParaRPr>
          </a:p>
          <a:p>
            <a:pPr marL="0" lvl="0" indent="0" algn="l" rtl="0">
              <a:spcBef>
                <a:spcPts val="0"/>
              </a:spcBef>
              <a:spcAft>
                <a:spcPts val="0"/>
              </a:spcAft>
              <a:buNone/>
            </a:pPr>
            <a:endParaRPr sz="1800">
              <a:solidFill>
                <a:schemeClr val="dk2"/>
              </a:solidFill>
              <a:latin typeface="Calibri"/>
              <a:ea typeface="Calibri"/>
              <a:cs typeface="Calibri"/>
              <a:sym typeface="Calibri"/>
            </a:endParaRPr>
          </a:p>
        </p:txBody>
      </p:sp>
      <p:pic>
        <p:nvPicPr>
          <p:cNvPr id="227" name="Google Shape;227;p30"/>
          <p:cNvPicPr preferRelativeResize="0"/>
          <p:nvPr/>
        </p:nvPicPr>
        <p:blipFill>
          <a:blip r:embed="rId5">
            <a:alphaModFix/>
          </a:blip>
          <a:stretch>
            <a:fillRect/>
          </a:stretch>
        </p:blipFill>
        <p:spPr>
          <a:xfrm>
            <a:off x="2182750" y="2184378"/>
            <a:ext cx="6580251" cy="2517651"/>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1"/>
          <p:cNvSpPr txBox="1">
            <a:spLocks noGrp="1"/>
          </p:cNvSpPr>
          <p:nvPr>
            <p:ph type="body" idx="1"/>
          </p:nvPr>
        </p:nvSpPr>
        <p:spPr>
          <a:xfrm>
            <a:off x="311700" y="516775"/>
            <a:ext cx="4979700" cy="508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Seaborn plots…and code! </a:t>
            </a:r>
            <a:endParaRPr/>
          </a:p>
        </p:txBody>
      </p:sp>
      <p:sp>
        <p:nvSpPr>
          <p:cNvPr id="233" name="Google Shape;233;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24</a:t>
            </a:fld>
            <a:endParaRPr/>
          </a:p>
        </p:txBody>
      </p:sp>
      <p:pic>
        <p:nvPicPr>
          <p:cNvPr id="234" name="Google Shape;234;p31"/>
          <p:cNvPicPr preferRelativeResize="0"/>
          <p:nvPr/>
        </p:nvPicPr>
        <p:blipFill>
          <a:blip r:embed="rId3">
            <a:alphaModFix/>
          </a:blip>
          <a:stretch>
            <a:fillRect/>
          </a:stretch>
        </p:blipFill>
        <p:spPr>
          <a:xfrm>
            <a:off x="7391400" y="152400"/>
            <a:ext cx="1359149" cy="250150"/>
          </a:xfrm>
          <a:prstGeom prst="rect">
            <a:avLst/>
          </a:prstGeom>
          <a:noFill/>
          <a:ln>
            <a:noFill/>
          </a:ln>
        </p:spPr>
      </p:pic>
      <p:pic>
        <p:nvPicPr>
          <p:cNvPr id="235" name="Google Shape;235;p31"/>
          <p:cNvPicPr preferRelativeResize="0"/>
          <p:nvPr/>
        </p:nvPicPr>
        <p:blipFill>
          <a:blip r:embed="rId4">
            <a:alphaModFix/>
          </a:blip>
          <a:stretch>
            <a:fillRect/>
          </a:stretch>
        </p:blipFill>
        <p:spPr>
          <a:xfrm>
            <a:off x="203250" y="86975"/>
            <a:ext cx="315575" cy="315575"/>
          </a:xfrm>
          <a:prstGeom prst="rect">
            <a:avLst/>
          </a:prstGeom>
          <a:noFill/>
          <a:ln>
            <a:noFill/>
          </a:ln>
        </p:spPr>
      </p:pic>
      <p:sp>
        <p:nvSpPr>
          <p:cNvPr id="236" name="Google Shape;236;p31"/>
          <p:cNvSpPr txBox="1"/>
          <p:nvPr/>
        </p:nvSpPr>
        <p:spPr>
          <a:xfrm>
            <a:off x="4501650" y="4205425"/>
            <a:ext cx="42489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5"/>
              </a:rPr>
              <a:t>https://seaborn.pydata.org/examples/index.html</a:t>
            </a:r>
            <a:r>
              <a:rPr lang="en">
                <a:solidFill>
                  <a:schemeClr val="dk2"/>
                </a:solidFill>
              </a:rPr>
              <a:t> </a:t>
            </a:r>
            <a:endParaRPr>
              <a:solidFill>
                <a:schemeClr val="dk2"/>
              </a:solidFill>
            </a:endParaRPr>
          </a:p>
        </p:txBody>
      </p:sp>
      <p:pic>
        <p:nvPicPr>
          <p:cNvPr id="237" name="Google Shape;237;p31"/>
          <p:cNvPicPr preferRelativeResize="0"/>
          <p:nvPr/>
        </p:nvPicPr>
        <p:blipFill>
          <a:blip r:embed="rId6">
            <a:alphaModFix/>
          </a:blip>
          <a:stretch>
            <a:fillRect/>
          </a:stretch>
        </p:blipFill>
        <p:spPr>
          <a:xfrm>
            <a:off x="152400" y="1177975"/>
            <a:ext cx="4144701" cy="3813125"/>
          </a:xfrm>
          <a:prstGeom prst="rect">
            <a:avLst/>
          </a:prstGeom>
          <a:noFill/>
          <a:ln>
            <a:noFill/>
          </a:ln>
          <a:effectLst>
            <a:outerShdw blurRad="57150" dist="19050" dir="5400000" algn="bl" rotWithShape="0">
              <a:srgbClr val="000000">
                <a:alpha val="50000"/>
              </a:srgbClr>
            </a:outerShdw>
          </a:effectLst>
        </p:spPr>
      </p:pic>
      <p:pic>
        <p:nvPicPr>
          <p:cNvPr id="238" name="Google Shape;238;p31"/>
          <p:cNvPicPr preferRelativeResize="0"/>
          <p:nvPr/>
        </p:nvPicPr>
        <p:blipFill>
          <a:blip r:embed="rId7">
            <a:alphaModFix/>
          </a:blip>
          <a:stretch>
            <a:fillRect/>
          </a:stretch>
        </p:blipFill>
        <p:spPr>
          <a:xfrm>
            <a:off x="4819450" y="916925"/>
            <a:ext cx="2651124" cy="30835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2"/>
          <p:cNvSpPr txBox="1">
            <a:spLocks noGrp="1"/>
          </p:cNvSpPr>
          <p:nvPr>
            <p:ph type="body" idx="1"/>
          </p:nvPr>
        </p:nvSpPr>
        <p:spPr>
          <a:xfrm>
            <a:off x="311700" y="516775"/>
            <a:ext cx="4979700" cy="508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'Tidy' Data - a concept for all data, borrowed from R </a:t>
            </a:r>
            <a:endParaRPr/>
          </a:p>
        </p:txBody>
      </p:sp>
      <p:sp>
        <p:nvSpPr>
          <p:cNvPr id="244" name="Google Shape;244;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25</a:t>
            </a:fld>
            <a:endParaRPr/>
          </a:p>
        </p:txBody>
      </p:sp>
      <p:pic>
        <p:nvPicPr>
          <p:cNvPr id="245" name="Google Shape;245;p32"/>
          <p:cNvPicPr preferRelativeResize="0"/>
          <p:nvPr/>
        </p:nvPicPr>
        <p:blipFill>
          <a:blip r:embed="rId3">
            <a:alphaModFix/>
          </a:blip>
          <a:stretch>
            <a:fillRect/>
          </a:stretch>
        </p:blipFill>
        <p:spPr>
          <a:xfrm>
            <a:off x="7391400" y="152400"/>
            <a:ext cx="1359149" cy="250150"/>
          </a:xfrm>
          <a:prstGeom prst="rect">
            <a:avLst/>
          </a:prstGeom>
          <a:noFill/>
          <a:ln>
            <a:noFill/>
          </a:ln>
        </p:spPr>
      </p:pic>
      <p:pic>
        <p:nvPicPr>
          <p:cNvPr id="246" name="Google Shape;246;p32"/>
          <p:cNvPicPr preferRelativeResize="0"/>
          <p:nvPr/>
        </p:nvPicPr>
        <p:blipFill>
          <a:blip r:embed="rId4">
            <a:alphaModFix/>
          </a:blip>
          <a:stretch>
            <a:fillRect/>
          </a:stretch>
        </p:blipFill>
        <p:spPr>
          <a:xfrm>
            <a:off x="203250" y="86975"/>
            <a:ext cx="315575" cy="315575"/>
          </a:xfrm>
          <a:prstGeom prst="rect">
            <a:avLst/>
          </a:prstGeom>
          <a:noFill/>
          <a:ln>
            <a:noFill/>
          </a:ln>
        </p:spPr>
      </p:pic>
      <p:sp>
        <p:nvSpPr>
          <p:cNvPr id="247" name="Google Shape;247;p32"/>
          <p:cNvSpPr txBox="1"/>
          <p:nvPr/>
        </p:nvSpPr>
        <p:spPr>
          <a:xfrm>
            <a:off x="232175" y="1294650"/>
            <a:ext cx="6830400" cy="3453000"/>
          </a:xfrm>
          <a:prstGeom prst="rect">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500">
                <a:solidFill>
                  <a:schemeClr val="dk2"/>
                </a:solidFill>
              </a:rPr>
              <a:t>Tidy Data refers to a structure for arranging data where:</a:t>
            </a:r>
            <a:endParaRPr sz="1500">
              <a:solidFill>
                <a:schemeClr val="dk2"/>
              </a:solidFill>
            </a:endParaRPr>
          </a:p>
          <a:p>
            <a:pPr marL="457200" lvl="0" indent="-323850" algn="l" rtl="0">
              <a:spcBef>
                <a:spcPts val="0"/>
              </a:spcBef>
              <a:spcAft>
                <a:spcPts val="0"/>
              </a:spcAft>
              <a:buClr>
                <a:schemeClr val="dk2"/>
              </a:buClr>
              <a:buSzPts val="1500"/>
              <a:buChar char="●"/>
            </a:pPr>
            <a:r>
              <a:rPr lang="en" sz="1500">
                <a:solidFill>
                  <a:schemeClr val="dk2"/>
                </a:solidFill>
              </a:rPr>
              <a:t>Each variable has its own column, making it easier to compare across observations.</a:t>
            </a:r>
            <a:endParaRPr sz="1500">
              <a:solidFill>
                <a:schemeClr val="dk2"/>
              </a:solidFill>
            </a:endParaRPr>
          </a:p>
          <a:p>
            <a:pPr marL="457200" lvl="0" indent="-323850" algn="l" rtl="0">
              <a:spcBef>
                <a:spcPts val="0"/>
              </a:spcBef>
              <a:spcAft>
                <a:spcPts val="0"/>
              </a:spcAft>
              <a:buClr>
                <a:schemeClr val="dk2"/>
              </a:buClr>
              <a:buSzPts val="1500"/>
              <a:buChar char="●"/>
            </a:pPr>
            <a:r>
              <a:rPr lang="en" sz="1500">
                <a:solidFill>
                  <a:schemeClr val="dk2"/>
                </a:solidFill>
              </a:rPr>
              <a:t>Each observation (or case) has its own row, allowing for easy handling and aggregation of the data.</a:t>
            </a:r>
            <a:endParaRPr sz="1500">
              <a:solidFill>
                <a:schemeClr val="dk2"/>
              </a:solidFill>
            </a:endParaRPr>
          </a:p>
          <a:p>
            <a:pPr marL="457200" lvl="0" indent="-323850" algn="l" rtl="0">
              <a:spcBef>
                <a:spcPts val="0"/>
              </a:spcBef>
              <a:spcAft>
                <a:spcPts val="0"/>
              </a:spcAft>
              <a:buClr>
                <a:schemeClr val="dk2"/>
              </a:buClr>
              <a:buSzPts val="1500"/>
              <a:buChar char="●"/>
            </a:pPr>
            <a:r>
              <a:rPr lang="en" sz="1500">
                <a:solidFill>
                  <a:schemeClr val="dk2"/>
                </a:solidFill>
              </a:rPr>
              <a:t>There is one table (not multiple tables) per subject area or concept.</a:t>
            </a:r>
            <a:endParaRPr sz="1500">
              <a:solidFill>
                <a:schemeClr val="dk2"/>
              </a:solidFill>
            </a:endParaRPr>
          </a:p>
          <a:p>
            <a:pPr marL="457200" lvl="0" indent="-323850" algn="l" rtl="0">
              <a:spcBef>
                <a:spcPts val="0"/>
              </a:spcBef>
              <a:spcAft>
                <a:spcPts val="0"/>
              </a:spcAft>
              <a:buClr>
                <a:schemeClr val="dk2"/>
              </a:buClr>
              <a:buSzPts val="1500"/>
              <a:buChar char="●"/>
            </a:pPr>
            <a:r>
              <a:rPr lang="en" sz="1500">
                <a:solidFill>
                  <a:schemeClr val="dk2"/>
                </a:solidFill>
              </a:rPr>
              <a:t>There are no hidden values, and the number of rows is equal to the total count of observational units.</a:t>
            </a:r>
            <a:endParaRPr sz="1500">
              <a:solidFill>
                <a:schemeClr val="dk2"/>
              </a:solidFill>
            </a:endParaRPr>
          </a:p>
          <a:p>
            <a:pPr marL="0" lvl="0" indent="0" algn="l" rtl="0">
              <a:spcBef>
                <a:spcPts val="0"/>
              </a:spcBef>
              <a:spcAft>
                <a:spcPts val="0"/>
              </a:spcAft>
              <a:buClr>
                <a:schemeClr val="dk1"/>
              </a:buClr>
              <a:buSzPts val="1100"/>
              <a:buFont typeface="Arial"/>
              <a:buNone/>
            </a:pPr>
            <a:r>
              <a:rPr lang="en" sz="1500">
                <a:solidFill>
                  <a:schemeClr val="dk2"/>
                </a:solidFill>
              </a:rPr>
              <a:t>Following these principles allows for much easier data analysis, and it promotes an intuitive understanding and exploration of the data.</a:t>
            </a:r>
            <a:endParaRPr sz="1500">
              <a:solidFill>
                <a:schemeClr val="dk2"/>
              </a:solidFill>
            </a:endParaRPr>
          </a:p>
          <a:p>
            <a:pPr marL="0" lvl="0" indent="0" algn="l" rtl="0">
              <a:spcBef>
                <a:spcPts val="0"/>
              </a:spcBef>
              <a:spcAft>
                <a:spcPts val="0"/>
              </a:spcAft>
              <a:buClr>
                <a:schemeClr val="dk1"/>
              </a:buClr>
              <a:buSzPts val="1100"/>
              <a:buFont typeface="Arial"/>
              <a:buNone/>
            </a:pPr>
            <a:r>
              <a:rPr lang="en" sz="1500">
                <a:solidFill>
                  <a:schemeClr val="dk2"/>
                </a:solidFill>
              </a:rPr>
              <a:t>Note: it is ok to have multiple tables and relational database tables, but for data analysis and visualization, it is beneficial to focus on extracting data from those entities into a tidy-format data structure as described above. (source: </a:t>
            </a:r>
            <a:r>
              <a:rPr lang="en" sz="1500" u="sng">
                <a:solidFill>
                  <a:schemeClr val="hlink"/>
                </a:solidFill>
                <a:hlinkClick r:id="rId5"/>
              </a:rPr>
              <a:t>https://r4ds.had.co.nz/tidy-data.html</a:t>
            </a:r>
            <a:r>
              <a:rPr lang="en" sz="1500">
                <a:solidFill>
                  <a:schemeClr val="dk2"/>
                </a:solidFill>
              </a:rPr>
              <a:t>  </a:t>
            </a:r>
            <a:endParaRPr sz="1500">
              <a:solidFill>
                <a:schemeClr val="dk2"/>
              </a:solidFill>
            </a:endParaRPr>
          </a:p>
          <a:p>
            <a:pPr marL="0" lvl="0" indent="0" algn="l" rtl="0">
              <a:spcBef>
                <a:spcPts val="0"/>
              </a:spcBef>
              <a:spcAft>
                <a:spcPts val="0"/>
              </a:spcAft>
              <a:buClr>
                <a:schemeClr val="dk1"/>
              </a:buClr>
              <a:buSzPts val="1100"/>
              <a:buFont typeface="Arial"/>
              <a:buNone/>
            </a:pPr>
            <a:endParaRPr sz="1500">
              <a:solidFill>
                <a:schemeClr val="dk2"/>
              </a:solidFill>
            </a:endParaRPr>
          </a:p>
          <a:p>
            <a:pPr marL="0" lvl="0" indent="0" algn="l" rtl="0">
              <a:spcBef>
                <a:spcPts val="0"/>
              </a:spcBef>
              <a:spcAft>
                <a:spcPts val="0"/>
              </a:spcAft>
              <a:buClr>
                <a:schemeClr val="dk1"/>
              </a:buClr>
              <a:buSzPts val="1100"/>
              <a:buFont typeface="Arial"/>
              <a:buNone/>
            </a:pPr>
            <a:endParaRPr sz="1500">
              <a:solidFill>
                <a:schemeClr val="dk2"/>
              </a:solidFill>
            </a:endParaRPr>
          </a:p>
          <a:p>
            <a:pPr marL="0" lvl="0" indent="0" algn="l" rtl="0">
              <a:spcBef>
                <a:spcPts val="0"/>
              </a:spcBef>
              <a:spcAft>
                <a:spcPts val="0"/>
              </a:spcAft>
              <a:buClr>
                <a:schemeClr val="dk1"/>
              </a:buClr>
              <a:buSzPts val="1100"/>
              <a:buFont typeface="Arial"/>
              <a:buNone/>
            </a:pPr>
            <a:endParaRPr sz="1500">
              <a:solidFill>
                <a:schemeClr val="dk2"/>
              </a:solidFill>
            </a:endParaRPr>
          </a:p>
          <a:p>
            <a:pPr marL="0" lvl="0" indent="0" algn="l" rtl="0">
              <a:spcBef>
                <a:spcPts val="0"/>
              </a:spcBef>
              <a:spcAft>
                <a:spcPts val="0"/>
              </a:spcAft>
              <a:buNone/>
            </a:pPr>
            <a:endParaRPr sz="1500">
              <a:solidFill>
                <a:schemeClr val="dk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33"/>
          <p:cNvSpPr txBox="1">
            <a:spLocks noGrp="1"/>
          </p:cNvSpPr>
          <p:nvPr>
            <p:ph type="body" idx="1"/>
          </p:nvPr>
        </p:nvSpPr>
        <p:spPr>
          <a:xfrm>
            <a:off x="311700" y="516775"/>
            <a:ext cx="4979700" cy="508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2100"/>
              <a:t>A typical data science process:</a:t>
            </a:r>
            <a:endParaRPr sz="2100"/>
          </a:p>
        </p:txBody>
      </p:sp>
      <p:sp>
        <p:nvSpPr>
          <p:cNvPr id="253" name="Google Shape;253;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26</a:t>
            </a:fld>
            <a:endParaRPr/>
          </a:p>
        </p:txBody>
      </p:sp>
      <p:pic>
        <p:nvPicPr>
          <p:cNvPr id="254" name="Google Shape;254;p33"/>
          <p:cNvPicPr preferRelativeResize="0"/>
          <p:nvPr/>
        </p:nvPicPr>
        <p:blipFill>
          <a:blip r:embed="rId3">
            <a:alphaModFix/>
          </a:blip>
          <a:stretch>
            <a:fillRect/>
          </a:stretch>
        </p:blipFill>
        <p:spPr>
          <a:xfrm>
            <a:off x="7391400" y="152400"/>
            <a:ext cx="1359149" cy="250150"/>
          </a:xfrm>
          <a:prstGeom prst="rect">
            <a:avLst/>
          </a:prstGeom>
          <a:noFill/>
          <a:ln>
            <a:noFill/>
          </a:ln>
        </p:spPr>
      </p:pic>
      <p:pic>
        <p:nvPicPr>
          <p:cNvPr id="255" name="Google Shape;255;p33"/>
          <p:cNvPicPr preferRelativeResize="0"/>
          <p:nvPr/>
        </p:nvPicPr>
        <p:blipFill>
          <a:blip r:embed="rId4">
            <a:alphaModFix/>
          </a:blip>
          <a:stretch>
            <a:fillRect/>
          </a:stretch>
        </p:blipFill>
        <p:spPr>
          <a:xfrm>
            <a:off x="203250" y="86975"/>
            <a:ext cx="315575" cy="315575"/>
          </a:xfrm>
          <a:prstGeom prst="rect">
            <a:avLst/>
          </a:prstGeom>
          <a:noFill/>
          <a:ln>
            <a:noFill/>
          </a:ln>
        </p:spPr>
      </p:pic>
      <p:pic>
        <p:nvPicPr>
          <p:cNvPr id="256" name="Google Shape;256;p33"/>
          <p:cNvPicPr preferRelativeResize="0"/>
          <p:nvPr/>
        </p:nvPicPr>
        <p:blipFill rotWithShape="1">
          <a:blip r:embed="rId5">
            <a:alphaModFix/>
          </a:blip>
          <a:srcRect b="36520"/>
          <a:stretch/>
        </p:blipFill>
        <p:spPr>
          <a:xfrm>
            <a:off x="381000" y="3193975"/>
            <a:ext cx="4910400" cy="1665050"/>
          </a:xfrm>
          <a:prstGeom prst="rect">
            <a:avLst/>
          </a:prstGeom>
          <a:noFill/>
          <a:ln>
            <a:noFill/>
          </a:ln>
        </p:spPr>
      </p:pic>
      <p:sp>
        <p:nvSpPr>
          <p:cNvPr id="257" name="Google Shape;257;p33"/>
          <p:cNvSpPr txBox="1"/>
          <p:nvPr/>
        </p:nvSpPr>
        <p:spPr>
          <a:xfrm>
            <a:off x="311700" y="929300"/>
            <a:ext cx="8235600" cy="25392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2"/>
              </a:buClr>
              <a:buSzPts val="1800"/>
              <a:buChar char="●"/>
            </a:pPr>
            <a:r>
              <a:rPr lang="en-US" sz="1800" b="1" dirty="0">
                <a:solidFill>
                  <a:schemeClr val="dk2"/>
                </a:solidFill>
              </a:rPr>
              <a:t>Good </a:t>
            </a:r>
            <a:r>
              <a:rPr lang="en" sz="1800" b="1" dirty="0">
                <a:solidFill>
                  <a:schemeClr val="dk2"/>
                </a:solidFill>
              </a:rPr>
              <a:t>practice: make a copy of raw dataset, store securely if necessary, do not modify the raw data </a:t>
            </a:r>
            <a:endParaRPr sz="1800" b="1" dirty="0">
              <a:solidFill>
                <a:schemeClr val="dk2"/>
              </a:solidFill>
            </a:endParaRPr>
          </a:p>
          <a:p>
            <a:pPr marL="457200" lvl="0" indent="-342900" algn="l" rtl="0">
              <a:spcBef>
                <a:spcPts val="0"/>
              </a:spcBef>
              <a:spcAft>
                <a:spcPts val="0"/>
              </a:spcAft>
              <a:buClr>
                <a:schemeClr val="dk2"/>
              </a:buClr>
              <a:buSzPts val="1800"/>
              <a:buChar char="●"/>
            </a:pPr>
            <a:r>
              <a:rPr lang="en" sz="1800" dirty="0">
                <a:solidFill>
                  <a:schemeClr val="dk2"/>
                </a:solidFill>
              </a:rPr>
              <a:t>With the copy, import &amp; tidy or tidy &amp; import</a:t>
            </a:r>
            <a:endParaRPr sz="1800" dirty="0">
              <a:solidFill>
                <a:schemeClr val="dk2"/>
              </a:solidFill>
            </a:endParaRPr>
          </a:p>
          <a:p>
            <a:pPr marL="457200" lvl="0" indent="-342900" algn="l" rtl="0">
              <a:spcBef>
                <a:spcPts val="0"/>
              </a:spcBef>
              <a:spcAft>
                <a:spcPts val="0"/>
              </a:spcAft>
              <a:buClr>
                <a:schemeClr val="dk2"/>
              </a:buClr>
              <a:buSzPts val="1800"/>
              <a:buChar char="●"/>
            </a:pPr>
            <a:r>
              <a:rPr lang="en" sz="1800" dirty="0">
                <a:solidFill>
                  <a:schemeClr val="dk2"/>
                </a:solidFill>
              </a:rPr>
              <a:t>Transform/model/analyze/visualize</a:t>
            </a:r>
            <a:endParaRPr sz="1800" dirty="0">
              <a:solidFill>
                <a:schemeClr val="dk2"/>
              </a:solidFill>
            </a:endParaRPr>
          </a:p>
          <a:p>
            <a:pPr marL="457200" lvl="0" indent="-342900" algn="l" rtl="0">
              <a:spcBef>
                <a:spcPts val="0"/>
              </a:spcBef>
              <a:spcAft>
                <a:spcPts val="0"/>
              </a:spcAft>
              <a:buClr>
                <a:schemeClr val="dk2"/>
              </a:buClr>
              <a:buSzPts val="1800"/>
              <a:buChar char="●"/>
            </a:pPr>
            <a:r>
              <a:rPr lang="en" sz="1800" dirty="0">
                <a:solidFill>
                  <a:schemeClr val="dk2"/>
                </a:solidFill>
              </a:rPr>
              <a:t>Review results with colleagues, iterate process for new methods &amp; discovery</a:t>
            </a:r>
            <a:endParaRPr sz="1800" dirty="0">
              <a:solidFill>
                <a:schemeClr val="dk2"/>
              </a:solidFill>
            </a:endParaRPr>
          </a:p>
          <a:p>
            <a:pPr marL="457200" lvl="0" indent="-342900" algn="l" rtl="0">
              <a:spcBef>
                <a:spcPts val="0"/>
              </a:spcBef>
              <a:spcAft>
                <a:spcPts val="0"/>
              </a:spcAft>
              <a:buClr>
                <a:schemeClr val="dk2"/>
              </a:buClr>
              <a:buSzPts val="1800"/>
              <a:buChar char="●"/>
            </a:pPr>
            <a:r>
              <a:rPr lang="en" sz="1800" dirty="0">
                <a:solidFill>
                  <a:schemeClr val="dk2"/>
                </a:solidFill>
              </a:rPr>
              <a:t>Communicate the results to general audience in a visual, human-readable and understandable fashion</a:t>
            </a:r>
            <a:endParaRPr sz="1800" dirty="0">
              <a:solidFill>
                <a:schemeClr val="dk2"/>
              </a:solidFill>
            </a:endParaRPr>
          </a:p>
        </p:txBody>
      </p:sp>
      <p:sp>
        <p:nvSpPr>
          <p:cNvPr id="258" name="Google Shape;258;p33"/>
          <p:cNvSpPr txBox="1"/>
          <p:nvPr/>
        </p:nvSpPr>
        <p:spPr>
          <a:xfrm>
            <a:off x="1563300" y="4758975"/>
            <a:ext cx="3025500" cy="17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2"/>
                </a:solidFill>
              </a:rPr>
              <a:t>Source: R for Data Science, Wickham et al</a:t>
            </a:r>
            <a:endParaRPr sz="1000">
              <a:solidFill>
                <a:schemeClr val="dk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4"/>
          <p:cNvSpPr txBox="1">
            <a:spLocks noGrp="1"/>
          </p:cNvSpPr>
          <p:nvPr>
            <p:ph type="body" idx="1"/>
          </p:nvPr>
        </p:nvSpPr>
        <p:spPr>
          <a:xfrm>
            <a:off x="311700" y="516775"/>
            <a:ext cx="4979700" cy="508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2100"/>
              <a:t>Tidy data example, observations</a:t>
            </a:r>
            <a:endParaRPr sz="2100"/>
          </a:p>
        </p:txBody>
      </p:sp>
      <p:sp>
        <p:nvSpPr>
          <p:cNvPr id="264" name="Google Shape;264;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27</a:t>
            </a:fld>
            <a:endParaRPr/>
          </a:p>
        </p:txBody>
      </p:sp>
      <p:pic>
        <p:nvPicPr>
          <p:cNvPr id="265" name="Google Shape;265;p34"/>
          <p:cNvPicPr preferRelativeResize="0"/>
          <p:nvPr/>
        </p:nvPicPr>
        <p:blipFill>
          <a:blip r:embed="rId3">
            <a:alphaModFix/>
          </a:blip>
          <a:stretch>
            <a:fillRect/>
          </a:stretch>
        </p:blipFill>
        <p:spPr>
          <a:xfrm>
            <a:off x="7391400" y="152400"/>
            <a:ext cx="1359149" cy="250150"/>
          </a:xfrm>
          <a:prstGeom prst="rect">
            <a:avLst/>
          </a:prstGeom>
          <a:noFill/>
          <a:ln>
            <a:noFill/>
          </a:ln>
        </p:spPr>
      </p:pic>
      <p:pic>
        <p:nvPicPr>
          <p:cNvPr id="266" name="Google Shape;266;p34"/>
          <p:cNvPicPr preferRelativeResize="0"/>
          <p:nvPr/>
        </p:nvPicPr>
        <p:blipFill>
          <a:blip r:embed="rId4">
            <a:alphaModFix/>
          </a:blip>
          <a:stretch>
            <a:fillRect/>
          </a:stretch>
        </p:blipFill>
        <p:spPr>
          <a:xfrm>
            <a:off x="203250" y="86975"/>
            <a:ext cx="315575" cy="315575"/>
          </a:xfrm>
          <a:prstGeom prst="rect">
            <a:avLst/>
          </a:prstGeom>
          <a:noFill/>
          <a:ln>
            <a:noFill/>
          </a:ln>
        </p:spPr>
      </p:pic>
      <p:sp>
        <p:nvSpPr>
          <p:cNvPr id="267" name="Google Shape;267;p34"/>
          <p:cNvSpPr txBox="1"/>
          <p:nvPr/>
        </p:nvSpPr>
        <p:spPr>
          <a:xfrm>
            <a:off x="311700" y="929300"/>
            <a:ext cx="8235600" cy="25392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2"/>
              </a:buClr>
              <a:buSzPts val="1800"/>
              <a:buChar char="●"/>
            </a:pPr>
            <a:r>
              <a:rPr lang="en" sz="1800">
                <a:solidFill>
                  <a:schemeClr val="dk2"/>
                </a:solidFill>
              </a:rPr>
              <a:t>Observations per penguin</a:t>
            </a:r>
            <a:endParaRPr sz="1800">
              <a:solidFill>
                <a:schemeClr val="dk2"/>
              </a:solidFill>
            </a:endParaRPr>
          </a:p>
          <a:p>
            <a:pPr marL="457200" lvl="0" indent="-342900" algn="l" rtl="0">
              <a:spcBef>
                <a:spcPts val="0"/>
              </a:spcBef>
              <a:spcAft>
                <a:spcPts val="0"/>
              </a:spcAft>
              <a:buClr>
                <a:schemeClr val="dk2"/>
              </a:buClr>
              <a:buSzPts val="1800"/>
              <a:buChar char="●"/>
            </a:pPr>
            <a:r>
              <a:rPr lang="en" sz="1800">
                <a:solidFill>
                  <a:schemeClr val="dk2"/>
                </a:solidFill>
              </a:rPr>
              <a:t>Rows are individuals, columns are attributes/measurements, species, location where penguin was measured, length of the bill length, flipper length, body mass</a:t>
            </a:r>
            <a:endParaRPr sz="1800">
              <a:solidFill>
                <a:schemeClr val="dk2"/>
              </a:solidFill>
            </a:endParaRPr>
          </a:p>
        </p:txBody>
      </p:sp>
      <p:pic>
        <p:nvPicPr>
          <p:cNvPr id="268" name="Google Shape;268;p34"/>
          <p:cNvPicPr preferRelativeResize="0"/>
          <p:nvPr/>
        </p:nvPicPr>
        <p:blipFill>
          <a:blip r:embed="rId5">
            <a:alphaModFix/>
          </a:blip>
          <a:stretch>
            <a:fillRect/>
          </a:stretch>
        </p:blipFill>
        <p:spPr>
          <a:xfrm>
            <a:off x="292775" y="2287974"/>
            <a:ext cx="8089225" cy="2755675"/>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Built-in datasets </a:t>
            </a:r>
            <a:endParaRPr/>
          </a:p>
        </p:txBody>
      </p:sp>
      <p:sp>
        <p:nvSpPr>
          <p:cNvPr id="285" name="Google Shape;285;p36"/>
          <p:cNvSpPr txBox="1">
            <a:spLocks noGrp="1"/>
          </p:cNvSpPr>
          <p:nvPr>
            <p:ph type="body" idx="1"/>
          </p:nvPr>
        </p:nvSpPr>
        <p:spPr>
          <a:xfrm>
            <a:off x="311700" y="1017725"/>
            <a:ext cx="5925000" cy="3737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t>Python's Seaborn library has very useful built-in datasets, specifically for learning data science and data visualization concepts </a:t>
            </a:r>
            <a:endParaRPr sz="1400"/>
          </a:p>
          <a:p>
            <a:pPr marL="457200" lvl="0" indent="-317500" algn="l" rtl="0">
              <a:spcBef>
                <a:spcPts val="1600"/>
              </a:spcBef>
              <a:spcAft>
                <a:spcPts val="0"/>
              </a:spcAft>
              <a:buSzPts val="1400"/>
              <a:buChar char="●"/>
            </a:pPr>
            <a:r>
              <a:rPr lang="en" sz="1400"/>
              <a:t>'Iris' dataset</a:t>
            </a:r>
            <a:endParaRPr sz="1400"/>
          </a:p>
          <a:p>
            <a:pPr marL="457200" lvl="0" indent="-317500" algn="l" rtl="0">
              <a:spcBef>
                <a:spcPts val="0"/>
              </a:spcBef>
              <a:spcAft>
                <a:spcPts val="0"/>
              </a:spcAft>
              <a:buSzPts val="1400"/>
              <a:buChar char="●"/>
            </a:pPr>
            <a:r>
              <a:rPr lang="en" sz="1400"/>
              <a:t>Penguins dataset </a:t>
            </a:r>
            <a:endParaRPr sz="1400"/>
          </a:p>
          <a:p>
            <a:pPr marL="457200" lvl="0" indent="0" algn="l" rtl="0">
              <a:spcBef>
                <a:spcPts val="1600"/>
              </a:spcBef>
              <a:spcAft>
                <a:spcPts val="1600"/>
              </a:spcAft>
              <a:buNone/>
            </a:pPr>
            <a:endParaRPr sz="1400">
              <a:highlight>
                <a:srgbClr val="FFFFFF"/>
              </a:highlight>
            </a:endParaRPr>
          </a:p>
        </p:txBody>
      </p:sp>
      <p:sp>
        <p:nvSpPr>
          <p:cNvPr id="286" name="Google Shape;286;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28</a:t>
            </a:fld>
            <a:endParaRPr/>
          </a:p>
        </p:txBody>
      </p:sp>
      <p:pic>
        <p:nvPicPr>
          <p:cNvPr id="287" name="Google Shape;287;p36"/>
          <p:cNvPicPr preferRelativeResize="0"/>
          <p:nvPr/>
        </p:nvPicPr>
        <p:blipFill>
          <a:blip r:embed="rId3">
            <a:alphaModFix/>
          </a:blip>
          <a:stretch>
            <a:fillRect/>
          </a:stretch>
        </p:blipFill>
        <p:spPr>
          <a:xfrm>
            <a:off x="7391400" y="152400"/>
            <a:ext cx="1359149" cy="250150"/>
          </a:xfrm>
          <a:prstGeom prst="rect">
            <a:avLst/>
          </a:prstGeom>
          <a:noFill/>
          <a:ln>
            <a:noFill/>
          </a:ln>
        </p:spPr>
      </p:pic>
      <p:pic>
        <p:nvPicPr>
          <p:cNvPr id="288" name="Google Shape;288;p36"/>
          <p:cNvPicPr preferRelativeResize="0"/>
          <p:nvPr/>
        </p:nvPicPr>
        <p:blipFill>
          <a:blip r:embed="rId4">
            <a:alphaModFix/>
          </a:blip>
          <a:stretch>
            <a:fillRect/>
          </a:stretch>
        </p:blipFill>
        <p:spPr>
          <a:xfrm>
            <a:off x="203250" y="86975"/>
            <a:ext cx="315575" cy="315575"/>
          </a:xfrm>
          <a:prstGeom prst="rect">
            <a:avLst/>
          </a:prstGeom>
          <a:noFill/>
          <a:ln>
            <a:noFill/>
          </a:ln>
        </p:spPr>
      </p:pic>
      <p:pic>
        <p:nvPicPr>
          <p:cNvPr id="289" name="Google Shape;289;p36"/>
          <p:cNvPicPr preferRelativeResize="0"/>
          <p:nvPr/>
        </p:nvPicPr>
        <p:blipFill>
          <a:blip r:embed="rId5">
            <a:alphaModFix/>
          </a:blip>
          <a:stretch>
            <a:fillRect/>
          </a:stretch>
        </p:blipFill>
        <p:spPr>
          <a:xfrm>
            <a:off x="406075" y="2419350"/>
            <a:ext cx="3912800" cy="2323650"/>
          </a:xfrm>
          <a:prstGeom prst="rect">
            <a:avLst/>
          </a:prstGeom>
          <a:noFill/>
          <a:ln>
            <a:noFill/>
          </a:ln>
          <a:effectLst>
            <a:outerShdw blurRad="57150" dist="19050" dir="5400000" algn="bl" rotWithShape="0">
              <a:srgbClr val="000000">
                <a:alpha val="50000"/>
              </a:srgbClr>
            </a:outerShdw>
          </a:effectLst>
        </p:spPr>
      </p:pic>
      <p:pic>
        <p:nvPicPr>
          <p:cNvPr id="290" name="Google Shape;290;p36"/>
          <p:cNvPicPr preferRelativeResize="0"/>
          <p:nvPr/>
        </p:nvPicPr>
        <p:blipFill>
          <a:blip r:embed="rId6">
            <a:alphaModFix/>
          </a:blip>
          <a:stretch>
            <a:fillRect/>
          </a:stretch>
        </p:blipFill>
        <p:spPr>
          <a:xfrm>
            <a:off x="5096800" y="3212550"/>
            <a:ext cx="3256625" cy="1502325"/>
          </a:xfrm>
          <a:prstGeom prst="rect">
            <a:avLst/>
          </a:prstGeom>
          <a:noFill/>
          <a:ln>
            <a:noFill/>
          </a:ln>
          <a:effectLst>
            <a:outerShdw blurRad="57150" dist="19050" dir="5400000" algn="bl" rotWithShape="0">
              <a:srgbClr val="000000">
                <a:alpha val="50000"/>
              </a:srgbClr>
            </a:outerShdw>
          </a:effectLst>
        </p:spPr>
      </p:pic>
      <p:sp>
        <p:nvSpPr>
          <p:cNvPr id="291" name="Google Shape;291;p36"/>
          <p:cNvSpPr txBox="1"/>
          <p:nvPr/>
        </p:nvSpPr>
        <p:spPr>
          <a:xfrm>
            <a:off x="4919025" y="4734925"/>
            <a:ext cx="3815400" cy="25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chemeClr val="dk2"/>
                </a:solidFill>
              </a:rPr>
              <a:t>Source: </a:t>
            </a:r>
            <a:r>
              <a:rPr lang="en" sz="600" u="sng">
                <a:solidFill>
                  <a:schemeClr val="hlink"/>
                </a:solidFill>
                <a:hlinkClick r:id="rId7"/>
              </a:rPr>
              <a:t>https://www.kaggle.com/code/sunaysawant/penguin-in-antarctica-eda</a:t>
            </a:r>
            <a:r>
              <a:rPr lang="en" sz="600">
                <a:solidFill>
                  <a:schemeClr val="dk2"/>
                </a:solidFill>
              </a:rPr>
              <a:t> </a:t>
            </a:r>
            <a:endParaRPr sz="600">
              <a:solidFill>
                <a:schemeClr val="dk2"/>
              </a:solidFill>
            </a:endParaRPr>
          </a:p>
        </p:txBody>
      </p:sp>
      <p:sp>
        <p:nvSpPr>
          <p:cNvPr id="292" name="Google Shape;292;p36"/>
          <p:cNvSpPr txBox="1"/>
          <p:nvPr/>
        </p:nvSpPr>
        <p:spPr>
          <a:xfrm>
            <a:off x="406075" y="4663225"/>
            <a:ext cx="39672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chemeClr val="dk2"/>
                </a:solidFill>
              </a:rPr>
              <a:t>Sources: </a:t>
            </a:r>
            <a:r>
              <a:rPr lang="en" sz="600" u="sng">
                <a:solidFill>
                  <a:srgbClr val="2200CC"/>
                </a:solidFill>
                <a:hlinkClick r:id="rId8">
                  <a:extLst>
                    <a:ext uri="{A12FA001-AC4F-418D-AE19-62706E023703}">
                      <ahyp:hlinkClr xmlns:ahyp="http://schemas.microsoft.com/office/drawing/2018/hyperlinkcolor" val="tx"/>
                    </a:ext>
                  </a:extLst>
                </a:hlinkClick>
              </a:rPr>
              <a:t>https://en.wikipedia.org/wiki/Iris_flower_data_set#/media/File:Iris_virginica.jpg</a:t>
            </a:r>
            <a:r>
              <a:rPr lang="en" sz="600">
                <a:solidFill>
                  <a:schemeClr val="dk1"/>
                </a:solidFill>
              </a:rPr>
              <a:t> </a:t>
            </a:r>
            <a:endParaRPr sz="600">
              <a:solidFill>
                <a:schemeClr val="dk1"/>
              </a:solidFill>
            </a:endParaRPr>
          </a:p>
          <a:p>
            <a:pPr marL="0" lvl="0" indent="0" algn="l" rtl="0">
              <a:spcBef>
                <a:spcPts val="0"/>
              </a:spcBef>
              <a:spcAft>
                <a:spcPts val="0"/>
              </a:spcAft>
              <a:buNone/>
            </a:pPr>
            <a:r>
              <a:rPr lang="en" sz="600" u="sng">
                <a:solidFill>
                  <a:srgbClr val="2200CC"/>
                </a:solidFill>
                <a:hlinkClick r:id="rId9">
                  <a:extLst>
                    <a:ext uri="{A12FA001-AC4F-418D-AE19-62706E023703}">
                      <ahyp:hlinkClr xmlns:ahyp="http://schemas.microsoft.com/office/drawing/2018/hyperlinkcolor" val="tx"/>
                    </a:ext>
                  </a:extLst>
                </a:hlinkClick>
              </a:rPr>
              <a:t>https://en.wikipedia.org/wiki/Iris_flower_data_set#/media/File:Iris_versicolor_3.jpg</a:t>
            </a:r>
            <a:r>
              <a:rPr lang="en" sz="600">
                <a:solidFill>
                  <a:schemeClr val="dk1"/>
                </a:solidFill>
              </a:rPr>
              <a:t> </a:t>
            </a:r>
            <a:endParaRPr sz="600">
              <a:solidFill>
                <a:schemeClr val="dk1"/>
              </a:solidFill>
            </a:endParaRPr>
          </a:p>
          <a:p>
            <a:pPr marL="0" lvl="0" indent="0" algn="l" rtl="0">
              <a:spcBef>
                <a:spcPts val="0"/>
              </a:spcBef>
              <a:spcAft>
                <a:spcPts val="0"/>
              </a:spcAft>
              <a:buNone/>
            </a:pPr>
            <a:endParaRPr sz="900">
              <a:solidFill>
                <a:schemeClr val="dk2"/>
              </a:solidFill>
            </a:endParaRPr>
          </a:p>
          <a:p>
            <a:pPr marL="0" lvl="0" indent="0" algn="l" rtl="0">
              <a:spcBef>
                <a:spcPts val="0"/>
              </a:spcBef>
              <a:spcAft>
                <a:spcPts val="0"/>
              </a:spcAft>
              <a:buNone/>
            </a:pPr>
            <a:endParaRPr sz="900">
              <a:solidFill>
                <a:schemeClr val="dk2"/>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More resources</a:t>
            </a:r>
            <a:endParaRPr/>
          </a:p>
        </p:txBody>
      </p:sp>
      <p:sp>
        <p:nvSpPr>
          <p:cNvPr id="298" name="Google Shape;298;p3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a:t>Pandas </a:t>
            </a:r>
            <a:endParaRPr/>
          </a:p>
          <a:p>
            <a:pPr marL="914400" lvl="1" indent="-342900" algn="l" rtl="0">
              <a:spcBef>
                <a:spcPts val="0"/>
              </a:spcBef>
              <a:spcAft>
                <a:spcPts val="0"/>
              </a:spcAft>
              <a:buSzPts val="1800"/>
              <a:buChar char="○"/>
            </a:pPr>
            <a:r>
              <a:rPr lang="en" sz="1800" u="sng">
                <a:solidFill>
                  <a:schemeClr val="hlink"/>
                </a:solidFill>
                <a:hlinkClick r:id="rId3"/>
              </a:rPr>
              <a:t>https://pandas.pydata.org/docs/getting_started/intro_tutorials/index.html</a:t>
            </a:r>
            <a:r>
              <a:rPr lang="en" sz="1800"/>
              <a:t> </a:t>
            </a:r>
            <a:endParaRPr sz="1800"/>
          </a:p>
          <a:p>
            <a:pPr marL="457200" lvl="0" indent="-342900" algn="l" rtl="0">
              <a:spcBef>
                <a:spcPts val="0"/>
              </a:spcBef>
              <a:spcAft>
                <a:spcPts val="0"/>
              </a:spcAft>
              <a:buSzPts val="1800"/>
              <a:buChar char="●"/>
            </a:pPr>
            <a:r>
              <a:rPr lang="en"/>
              <a:t>Seaborn </a:t>
            </a:r>
            <a:r>
              <a:rPr lang="en" u="sng">
                <a:solidFill>
                  <a:schemeClr val="hlink"/>
                </a:solidFill>
                <a:hlinkClick r:id="rId4"/>
              </a:rPr>
              <a:t>https://seaborn.pydata.org/</a:t>
            </a:r>
            <a:r>
              <a:rPr lang="en"/>
              <a:t> </a:t>
            </a:r>
            <a:endParaRPr/>
          </a:p>
          <a:p>
            <a:pPr marL="457200" lvl="0" indent="-342900" algn="l" rtl="0">
              <a:spcBef>
                <a:spcPts val="0"/>
              </a:spcBef>
              <a:spcAft>
                <a:spcPts val="0"/>
              </a:spcAft>
              <a:buSzPts val="1800"/>
              <a:buChar char="●"/>
            </a:pPr>
            <a:r>
              <a:rPr lang="en"/>
              <a:t>Matplotlib, </a:t>
            </a:r>
            <a:r>
              <a:rPr lang="en" u="sng">
                <a:solidFill>
                  <a:schemeClr val="hlink"/>
                </a:solidFill>
                <a:hlinkClick r:id="rId5"/>
              </a:rPr>
              <a:t>https://www.w3schools.com/python/matplotlib_intro.asp</a:t>
            </a:r>
            <a:r>
              <a:rPr lang="en"/>
              <a:t> </a:t>
            </a:r>
            <a:endParaRPr/>
          </a:p>
          <a:p>
            <a:pPr marL="457200" lvl="0" indent="-342900" algn="l" rtl="0">
              <a:spcBef>
                <a:spcPts val="0"/>
              </a:spcBef>
              <a:spcAft>
                <a:spcPts val="0"/>
              </a:spcAft>
              <a:buSzPts val="1800"/>
              <a:buChar char="●"/>
            </a:pPr>
            <a:r>
              <a:rPr lang="en"/>
              <a:t>Numpy statistics routines </a:t>
            </a:r>
            <a:endParaRPr/>
          </a:p>
          <a:p>
            <a:pPr marL="914400" lvl="1" indent="-342900" algn="l" rtl="0">
              <a:spcBef>
                <a:spcPts val="0"/>
              </a:spcBef>
              <a:spcAft>
                <a:spcPts val="0"/>
              </a:spcAft>
              <a:buSzPts val="1800"/>
              <a:buChar char="○"/>
            </a:pPr>
            <a:r>
              <a:rPr lang="en" sz="1800" u="sng">
                <a:solidFill>
                  <a:schemeClr val="hlink"/>
                </a:solidFill>
                <a:hlinkClick r:id="rId6"/>
              </a:rPr>
              <a:t>https://docs.scipy.org/doc/numpy/reference/routines.statistics.html</a:t>
            </a:r>
            <a:r>
              <a:rPr lang="en" sz="1800">
                <a:solidFill>
                  <a:schemeClr val="dk1"/>
                </a:solidFill>
              </a:rPr>
              <a:t> </a:t>
            </a:r>
            <a:endParaRPr sz="1800">
              <a:solidFill>
                <a:schemeClr val="dk1"/>
              </a:solidFill>
            </a:endParaRPr>
          </a:p>
          <a:p>
            <a:pPr marL="457200" lvl="0" indent="-342900" algn="l" rtl="0">
              <a:spcBef>
                <a:spcPts val="0"/>
              </a:spcBef>
              <a:spcAft>
                <a:spcPts val="0"/>
              </a:spcAft>
              <a:buSzPts val="1800"/>
              <a:buChar char="●"/>
            </a:pPr>
            <a:r>
              <a:rPr lang="en" sz="1800"/>
              <a:t>SciPy stats</a:t>
            </a:r>
            <a:endParaRPr sz="1800"/>
          </a:p>
          <a:p>
            <a:pPr marL="1371600" lvl="2" indent="-342900" algn="l" rtl="0">
              <a:spcBef>
                <a:spcPts val="0"/>
              </a:spcBef>
              <a:spcAft>
                <a:spcPts val="0"/>
              </a:spcAft>
              <a:buSzPts val="1800"/>
              <a:buChar char="■"/>
            </a:pPr>
            <a:r>
              <a:rPr lang="en" sz="1800" u="sng">
                <a:solidFill>
                  <a:schemeClr val="accent5"/>
                </a:solidFill>
                <a:hlinkClick r:id="rId7">
                  <a:extLst>
                    <a:ext uri="{A12FA001-AC4F-418D-AE19-62706E023703}">
                      <ahyp:hlinkClr xmlns:ahyp="http://schemas.microsoft.com/office/drawing/2018/hyperlinkcolor" val="tx"/>
                    </a:ext>
                  </a:extLst>
                </a:hlinkClick>
              </a:rPr>
              <a:t>https://docs.scipy.org/doc/scipy-1.15.0/reference/stats.html</a:t>
            </a:r>
            <a:r>
              <a:rPr lang="en" sz="1800"/>
              <a:t> </a:t>
            </a:r>
            <a:endParaRPr sz="1800">
              <a:solidFill>
                <a:schemeClr val="dk1"/>
              </a:solidFill>
            </a:endParaRPr>
          </a:p>
          <a:p>
            <a:pPr marL="0" lvl="0" indent="0" algn="l" rtl="0">
              <a:spcBef>
                <a:spcPts val="1600"/>
              </a:spcBef>
              <a:spcAft>
                <a:spcPts val="0"/>
              </a:spcAft>
              <a:buNone/>
            </a:pPr>
            <a:endParaRPr>
              <a:solidFill>
                <a:schemeClr val="dk1"/>
              </a:solidFill>
            </a:endParaRPr>
          </a:p>
        </p:txBody>
      </p:sp>
      <p:sp>
        <p:nvSpPr>
          <p:cNvPr id="299" name="Google Shape;299;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29</a:t>
            </a:fld>
            <a:endParaRPr/>
          </a:p>
        </p:txBody>
      </p:sp>
      <p:pic>
        <p:nvPicPr>
          <p:cNvPr id="300" name="Google Shape;300;p37"/>
          <p:cNvPicPr preferRelativeResize="0"/>
          <p:nvPr/>
        </p:nvPicPr>
        <p:blipFill>
          <a:blip r:embed="rId8">
            <a:alphaModFix/>
          </a:blip>
          <a:stretch>
            <a:fillRect/>
          </a:stretch>
        </p:blipFill>
        <p:spPr>
          <a:xfrm>
            <a:off x="7391400" y="152400"/>
            <a:ext cx="1359149" cy="250150"/>
          </a:xfrm>
          <a:prstGeom prst="rect">
            <a:avLst/>
          </a:prstGeom>
          <a:noFill/>
          <a:ln>
            <a:noFill/>
          </a:ln>
        </p:spPr>
      </p:pic>
      <p:pic>
        <p:nvPicPr>
          <p:cNvPr id="301" name="Google Shape;301;p37"/>
          <p:cNvPicPr preferRelativeResize="0"/>
          <p:nvPr/>
        </p:nvPicPr>
        <p:blipFill>
          <a:blip r:embed="rId9">
            <a:alphaModFix/>
          </a:blip>
          <a:stretch>
            <a:fillRect/>
          </a:stretch>
        </p:blipFill>
        <p:spPr>
          <a:xfrm>
            <a:off x="203250" y="86975"/>
            <a:ext cx="315575" cy="3155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Next steps </a:t>
            </a:r>
            <a:endParaRPr/>
          </a:p>
        </p:txBody>
      </p:sp>
      <p:sp>
        <p:nvSpPr>
          <p:cNvPr id="363" name="Google Shape;363;p4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dirty="0"/>
              <a:t>Learning data science with Python takes time!  Good to see it as a journey, not a destination</a:t>
            </a:r>
            <a:endParaRPr sz="1600" dirty="0"/>
          </a:p>
          <a:p>
            <a:pPr marL="457200" lvl="0" indent="-330200" algn="l" rtl="0">
              <a:spcBef>
                <a:spcPts val="0"/>
              </a:spcBef>
              <a:spcAft>
                <a:spcPts val="0"/>
              </a:spcAft>
              <a:buSzPts val="1600"/>
              <a:buChar char="●"/>
            </a:pPr>
            <a:r>
              <a:rPr lang="en" sz="1600" dirty="0"/>
              <a:t>Contact us anytime! </a:t>
            </a:r>
          </a:p>
          <a:p>
            <a:pPr marL="457200" lvl="0" indent="-330200" algn="l" rtl="0">
              <a:spcBef>
                <a:spcPts val="0"/>
              </a:spcBef>
              <a:spcAft>
                <a:spcPts val="0"/>
              </a:spcAft>
              <a:buSzPts val="1600"/>
              <a:buChar char="●"/>
            </a:pPr>
            <a:r>
              <a:rPr lang="en" sz="1600" dirty="0"/>
              <a:t>Many tutorials available to learn, relatively quickly, how to do the basics in Python</a:t>
            </a:r>
            <a:endParaRPr sz="1600" dirty="0"/>
          </a:p>
          <a:p>
            <a:pPr marL="914400" lvl="1" indent="-330200" algn="l" rtl="0">
              <a:spcBef>
                <a:spcPts val="0"/>
              </a:spcBef>
              <a:spcAft>
                <a:spcPts val="0"/>
              </a:spcAft>
              <a:buSzPts val="1600"/>
              <a:buChar char="-"/>
            </a:pPr>
            <a:r>
              <a:rPr lang="en" sz="1600" dirty="0"/>
              <a:t>Data types (integers, float/decimal, strings, lists, arrays)</a:t>
            </a:r>
            <a:endParaRPr sz="1600" dirty="0"/>
          </a:p>
          <a:p>
            <a:pPr marL="914400" lvl="1" indent="-330200" algn="l" rtl="0">
              <a:spcBef>
                <a:spcPts val="0"/>
              </a:spcBef>
              <a:spcAft>
                <a:spcPts val="0"/>
              </a:spcAft>
              <a:buSzPts val="1600"/>
              <a:buChar char="-"/>
            </a:pPr>
            <a:r>
              <a:rPr lang="en" sz="1600" dirty="0"/>
              <a:t>Control flow, programming if-then-else statements, for loops, while loops, conditionals</a:t>
            </a:r>
            <a:endParaRPr sz="1600" dirty="0"/>
          </a:p>
          <a:p>
            <a:pPr marL="914400" lvl="1" indent="-330200" algn="l" rtl="0">
              <a:spcBef>
                <a:spcPts val="0"/>
              </a:spcBef>
              <a:spcAft>
                <a:spcPts val="0"/>
              </a:spcAft>
              <a:buSzPts val="1600"/>
              <a:buChar char="-"/>
            </a:pPr>
            <a:r>
              <a:rPr lang="en" sz="1600" dirty="0"/>
              <a:t>Writing functions</a:t>
            </a:r>
            <a:endParaRPr sz="1600" dirty="0"/>
          </a:p>
          <a:p>
            <a:pPr marL="457200" lvl="0" indent="-330200" algn="l" rtl="0">
              <a:spcBef>
                <a:spcPts val="0"/>
              </a:spcBef>
              <a:spcAft>
                <a:spcPts val="0"/>
              </a:spcAft>
              <a:buSzPts val="1600"/>
              <a:buChar char="●"/>
            </a:pPr>
            <a:r>
              <a:rPr lang="en" sz="1600" dirty="0"/>
              <a:t>Data wrangling</a:t>
            </a:r>
            <a:endParaRPr sz="1600" dirty="0"/>
          </a:p>
          <a:p>
            <a:pPr marL="914400" lvl="1" indent="-330200" algn="l" rtl="0">
              <a:spcBef>
                <a:spcPts val="0"/>
              </a:spcBef>
              <a:spcAft>
                <a:spcPts val="0"/>
              </a:spcAft>
              <a:buSzPts val="1600"/>
              <a:buChar char="-"/>
            </a:pPr>
            <a:r>
              <a:rPr lang="en" sz="1600" dirty="0"/>
              <a:t>Loading data from CSV, Excel, databases</a:t>
            </a:r>
            <a:endParaRPr sz="1600" dirty="0"/>
          </a:p>
          <a:p>
            <a:pPr marL="914400" lvl="1" indent="-330200" algn="l" rtl="0">
              <a:spcBef>
                <a:spcPts val="0"/>
              </a:spcBef>
              <a:spcAft>
                <a:spcPts val="0"/>
              </a:spcAft>
              <a:buSzPts val="1600"/>
              <a:buChar char="-"/>
            </a:pPr>
            <a:r>
              <a:rPr lang="en" sz="1600" dirty="0"/>
              <a:t>Handling missing values</a:t>
            </a:r>
            <a:endParaRPr sz="1600" dirty="0"/>
          </a:p>
          <a:p>
            <a:pPr marL="914400" lvl="1" indent="-330200" algn="l" rtl="0">
              <a:spcBef>
                <a:spcPts val="0"/>
              </a:spcBef>
              <a:spcAft>
                <a:spcPts val="0"/>
              </a:spcAft>
              <a:buSzPts val="1600"/>
              <a:buChar char="-"/>
            </a:pPr>
            <a:r>
              <a:rPr lang="en" sz="1600" dirty="0"/>
              <a:t>Filtering data, sorting data, grouping data</a:t>
            </a:r>
            <a:endParaRPr sz="1600" dirty="0"/>
          </a:p>
          <a:p>
            <a:pPr marL="457200" lvl="0" indent="-330200" algn="l" rtl="0">
              <a:spcBef>
                <a:spcPts val="0"/>
              </a:spcBef>
              <a:spcAft>
                <a:spcPts val="0"/>
              </a:spcAft>
              <a:buSzPts val="1600"/>
              <a:buChar char="●"/>
            </a:pPr>
            <a:r>
              <a:rPr lang="en" sz="1600" dirty="0"/>
              <a:t>Matplotlib and Seaborn visualizations for Exploratory Data Analysis and final publication graphics</a:t>
            </a:r>
            <a:endParaRPr sz="1600" dirty="0"/>
          </a:p>
        </p:txBody>
      </p:sp>
      <p:sp>
        <p:nvSpPr>
          <p:cNvPr id="364" name="Google Shape;364;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30</a:t>
            </a:fld>
            <a:endParaRPr/>
          </a:p>
        </p:txBody>
      </p:sp>
      <p:pic>
        <p:nvPicPr>
          <p:cNvPr id="365" name="Google Shape;365;p44"/>
          <p:cNvPicPr preferRelativeResize="0"/>
          <p:nvPr/>
        </p:nvPicPr>
        <p:blipFill>
          <a:blip r:embed="rId3">
            <a:alphaModFix/>
          </a:blip>
          <a:stretch>
            <a:fillRect/>
          </a:stretch>
        </p:blipFill>
        <p:spPr>
          <a:xfrm>
            <a:off x="7391400" y="152400"/>
            <a:ext cx="1359149" cy="250150"/>
          </a:xfrm>
          <a:prstGeom prst="rect">
            <a:avLst/>
          </a:prstGeom>
          <a:noFill/>
          <a:ln>
            <a:noFill/>
          </a:ln>
        </p:spPr>
      </p:pic>
      <p:pic>
        <p:nvPicPr>
          <p:cNvPr id="366" name="Google Shape;366;p44"/>
          <p:cNvPicPr preferRelativeResize="0"/>
          <p:nvPr/>
        </p:nvPicPr>
        <p:blipFill>
          <a:blip r:embed="rId4">
            <a:alphaModFix/>
          </a:blip>
          <a:stretch>
            <a:fillRect/>
          </a:stretch>
        </p:blipFill>
        <p:spPr>
          <a:xfrm>
            <a:off x="203250" y="86975"/>
            <a:ext cx="315575" cy="3155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Next steps </a:t>
            </a:r>
            <a:endParaRPr/>
          </a:p>
        </p:txBody>
      </p:sp>
      <p:sp>
        <p:nvSpPr>
          <p:cNvPr id="372" name="Google Shape;372;p45"/>
          <p:cNvSpPr txBox="1">
            <a:spLocks noGrp="1"/>
          </p:cNvSpPr>
          <p:nvPr>
            <p:ph type="body" idx="1"/>
          </p:nvPr>
        </p:nvSpPr>
        <p:spPr>
          <a:xfrm>
            <a:off x="311700" y="9238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t>Work on a small subset of your data first, or work with a built-in dataset to begin to understand the basics </a:t>
            </a:r>
            <a:endParaRPr sz="1600"/>
          </a:p>
          <a:p>
            <a:pPr marL="457200" lvl="0" indent="-330200" algn="l" rtl="0">
              <a:spcBef>
                <a:spcPts val="0"/>
              </a:spcBef>
              <a:spcAft>
                <a:spcPts val="0"/>
              </a:spcAft>
              <a:buSzPts val="1600"/>
              <a:buChar char="●"/>
            </a:pPr>
            <a:r>
              <a:rPr lang="en" sz="1600"/>
              <a:t>Take it a step at a time</a:t>
            </a:r>
            <a:endParaRPr sz="1600"/>
          </a:p>
          <a:p>
            <a:pPr marL="457200" lvl="0" indent="-330200" algn="l" rtl="0">
              <a:spcBef>
                <a:spcPts val="0"/>
              </a:spcBef>
              <a:spcAft>
                <a:spcPts val="0"/>
              </a:spcAft>
              <a:buSzPts val="1600"/>
              <a:buChar char="●"/>
            </a:pPr>
            <a:r>
              <a:rPr lang="en" sz="1600"/>
              <a:t>Get to know your data</a:t>
            </a:r>
            <a:endParaRPr sz="1600"/>
          </a:p>
          <a:p>
            <a:pPr marL="457200" lvl="0" indent="-330200" algn="l" rtl="0">
              <a:spcBef>
                <a:spcPts val="0"/>
              </a:spcBef>
              <a:spcAft>
                <a:spcPts val="0"/>
              </a:spcAft>
              <a:buSzPts val="1600"/>
              <a:buChar char="●"/>
            </a:pPr>
            <a:r>
              <a:rPr lang="en" sz="1600"/>
              <a:t>Don't try to learn everything at once</a:t>
            </a:r>
            <a:endParaRPr sz="1600"/>
          </a:p>
          <a:p>
            <a:pPr marL="457200" lvl="0" indent="-330200" algn="l" rtl="0">
              <a:spcBef>
                <a:spcPts val="0"/>
              </a:spcBef>
              <a:spcAft>
                <a:spcPts val="0"/>
              </a:spcAft>
              <a:buSzPts val="1600"/>
              <a:buChar char="●"/>
            </a:pPr>
            <a:r>
              <a:rPr lang="en" sz="1600"/>
              <a:t>Establish reasonable goals</a:t>
            </a:r>
            <a:endParaRPr sz="1600"/>
          </a:p>
          <a:p>
            <a:pPr marL="457200" lvl="0" indent="-330200" algn="l" rtl="0">
              <a:spcBef>
                <a:spcPts val="0"/>
              </a:spcBef>
              <a:spcAft>
                <a:spcPts val="0"/>
              </a:spcAft>
              <a:buSzPts val="1600"/>
              <a:buChar char="●"/>
            </a:pPr>
            <a:r>
              <a:rPr lang="en" sz="1600"/>
              <a:t>Use built-in data and small subsets of larger datasets first  </a:t>
            </a:r>
            <a:endParaRPr sz="1600"/>
          </a:p>
          <a:p>
            <a:pPr marL="457200" lvl="0" indent="-330200" algn="l" rtl="0">
              <a:spcBef>
                <a:spcPts val="0"/>
              </a:spcBef>
              <a:spcAft>
                <a:spcPts val="0"/>
              </a:spcAft>
              <a:buSzPts val="1600"/>
              <a:buChar char="●"/>
            </a:pPr>
            <a:r>
              <a:rPr lang="en" sz="1600"/>
              <a:t>Follow tutorials, documentation, books and programming resources  </a:t>
            </a:r>
            <a:endParaRPr sz="1600"/>
          </a:p>
          <a:p>
            <a:pPr marL="914400" lvl="1" indent="-330200" algn="l" rtl="0">
              <a:spcBef>
                <a:spcPts val="0"/>
              </a:spcBef>
              <a:spcAft>
                <a:spcPts val="0"/>
              </a:spcAft>
              <a:buSzPts val="1600"/>
              <a:buChar char="-"/>
            </a:pPr>
            <a:r>
              <a:rPr lang="en" sz="1600" u="sng">
                <a:solidFill>
                  <a:schemeClr val="hlink"/>
                </a:solidFill>
                <a:hlinkClick r:id="rId3"/>
              </a:rPr>
              <a:t>https://seaborn.pydata.org/tutorial.html</a:t>
            </a:r>
            <a:r>
              <a:rPr lang="en" sz="1600"/>
              <a:t> </a:t>
            </a:r>
            <a:endParaRPr sz="1600"/>
          </a:p>
          <a:p>
            <a:pPr marL="914400" lvl="1" indent="-330200" algn="l" rtl="0">
              <a:spcBef>
                <a:spcPts val="0"/>
              </a:spcBef>
              <a:spcAft>
                <a:spcPts val="0"/>
              </a:spcAft>
              <a:buSzPts val="1600"/>
              <a:buChar char="-"/>
            </a:pPr>
            <a:r>
              <a:rPr lang="en" sz="1600" u="sng">
                <a:solidFill>
                  <a:schemeClr val="hlink"/>
                </a:solidFill>
                <a:hlinkClick r:id="rId4"/>
              </a:rPr>
              <a:t>https://www.w3schools.com/python/pandas/default.asp</a:t>
            </a:r>
            <a:r>
              <a:rPr lang="en" sz="1600"/>
              <a:t> </a:t>
            </a:r>
            <a:endParaRPr sz="1600"/>
          </a:p>
          <a:p>
            <a:pPr marL="914400" lvl="1" indent="-330200" algn="l" rtl="0">
              <a:spcBef>
                <a:spcPts val="0"/>
              </a:spcBef>
              <a:spcAft>
                <a:spcPts val="0"/>
              </a:spcAft>
              <a:buSzPts val="1600"/>
              <a:buChar char="-"/>
            </a:pPr>
            <a:r>
              <a:rPr lang="en" sz="1600" u="sng">
                <a:solidFill>
                  <a:schemeClr val="hlink"/>
                </a:solidFill>
                <a:hlinkClick r:id="rId5"/>
              </a:rPr>
              <a:t>https://pandas.pydata.org/docs/user_guide/10min.html</a:t>
            </a:r>
            <a:r>
              <a:rPr lang="en" sz="1600"/>
              <a:t> </a:t>
            </a:r>
            <a:endParaRPr sz="1600"/>
          </a:p>
          <a:p>
            <a:pPr marL="914400" lvl="1" indent="-330200" algn="l" rtl="0">
              <a:spcBef>
                <a:spcPts val="0"/>
              </a:spcBef>
              <a:spcAft>
                <a:spcPts val="0"/>
              </a:spcAft>
              <a:buSzPts val="1600"/>
              <a:buChar char="-"/>
            </a:pPr>
            <a:r>
              <a:rPr lang="en" sz="1600" u="sng">
                <a:solidFill>
                  <a:schemeClr val="hlink"/>
                </a:solidFill>
                <a:hlinkClick r:id="rId6"/>
              </a:rPr>
              <a:t>https://stackoverflow.com/</a:t>
            </a:r>
            <a:r>
              <a:rPr lang="en" sz="1600"/>
              <a:t> </a:t>
            </a:r>
            <a:endParaRPr sz="1600"/>
          </a:p>
          <a:p>
            <a:pPr marL="914400" lvl="1" indent="-323850" algn="l" rtl="0">
              <a:spcBef>
                <a:spcPts val="0"/>
              </a:spcBef>
              <a:spcAft>
                <a:spcPts val="0"/>
              </a:spcAft>
              <a:buSzPts val="1500"/>
              <a:buChar char="-"/>
            </a:pPr>
            <a:r>
              <a:rPr lang="en" sz="1500"/>
              <a:t>Software Carpentry </a:t>
            </a:r>
            <a:r>
              <a:rPr lang="en" sz="1500" u="sng">
                <a:solidFill>
                  <a:schemeClr val="accent5"/>
                </a:solidFill>
                <a:hlinkClick r:id="rId7">
                  <a:extLst>
                    <a:ext uri="{A12FA001-AC4F-418D-AE19-62706E023703}">
                      <ahyp:hlinkClr xmlns:ahyp="http://schemas.microsoft.com/office/drawing/2018/hyperlinkcolor" val="tx"/>
                    </a:ext>
                  </a:extLst>
                </a:hlinkClick>
              </a:rPr>
              <a:t>https://swcarpentry.github.io/python-novice-gapminder/</a:t>
            </a:r>
            <a:r>
              <a:rPr lang="en" sz="1500"/>
              <a:t> </a:t>
            </a:r>
            <a:endParaRPr sz="1500"/>
          </a:p>
          <a:p>
            <a:pPr marL="914400" lvl="1" indent="-330200" algn="l" rtl="0">
              <a:spcBef>
                <a:spcPts val="0"/>
              </a:spcBef>
              <a:spcAft>
                <a:spcPts val="0"/>
              </a:spcAft>
              <a:buSzPts val="1600"/>
              <a:buChar char="-"/>
            </a:pPr>
            <a:endParaRPr sz="1600"/>
          </a:p>
        </p:txBody>
      </p:sp>
      <p:sp>
        <p:nvSpPr>
          <p:cNvPr id="373" name="Google Shape;373;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31</a:t>
            </a:fld>
            <a:endParaRPr/>
          </a:p>
        </p:txBody>
      </p:sp>
      <p:pic>
        <p:nvPicPr>
          <p:cNvPr id="374" name="Google Shape;374;p45"/>
          <p:cNvPicPr preferRelativeResize="0"/>
          <p:nvPr/>
        </p:nvPicPr>
        <p:blipFill>
          <a:blip r:embed="rId8">
            <a:alphaModFix/>
          </a:blip>
          <a:stretch>
            <a:fillRect/>
          </a:stretch>
        </p:blipFill>
        <p:spPr>
          <a:xfrm>
            <a:off x="7391400" y="152400"/>
            <a:ext cx="1359149" cy="250150"/>
          </a:xfrm>
          <a:prstGeom prst="rect">
            <a:avLst/>
          </a:prstGeom>
          <a:noFill/>
          <a:ln>
            <a:noFill/>
          </a:ln>
        </p:spPr>
      </p:pic>
      <p:pic>
        <p:nvPicPr>
          <p:cNvPr id="375" name="Google Shape;375;p45"/>
          <p:cNvPicPr preferRelativeResize="0"/>
          <p:nvPr/>
        </p:nvPicPr>
        <p:blipFill>
          <a:blip r:embed="rId9">
            <a:alphaModFix/>
          </a:blip>
          <a:stretch>
            <a:fillRect/>
          </a:stretch>
        </p:blipFill>
        <p:spPr>
          <a:xfrm>
            <a:off x="203250" y="86975"/>
            <a:ext cx="315575" cy="315575"/>
          </a:xfrm>
          <a:prstGeom prst="rect">
            <a:avLst/>
          </a:prstGeom>
          <a:noFill/>
          <a:ln>
            <a:noFill/>
          </a:ln>
        </p:spPr>
      </p:pic>
      <p:sp>
        <p:nvSpPr>
          <p:cNvPr id="376" name="Google Shape;376;p45"/>
          <p:cNvSpPr txBox="1"/>
          <p:nvPr/>
        </p:nvSpPr>
        <p:spPr>
          <a:xfrm>
            <a:off x="699650" y="4613575"/>
            <a:ext cx="6390300" cy="31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chemeClr val="dk2"/>
                </a:solidFill>
              </a:rPr>
              <a:t>More at </a:t>
            </a:r>
            <a:r>
              <a:rPr lang="en" sz="1500" u="sng">
                <a:solidFill>
                  <a:schemeClr val="hlink"/>
                </a:solidFill>
                <a:hlinkClick r:id="rId10"/>
              </a:rPr>
              <a:t>https://github.com/Dartmouth-Libraries/reproducible-research</a:t>
            </a:r>
            <a:r>
              <a:rPr lang="en" sz="1500">
                <a:solidFill>
                  <a:schemeClr val="dk2"/>
                </a:solidFill>
              </a:rPr>
              <a:t> </a:t>
            </a:r>
            <a:endParaRPr sz="1500">
              <a:solidFill>
                <a:schemeClr val="dk2"/>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Resources &amp; Links  </a:t>
            </a:r>
            <a:endParaRPr/>
          </a:p>
        </p:txBody>
      </p:sp>
      <p:sp>
        <p:nvSpPr>
          <p:cNvPr id="382" name="Google Shape;382;p4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dirty="0"/>
              <a:t>Contact us:  </a:t>
            </a:r>
            <a:r>
              <a:rPr lang="en" dirty="0">
                <a:hlinkClick r:id="rId3"/>
              </a:rPr>
              <a:t>https://</a:t>
            </a:r>
            <a:r>
              <a:rPr lang="en" dirty="0" err="1">
                <a:hlinkClick r:id="rId3"/>
              </a:rPr>
              <a:t>rc</a:t>
            </a:r>
            <a:r>
              <a:rPr lang="en" dirty="0">
                <a:hlinkClick r:id="rId3"/>
              </a:rPr>
              <a:t>.</a:t>
            </a:r>
            <a:r>
              <a:rPr lang="en-US" dirty="0">
                <a:hlinkClick r:id="rId3"/>
              </a:rPr>
              <a:t>D</a:t>
            </a:r>
            <a:r>
              <a:rPr lang="en" dirty="0">
                <a:hlinkClick r:id="rId3"/>
              </a:rPr>
              <a:t>artmouth.edu</a:t>
            </a:r>
            <a:r>
              <a:rPr lang="en" dirty="0"/>
              <a:t> </a:t>
            </a:r>
            <a:endParaRPr dirty="0"/>
          </a:p>
          <a:p>
            <a:pPr marL="457200" lvl="0" indent="-342900" algn="l" rtl="0">
              <a:spcBef>
                <a:spcPts val="0"/>
              </a:spcBef>
              <a:spcAft>
                <a:spcPts val="0"/>
              </a:spcAft>
              <a:buSzPts val="1800"/>
              <a:buChar char="●"/>
            </a:pPr>
            <a:r>
              <a:rPr lang="en" dirty="0"/>
              <a:t>Upcoming workshops: </a:t>
            </a:r>
            <a:r>
              <a:rPr lang="en" u="sng" dirty="0">
                <a:solidFill>
                  <a:schemeClr val="hlink"/>
                </a:solidFill>
                <a:hlinkClick r:id="rId4"/>
              </a:rPr>
              <a:t>dartgo.org/rradworkshops</a:t>
            </a:r>
            <a:endParaRPr sz="1800" dirty="0"/>
          </a:p>
          <a:p>
            <a:pPr marL="457200" lvl="0" indent="-342900" algn="l" rtl="0">
              <a:spcBef>
                <a:spcPts val="0"/>
              </a:spcBef>
              <a:spcAft>
                <a:spcPts val="0"/>
              </a:spcAft>
              <a:buSzPts val="1800"/>
              <a:buChar char="●"/>
            </a:pPr>
            <a:r>
              <a:rPr lang="en" dirty="0"/>
              <a:t>Materials will be sent out </a:t>
            </a:r>
            <a:endParaRPr dirty="0"/>
          </a:p>
          <a:p>
            <a:pPr marL="914400" lvl="1" indent="-342900" algn="l" rtl="0">
              <a:spcBef>
                <a:spcPts val="0"/>
              </a:spcBef>
              <a:spcAft>
                <a:spcPts val="0"/>
              </a:spcAft>
              <a:buSzPts val="1800"/>
              <a:buChar char="-"/>
            </a:pPr>
            <a:r>
              <a:rPr lang="en" sz="1800" dirty="0"/>
              <a:t>Slides</a:t>
            </a:r>
            <a:endParaRPr sz="1800" dirty="0"/>
          </a:p>
          <a:p>
            <a:pPr marL="914400" lvl="1" indent="-342900" algn="l" rtl="0">
              <a:spcBef>
                <a:spcPts val="0"/>
              </a:spcBef>
              <a:spcAft>
                <a:spcPts val="0"/>
              </a:spcAft>
              <a:buSzPts val="1800"/>
              <a:buChar char="-"/>
            </a:pPr>
            <a:r>
              <a:rPr lang="en" sz="1800" dirty="0"/>
              <a:t>Code and sample datasets to experiment with </a:t>
            </a:r>
            <a:endParaRPr dirty="0"/>
          </a:p>
        </p:txBody>
      </p:sp>
      <p:sp>
        <p:nvSpPr>
          <p:cNvPr id="383" name="Google Shape;383;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32</a:t>
            </a:fld>
            <a:endParaRPr/>
          </a:p>
        </p:txBody>
      </p:sp>
      <p:pic>
        <p:nvPicPr>
          <p:cNvPr id="384" name="Google Shape;384;p46"/>
          <p:cNvPicPr preferRelativeResize="0"/>
          <p:nvPr/>
        </p:nvPicPr>
        <p:blipFill>
          <a:blip r:embed="rId5">
            <a:alphaModFix/>
          </a:blip>
          <a:stretch>
            <a:fillRect/>
          </a:stretch>
        </p:blipFill>
        <p:spPr>
          <a:xfrm>
            <a:off x="7391400" y="152400"/>
            <a:ext cx="1359149" cy="250150"/>
          </a:xfrm>
          <a:prstGeom prst="rect">
            <a:avLst/>
          </a:prstGeom>
          <a:noFill/>
          <a:ln>
            <a:noFill/>
          </a:ln>
        </p:spPr>
      </p:pic>
      <p:pic>
        <p:nvPicPr>
          <p:cNvPr id="385" name="Google Shape;385;p46"/>
          <p:cNvPicPr preferRelativeResize="0"/>
          <p:nvPr/>
        </p:nvPicPr>
        <p:blipFill>
          <a:blip r:embed="rId6">
            <a:alphaModFix/>
          </a:blip>
          <a:stretch>
            <a:fillRect/>
          </a:stretch>
        </p:blipFill>
        <p:spPr>
          <a:xfrm>
            <a:off x="203250" y="86975"/>
            <a:ext cx="315575" cy="3155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Live Code with built-in dataset</a:t>
            </a:r>
            <a:endParaRPr/>
          </a:p>
        </p:txBody>
      </p:sp>
      <p:sp>
        <p:nvSpPr>
          <p:cNvPr id="391" name="Google Shape;391;p4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Visit </a:t>
            </a:r>
            <a:r>
              <a:rPr lang="en" u="sng">
                <a:solidFill>
                  <a:schemeClr val="hlink"/>
                </a:solidFill>
                <a:hlinkClick r:id="rId3"/>
              </a:rPr>
              <a:t>https://dartgo.org/python-data</a:t>
            </a:r>
            <a:r>
              <a:rPr lang="en"/>
              <a:t> for external data</a:t>
            </a:r>
            <a:endParaRPr/>
          </a:p>
          <a:p>
            <a:pPr marL="0" lvl="0" indent="0" algn="l" rtl="0">
              <a:spcBef>
                <a:spcPts val="1600"/>
              </a:spcBef>
              <a:spcAft>
                <a:spcPts val="0"/>
              </a:spcAft>
              <a:buNone/>
            </a:pPr>
            <a:r>
              <a:rPr lang="en"/>
              <a:t>pip install statsmodels</a:t>
            </a:r>
            <a:endParaRPr/>
          </a:p>
          <a:p>
            <a:pPr marL="0" lvl="0" indent="0" algn="l" rtl="0">
              <a:spcBef>
                <a:spcPts val="1600"/>
              </a:spcBef>
              <a:spcAft>
                <a:spcPts val="0"/>
              </a:spcAft>
              <a:buNone/>
            </a:pPr>
            <a:r>
              <a:rPr lang="en"/>
              <a:t>import pandas as pd</a:t>
            </a:r>
            <a:endParaRPr/>
          </a:p>
          <a:p>
            <a:pPr marL="0" lvl="0" indent="0" algn="l" rtl="0">
              <a:spcBef>
                <a:spcPts val="1600"/>
              </a:spcBef>
              <a:spcAft>
                <a:spcPts val="0"/>
              </a:spcAft>
              <a:buNone/>
            </a:pPr>
            <a:r>
              <a:rPr lang="en"/>
              <a:t>from statsmodels.api import datasets</a:t>
            </a:r>
            <a:endParaRPr/>
          </a:p>
          <a:p>
            <a:pPr marL="0" lvl="0" indent="0" algn="l" rtl="0">
              <a:spcBef>
                <a:spcPts val="1600"/>
              </a:spcBef>
              <a:spcAft>
                <a:spcPts val="0"/>
              </a:spcAft>
              <a:buNone/>
            </a:pPr>
            <a:r>
              <a:rPr lang="en"/>
              <a:t># Load the mtcars dataset</a:t>
            </a:r>
            <a:endParaRPr/>
          </a:p>
          <a:p>
            <a:pPr marL="0" lvl="0" indent="0" algn="l" rtl="0">
              <a:spcBef>
                <a:spcPts val="1600"/>
              </a:spcBef>
              <a:spcAft>
                <a:spcPts val="0"/>
              </a:spcAft>
              <a:buNone/>
            </a:pPr>
            <a:r>
              <a:rPr lang="en"/>
              <a:t>mtcars = datasets.get_rdataset("mtcars").data</a:t>
            </a:r>
            <a:endParaRPr/>
          </a:p>
          <a:p>
            <a:pPr marL="0" lvl="0" indent="0" algn="l" rtl="0">
              <a:spcBef>
                <a:spcPts val="1600"/>
              </a:spcBef>
              <a:spcAft>
                <a:spcPts val="0"/>
              </a:spcAft>
              <a:buNone/>
            </a:pPr>
            <a:r>
              <a:rPr lang="en"/>
              <a:t>print(mtcars.head())</a:t>
            </a:r>
            <a:endParaRPr/>
          </a:p>
          <a:p>
            <a:pPr marL="0" lvl="0" indent="0" algn="l" rtl="0">
              <a:spcBef>
                <a:spcPts val="1600"/>
              </a:spcBef>
              <a:spcAft>
                <a:spcPts val="0"/>
              </a:spcAft>
              <a:buClr>
                <a:schemeClr val="dk1"/>
              </a:buClr>
              <a:buSzPts val="1100"/>
              <a:buFont typeface="Arial"/>
              <a:buNone/>
            </a:pPr>
            <a:endParaRPr/>
          </a:p>
          <a:p>
            <a:pPr marL="0" lvl="0" indent="0" algn="l" rtl="0">
              <a:spcBef>
                <a:spcPts val="1600"/>
              </a:spcBef>
              <a:spcAft>
                <a:spcPts val="1600"/>
              </a:spcAft>
              <a:buNone/>
            </a:pPr>
            <a:r>
              <a:rPr lang="en"/>
              <a:t> </a:t>
            </a:r>
            <a:endParaRPr/>
          </a:p>
        </p:txBody>
      </p:sp>
      <p:sp>
        <p:nvSpPr>
          <p:cNvPr id="392" name="Google Shape;392;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33</a:t>
            </a:fld>
            <a:endParaRPr/>
          </a:p>
        </p:txBody>
      </p:sp>
      <p:pic>
        <p:nvPicPr>
          <p:cNvPr id="393" name="Google Shape;393;p47"/>
          <p:cNvPicPr preferRelativeResize="0"/>
          <p:nvPr/>
        </p:nvPicPr>
        <p:blipFill>
          <a:blip r:embed="rId4">
            <a:alphaModFix/>
          </a:blip>
          <a:stretch>
            <a:fillRect/>
          </a:stretch>
        </p:blipFill>
        <p:spPr>
          <a:xfrm>
            <a:off x="7391400" y="152400"/>
            <a:ext cx="1359149" cy="250150"/>
          </a:xfrm>
          <a:prstGeom prst="rect">
            <a:avLst/>
          </a:prstGeom>
          <a:noFill/>
          <a:ln>
            <a:noFill/>
          </a:ln>
        </p:spPr>
      </p:pic>
      <p:pic>
        <p:nvPicPr>
          <p:cNvPr id="394" name="Google Shape;394;p47"/>
          <p:cNvPicPr preferRelativeResize="0"/>
          <p:nvPr/>
        </p:nvPicPr>
        <p:blipFill>
          <a:blip r:embed="rId5">
            <a:alphaModFix/>
          </a:blip>
          <a:stretch>
            <a:fillRect/>
          </a:stretch>
        </p:blipFill>
        <p:spPr>
          <a:xfrm>
            <a:off x="203250" y="86975"/>
            <a:ext cx="315575" cy="3155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4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Live Code with built in dataset</a:t>
            </a:r>
            <a:endParaRPr/>
          </a:p>
          <a:p>
            <a:pPr marL="0" lvl="0" indent="0" algn="l" rtl="0">
              <a:spcBef>
                <a:spcPts val="0"/>
              </a:spcBef>
              <a:spcAft>
                <a:spcPts val="0"/>
              </a:spcAft>
              <a:buNone/>
            </a:pPr>
            <a:endParaRPr/>
          </a:p>
        </p:txBody>
      </p:sp>
      <p:sp>
        <p:nvSpPr>
          <p:cNvPr id="400" name="Google Shape;400;p4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 Check for missing values</a:t>
            </a:r>
            <a:endParaRPr/>
          </a:p>
          <a:p>
            <a:pPr marL="0" lvl="0" indent="0" algn="l" rtl="0">
              <a:spcBef>
                <a:spcPts val="1600"/>
              </a:spcBef>
              <a:spcAft>
                <a:spcPts val="0"/>
              </a:spcAft>
              <a:buClr>
                <a:schemeClr val="dk1"/>
              </a:buClr>
              <a:buSzPts val="1100"/>
              <a:buFont typeface="Arial"/>
              <a:buNone/>
            </a:pPr>
            <a:r>
              <a:rPr lang="en"/>
              <a:t>print(mtcars.isnull().sum())</a:t>
            </a:r>
            <a:endParaRPr/>
          </a:p>
          <a:p>
            <a:pPr marL="0" lvl="0" indent="0" algn="l" rtl="0">
              <a:spcBef>
                <a:spcPts val="1600"/>
              </a:spcBef>
              <a:spcAft>
                <a:spcPts val="0"/>
              </a:spcAft>
              <a:buClr>
                <a:schemeClr val="dk1"/>
              </a:buClr>
              <a:buSzPts val="1100"/>
              <a:buFont typeface="Arial"/>
              <a:buNone/>
            </a:pPr>
            <a:r>
              <a:rPr lang="en"/>
              <a:t># For this dataset, we can check for and fill missing values as needed</a:t>
            </a:r>
            <a:endParaRPr/>
          </a:p>
          <a:p>
            <a:pPr marL="0" lvl="0" indent="0" algn="l" rtl="0">
              <a:spcBef>
                <a:spcPts val="1600"/>
              </a:spcBef>
              <a:spcAft>
                <a:spcPts val="0"/>
              </a:spcAft>
              <a:buClr>
                <a:schemeClr val="dk1"/>
              </a:buClr>
              <a:buSzPts val="1100"/>
              <a:buFont typeface="Arial"/>
              <a:buNone/>
            </a:pPr>
            <a:r>
              <a:rPr lang="en"/>
              <a:t># As an example, let's replace missing values in 'hp' with the mean of the column</a:t>
            </a:r>
            <a:endParaRPr/>
          </a:p>
          <a:p>
            <a:pPr marL="0" lvl="0" indent="0" algn="l" rtl="0">
              <a:spcBef>
                <a:spcPts val="1600"/>
              </a:spcBef>
              <a:spcAft>
                <a:spcPts val="0"/>
              </a:spcAft>
              <a:buClr>
                <a:schemeClr val="dk1"/>
              </a:buClr>
              <a:buSzPts val="1100"/>
              <a:buFont typeface="Arial"/>
              <a:buNone/>
            </a:pPr>
            <a:r>
              <a:rPr lang="en"/>
              <a:t>mtcars['hp'].fillna(mtcars['hp'].mean(), inplace=True)</a:t>
            </a:r>
            <a:endParaRPr/>
          </a:p>
          <a:p>
            <a:pPr marL="0" lvl="0" indent="0" algn="l" rtl="0">
              <a:spcBef>
                <a:spcPts val="1600"/>
              </a:spcBef>
              <a:spcAft>
                <a:spcPts val="0"/>
              </a:spcAft>
              <a:buClr>
                <a:schemeClr val="dk1"/>
              </a:buClr>
              <a:buSzPts val="1100"/>
              <a:buFont typeface="Arial"/>
              <a:buNone/>
            </a:pPr>
            <a:r>
              <a:rPr lang="en"/>
              <a:t>print(mtcars['hp'].describe())</a:t>
            </a:r>
            <a:endParaRPr/>
          </a:p>
          <a:p>
            <a:pPr marL="0" lvl="0" indent="0" algn="l" rtl="0">
              <a:spcBef>
                <a:spcPts val="1600"/>
              </a:spcBef>
              <a:spcAft>
                <a:spcPts val="0"/>
              </a:spcAft>
              <a:buNone/>
            </a:pPr>
            <a:endParaRPr/>
          </a:p>
          <a:p>
            <a:pPr marL="0" lvl="0" indent="0" algn="l" rtl="0">
              <a:spcBef>
                <a:spcPts val="1600"/>
              </a:spcBef>
              <a:spcAft>
                <a:spcPts val="1600"/>
              </a:spcAft>
              <a:buNone/>
            </a:pPr>
            <a:r>
              <a:rPr lang="en"/>
              <a:t> </a:t>
            </a:r>
            <a:endParaRPr/>
          </a:p>
        </p:txBody>
      </p:sp>
      <p:sp>
        <p:nvSpPr>
          <p:cNvPr id="401" name="Google Shape;401;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34</a:t>
            </a:fld>
            <a:endParaRPr/>
          </a:p>
        </p:txBody>
      </p:sp>
      <p:pic>
        <p:nvPicPr>
          <p:cNvPr id="402" name="Google Shape;402;p48"/>
          <p:cNvPicPr preferRelativeResize="0"/>
          <p:nvPr/>
        </p:nvPicPr>
        <p:blipFill>
          <a:blip r:embed="rId3">
            <a:alphaModFix/>
          </a:blip>
          <a:stretch>
            <a:fillRect/>
          </a:stretch>
        </p:blipFill>
        <p:spPr>
          <a:xfrm>
            <a:off x="7391400" y="152400"/>
            <a:ext cx="1359149" cy="250150"/>
          </a:xfrm>
          <a:prstGeom prst="rect">
            <a:avLst/>
          </a:prstGeom>
          <a:noFill/>
          <a:ln>
            <a:noFill/>
          </a:ln>
        </p:spPr>
      </p:pic>
      <p:pic>
        <p:nvPicPr>
          <p:cNvPr id="403" name="Google Shape;403;p48"/>
          <p:cNvPicPr preferRelativeResize="0"/>
          <p:nvPr/>
        </p:nvPicPr>
        <p:blipFill>
          <a:blip r:embed="rId4">
            <a:alphaModFix/>
          </a:blip>
          <a:stretch>
            <a:fillRect/>
          </a:stretch>
        </p:blipFill>
        <p:spPr>
          <a:xfrm>
            <a:off x="203250" y="86975"/>
            <a:ext cx="315575" cy="3155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4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Live Code with built in dataset</a:t>
            </a:r>
            <a:endParaRPr/>
          </a:p>
          <a:p>
            <a:pPr marL="0" lvl="0" indent="0" algn="l" rtl="0">
              <a:spcBef>
                <a:spcPts val="0"/>
              </a:spcBef>
              <a:spcAft>
                <a:spcPts val="0"/>
              </a:spcAft>
              <a:buNone/>
            </a:pPr>
            <a:endParaRPr/>
          </a:p>
        </p:txBody>
      </p:sp>
      <p:sp>
        <p:nvSpPr>
          <p:cNvPr id="409" name="Google Shape;409;p4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t>import matplotlib.pyplot as plt</a:t>
            </a:r>
            <a:endParaRPr sz="1400"/>
          </a:p>
          <a:p>
            <a:pPr marL="0" lvl="0" indent="0" algn="l" rtl="0">
              <a:spcBef>
                <a:spcPts val="1600"/>
              </a:spcBef>
              <a:spcAft>
                <a:spcPts val="0"/>
              </a:spcAft>
              <a:buNone/>
            </a:pPr>
            <a:r>
              <a:rPr lang="en" sz="1400"/>
              <a:t># Create a scatter plot of 'mpg' vs 'wt' (miles per gallon vs weight)</a:t>
            </a:r>
            <a:endParaRPr sz="1400"/>
          </a:p>
          <a:p>
            <a:pPr marL="0" lvl="0" indent="0" algn="l" rtl="0">
              <a:spcBef>
                <a:spcPts val="1600"/>
              </a:spcBef>
              <a:spcAft>
                <a:spcPts val="0"/>
              </a:spcAft>
              <a:buNone/>
            </a:pPr>
            <a:r>
              <a:rPr lang="en" sz="1400"/>
              <a:t>plt.scatter(mtcars['wt'], mtcars['mpg'], color='blue')</a:t>
            </a:r>
            <a:endParaRPr sz="1400"/>
          </a:p>
          <a:p>
            <a:pPr marL="0" lvl="0" indent="0" algn="l" rtl="0">
              <a:spcBef>
                <a:spcPts val="1600"/>
              </a:spcBef>
              <a:spcAft>
                <a:spcPts val="0"/>
              </a:spcAft>
              <a:buNone/>
            </a:pPr>
            <a:r>
              <a:rPr lang="en" sz="1400"/>
              <a:t>plt.xlabel('Weight (1000 lbs)')</a:t>
            </a:r>
            <a:endParaRPr sz="1400"/>
          </a:p>
          <a:p>
            <a:pPr marL="0" lvl="0" indent="0" algn="l" rtl="0">
              <a:spcBef>
                <a:spcPts val="1600"/>
              </a:spcBef>
              <a:spcAft>
                <a:spcPts val="0"/>
              </a:spcAft>
              <a:buNone/>
            </a:pPr>
            <a:r>
              <a:rPr lang="en" sz="1400"/>
              <a:t>plt.ylabel('Miles per Gallon (mpg)')</a:t>
            </a:r>
            <a:endParaRPr sz="1400"/>
          </a:p>
          <a:p>
            <a:pPr marL="0" lvl="0" indent="0" algn="l" rtl="0">
              <a:spcBef>
                <a:spcPts val="1600"/>
              </a:spcBef>
              <a:spcAft>
                <a:spcPts val="0"/>
              </a:spcAft>
              <a:buNone/>
            </a:pPr>
            <a:r>
              <a:rPr lang="en" sz="1400"/>
              <a:t>plt.title('Scatter plot of mpg vs. wt')</a:t>
            </a:r>
            <a:endParaRPr sz="1400"/>
          </a:p>
          <a:p>
            <a:pPr marL="0" lvl="0" indent="0" algn="l" rtl="0">
              <a:spcBef>
                <a:spcPts val="1600"/>
              </a:spcBef>
              <a:spcAft>
                <a:spcPts val="0"/>
              </a:spcAft>
              <a:buNone/>
            </a:pPr>
            <a:r>
              <a:rPr lang="en" sz="1400"/>
              <a:t>plt.grid()</a:t>
            </a:r>
            <a:endParaRPr sz="1400"/>
          </a:p>
          <a:p>
            <a:pPr marL="0" lvl="0" indent="0" algn="l" rtl="0">
              <a:spcBef>
                <a:spcPts val="1600"/>
              </a:spcBef>
              <a:spcAft>
                <a:spcPts val="1600"/>
              </a:spcAft>
              <a:buNone/>
            </a:pPr>
            <a:r>
              <a:rPr lang="en" sz="1400"/>
              <a:t>plt.show()</a:t>
            </a:r>
            <a:endParaRPr sz="1400"/>
          </a:p>
        </p:txBody>
      </p:sp>
      <p:sp>
        <p:nvSpPr>
          <p:cNvPr id="410" name="Google Shape;410;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35</a:t>
            </a:fld>
            <a:endParaRPr/>
          </a:p>
        </p:txBody>
      </p:sp>
      <p:pic>
        <p:nvPicPr>
          <p:cNvPr id="411" name="Google Shape;411;p49"/>
          <p:cNvPicPr preferRelativeResize="0"/>
          <p:nvPr/>
        </p:nvPicPr>
        <p:blipFill>
          <a:blip r:embed="rId3">
            <a:alphaModFix/>
          </a:blip>
          <a:stretch>
            <a:fillRect/>
          </a:stretch>
        </p:blipFill>
        <p:spPr>
          <a:xfrm>
            <a:off x="7391400" y="152400"/>
            <a:ext cx="1359149" cy="250150"/>
          </a:xfrm>
          <a:prstGeom prst="rect">
            <a:avLst/>
          </a:prstGeom>
          <a:noFill/>
          <a:ln>
            <a:noFill/>
          </a:ln>
        </p:spPr>
      </p:pic>
      <p:pic>
        <p:nvPicPr>
          <p:cNvPr id="412" name="Google Shape;412;p49"/>
          <p:cNvPicPr preferRelativeResize="0"/>
          <p:nvPr/>
        </p:nvPicPr>
        <p:blipFill>
          <a:blip r:embed="rId4">
            <a:alphaModFix/>
          </a:blip>
          <a:stretch>
            <a:fillRect/>
          </a:stretch>
        </p:blipFill>
        <p:spPr>
          <a:xfrm>
            <a:off x="203250" y="86975"/>
            <a:ext cx="315575" cy="3155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Result</a:t>
            </a:r>
            <a:endParaRPr/>
          </a:p>
          <a:p>
            <a:pPr marL="0" lvl="0" indent="0" algn="l" rtl="0">
              <a:spcBef>
                <a:spcPts val="0"/>
              </a:spcBef>
              <a:spcAft>
                <a:spcPts val="0"/>
              </a:spcAft>
              <a:buNone/>
            </a:pPr>
            <a:endParaRPr/>
          </a:p>
        </p:txBody>
      </p:sp>
      <p:sp>
        <p:nvSpPr>
          <p:cNvPr id="418" name="Google Shape;418;p50"/>
          <p:cNvSpPr txBox="1">
            <a:spLocks noGrp="1"/>
          </p:cNvSpPr>
          <p:nvPr>
            <p:ph type="body" idx="1"/>
          </p:nvPr>
        </p:nvSpPr>
        <p:spPr>
          <a:xfrm>
            <a:off x="311700" y="1152475"/>
            <a:ext cx="3587947" cy="3416400"/>
          </a:xfrm>
          <a:prstGeom prst="rect">
            <a:avLst/>
          </a:prstGeom>
        </p:spPr>
        <p:txBody>
          <a:bodyPr spcFirstLastPara="1" wrap="square" lIns="91425" tIns="91425" rIns="91425" bIns="91425" anchor="t" anchorCtr="0">
            <a:noAutofit/>
          </a:bodyPr>
          <a:lstStyle/>
          <a:p>
            <a:pPr marL="0" lvl="0" indent="0" algn="l" rtl="0">
              <a:lnSpc>
                <a:spcPct val="150000"/>
              </a:lnSpc>
              <a:buNone/>
            </a:pPr>
            <a:r>
              <a:rPr lang="en" sz="1200" dirty="0">
                <a:latin typeface="Courier New" panose="02070309020205020404" pitchFamily="49" charset="0"/>
              </a:rPr>
              <a:t>import </a:t>
            </a:r>
            <a:r>
              <a:rPr lang="en" sz="1200" dirty="0" err="1">
                <a:latin typeface="Courier New" panose="02070309020205020404" pitchFamily="49" charset="0"/>
              </a:rPr>
              <a:t>matplotlib.pyplot</a:t>
            </a:r>
            <a:r>
              <a:rPr lang="en" sz="1200" dirty="0">
                <a:latin typeface="Courier New" panose="02070309020205020404" pitchFamily="49" charset="0"/>
              </a:rPr>
              <a:t> as </a:t>
            </a:r>
            <a:r>
              <a:rPr lang="en" sz="1200" dirty="0" err="1">
                <a:latin typeface="Courier New" panose="02070309020205020404" pitchFamily="49" charset="0"/>
              </a:rPr>
              <a:t>plt</a:t>
            </a:r>
            <a:endParaRPr sz="1200" dirty="0">
              <a:latin typeface="Courier New" panose="02070309020205020404" pitchFamily="49" charset="0"/>
            </a:endParaRPr>
          </a:p>
          <a:p>
            <a:pPr marL="0" lvl="0" indent="0" algn="l" rtl="0">
              <a:lnSpc>
                <a:spcPct val="150000"/>
              </a:lnSpc>
              <a:buNone/>
            </a:pPr>
            <a:r>
              <a:rPr lang="en" sz="1200" dirty="0">
                <a:latin typeface="Courier New" panose="02070309020205020404" pitchFamily="49" charset="0"/>
              </a:rPr>
              <a:t># Create a scatter plot of 'mpg' vs '</a:t>
            </a:r>
            <a:r>
              <a:rPr lang="en" sz="1200" dirty="0" err="1">
                <a:latin typeface="Courier New" panose="02070309020205020404" pitchFamily="49" charset="0"/>
              </a:rPr>
              <a:t>wt</a:t>
            </a:r>
            <a:r>
              <a:rPr lang="en" sz="1200" dirty="0">
                <a:latin typeface="Courier New" panose="02070309020205020404" pitchFamily="49" charset="0"/>
              </a:rPr>
              <a:t>' (miles per gallon vs weight)</a:t>
            </a:r>
            <a:endParaRPr sz="1200" dirty="0">
              <a:latin typeface="Courier New" panose="02070309020205020404" pitchFamily="49" charset="0"/>
            </a:endParaRPr>
          </a:p>
          <a:p>
            <a:pPr marL="0" lvl="0" indent="0" algn="l" rtl="0">
              <a:lnSpc>
                <a:spcPct val="150000"/>
              </a:lnSpc>
              <a:buNone/>
            </a:pPr>
            <a:r>
              <a:rPr lang="en" sz="1200" dirty="0" err="1">
                <a:latin typeface="Courier New" panose="02070309020205020404" pitchFamily="49" charset="0"/>
              </a:rPr>
              <a:t>plt.scatter</a:t>
            </a:r>
            <a:r>
              <a:rPr lang="en" sz="1200" dirty="0">
                <a:latin typeface="Courier New" panose="02070309020205020404" pitchFamily="49" charset="0"/>
              </a:rPr>
              <a:t>(</a:t>
            </a:r>
            <a:r>
              <a:rPr lang="en" sz="1200" dirty="0" err="1">
                <a:latin typeface="Courier New" panose="02070309020205020404" pitchFamily="49" charset="0"/>
              </a:rPr>
              <a:t>mtcars</a:t>
            </a:r>
            <a:r>
              <a:rPr lang="en" sz="1200" dirty="0">
                <a:latin typeface="Courier New" panose="02070309020205020404" pitchFamily="49" charset="0"/>
              </a:rPr>
              <a:t>['</a:t>
            </a:r>
            <a:r>
              <a:rPr lang="en" sz="1200" dirty="0" err="1">
                <a:latin typeface="Courier New" panose="02070309020205020404" pitchFamily="49" charset="0"/>
              </a:rPr>
              <a:t>wt</a:t>
            </a:r>
            <a:r>
              <a:rPr lang="en" sz="1200" dirty="0">
                <a:latin typeface="Courier New" panose="02070309020205020404" pitchFamily="49" charset="0"/>
              </a:rPr>
              <a:t>'], </a:t>
            </a:r>
            <a:r>
              <a:rPr lang="en" sz="1200" dirty="0" err="1">
                <a:latin typeface="Courier New" panose="02070309020205020404" pitchFamily="49" charset="0"/>
              </a:rPr>
              <a:t>mtcars</a:t>
            </a:r>
            <a:r>
              <a:rPr lang="en" sz="1200" dirty="0">
                <a:latin typeface="Courier New" panose="02070309020205020404" pitchFamily="49" charset="0"/>
              </a:rPr>
              <a:t>['mpg'], color='blue')</a:t>
            </a:r>
            <a:endParaRPr sz="1200" dirty="0">
              <a:latin typeface="Courier New" panose="02070309020205020404" pitchFamily="49" charset="0"/>
            </a:endParaRPr>
          </a:p>
          <a:p>
            <a:pPr marL="0" lvl="0" indent="0" algn="l" rtl="0">
              <a:lnSpc>
                <a:spcPct val="150000"/>
              </a:lnSpc>
              <a:buNone/>
            </a:pPr>
            <a:r>
              <a:rPr lang="en" sz="1200" dirty="0" err="1">
                <a:latin typeface="Courier New" panose="02070309020205020404" pitchFamily="49" charset="0"/>
              </a:rPr>
              <a:t>plt.xlabel</a:t>
            </a:r>
            <a:r>
              <a:rPr lang="en" sz="1200" dirty="0">
                <a:latin typeface="Courier New" panose="02070309020205020404" pitchFamily="49" charset="0"/>
              </a:rPr>
              <a:t>('Weight (1000 </a:t>
            </a:r>
            <a:r>
              <a:rPr lang="en" sz="1200" dirty="0" err="1">
                <a:latin typeface="Courier New" panose="02070309020205020404" pitchFamily="49" charset="0"/>
              </a:rPr>
              <a:t>lbs</a:t>
            </a:r>
            <a:r>
              <a:rPr lang="en" sz="1200" dirty="0">
                <a:latin typeface="Courier New" panose="02070309020205020404" pitchFamily="49" charset="0"/>
              </a:rPr>
              <a:t>)')</a:t>
            </a:r>
            <a:endParaRPr sz="1200" dirty="0">
              <a:latin typeface="Courier New" panose="02070309020205020404" pitchFamily="49" charset="0"/>
            </a:endParaRPr>
          </a:p>
          <a:p>
            <a:pPr marL="0" lvl="0" indent="0" algn="l" rtl="0">
              <a:lnSpc>
                <a:spcPct val="150000"/>
              </a:lnSpc>
              <a:buNone/>
            </a:pPr>
            <a:r>
              <a:rPr lang="en" sz="1200" dirty="0" err="1">
                <a:latin typeface="Courier New" panose="02070309020205020404" pitchFamily="49" charset="0"/>
              </a:rPr>
              <a:t>plt.ylabel</a:t>
            </a:r>
            <a:r>
              <a:rPr lang="en" sz="1200" dirty="0">
                <a:latin typeface="Courier New" panose="02070309020205020404" pitchFamily="49" charset="0"/>
              </a:rPr>
              <a:t>('Miles per Gallon (mpg)')</a:t>
            </a:r>
            <a:endParaRPr sz="1200" dirty="0">
              <a:latin typeface="Courier New" panose="02070309020205020404" pitchFamily="49" charset="0"/>
            </a:endParaRPr>
          </a:p>
          <a:p>
            <a:pPr marL="0" lvl="0" indent="0" algn="l" rtl="0">
              <a:lnSpc>
                <a:spcPct val="150000"/>
              </a:lnSpc>
              <a:buNone/>
            </a:pPr>
            <a:r>
              <a:rPr lang="en" sz="1200" dirty="0" err="1">
                <a:latin typeface="Courier New" panose="02070309020205020404" pitchFamily="49" charset="0"/>
              </a:rPr>
              <a:t>plt.title</a:t>
            </a:r>
            <a:r>
              <a:rPr lang="en" sz="1200" dirty="0">
                <a:latin typeface="Courier New" panose="02070309020205020404" pitchFamily="49" charset="0"/>
              </a:rPr>
              <a:t>('Scatter plot of mpg vs. </a:t>
            </a:r>
            <a:r>
              <a:rPr lang="en" sz="1200" dirty="0" err="1">
                <a:latin typeface="Courier New" panose="02070309020205020404" pitchFamily="49" charset="0"/>
              </a:rPr>
              <a:t>wt</a:t>
            </a:r>
            <a:r>
              <a:rPr lang="en" sz="1200" dirty="0">
                <a:latin typeface="Courier New" panose="02070309020205020404" pitchFamily="49" charset="0"/>
              </a:rPr>
              <a:t>')</a:t>
            </a:r>
            <a:endParaRPr sz="1200" dirty="0">
              <a:latin typeface="Courier New" panose="02070309020205020404" pitchFamily="49" charset="0"/>
            </a:endParaRPr>
          </a:p>
          <a:p>
            <a:pPr marL="0" lvl="0" indent="0" algn="l" rtl="0">
              <a:lnSpc>
                <a:spcPct val="150000"/>
              </a:lnSpc>
              <a:buNone/>
            </a:pPr>
            <a:r>
              <a:rPr lang="en" sz="1200" dirty="0" err="1">
                <a:latin typeface="Courier New" panose="02070309020205020404" pitchFamily="49" charset="0"/>
              </a:rPr>
              <a:t>plt.grid</a:t>
            </a:r>
            <a:r>
              <a:rPr lang="en" sz="1200" dirty="0">
                <a:latin typeface="Courier New" panose="02070309020205020404" pitchFamily="49" charset="0"/>
              </a:rPr>
              <a:t>()</a:t>
            </a:r>
            <a:endParaRPr sz="1200" dirty="0">
              <a:latin typeface="Courier New" panose="02070309020205020404" pitchFamily="49" charset="0"/>
            </a:endParaRPr>
          </a:p>
          <a:p>
            <a:pPr marL="0" lvl="0" indent="0" algn="l" rtl="0">
              <a:lnSpc>
                <a:spcPct val="150000"/>
              </a:lnSpc>
              <a:buNone/>
            </a:pPr>
            <a:r>
              <a:rPr lang="en" sz="1200" dirty="0" err="1">
                <a:latin typeface="Courier New" panose="02070309020205020404" pitchFamily="49" charset="0"/>
              </a:rPr>
              <a:t>plt.show</a:t>
            </a:r>
            <a:r>
              <a:rPr lang="en" sz="1200" dirty="0">
                <a:latin typeface="Courier New" panose="02070309020205020404" pitchFamily="49" charset="0"/>
              </a:rPr>
              <a:t>()</a:t>
            </a:r>
            <a:endParaRPr sz="1200" dirty="0">
              <a:latin typeface="Courier New" panose="02070309020205020404" pitchFamily="49" charset="0"/>
            </a:endParaRPr>
          </a:p>
        </p:txBody>
      </p:sp>
      <p:sp>
        <p:nvSpPr>
          <p:cNvPr id="419" name="Google Shape;419;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36</a:t>
            </a:fld>
            <a:endParaRPr/>
          </a:p>
        </p:txBody>
      </p:sp>
      <p:pic>
        <p:nvPicPr>
          <p:cNvPr id="420" name="Google Shape;420;p50"/>
          <p:cNvPicPr preferRelativeResize="0"/>
          <p:nvPr/>
        </p:nvPicPr>
        <p:blipFill>
          <a:blip r:embed="rId3">
            <a:alphaModFix/>
          </a:blip>
          <a:stretch>
            <a:fillRect/>
          </a:stretch>
        </p:blipFill>
        <p:spPr>
          <a:xfrm>
            <a:off x="7391400" y="152400"/>
            <a:ext cx="1359149" cy="250150"/>
          </a:xfrm>
          <a:prstGeom prst="rect">
            <a:avLst/>
          </a:prstGeom>
          <a:noFill/>
          <a:ln>
            <a:noFill/>
          </a:ln>
        </p:spPr>
      </p:pic>
      <p:pic>
        <p:nvPicPr>
          <p:cNvPr id="421" name="Google Shape;421;p50"/>
          <p:cNvPicPr preferRelativeResize="0"/>
          <p:nvPr/>
        </p:nvPicPr>
        <p:blipFill>
          <a:blip r:embed="rId4">
            <a:alphaModFix/>
          </a:blip>
          <a:stretch>
            <a:fillRect/>
          </a:stretch>
        </p:blipFill>
        <p:spPr>
          <a:xfrm>
            <a:off x="203250" y="86975"/>
            <a:ext cx="315575" cy="315575"/>
          </a:xfrm>
          <a:prstGeom prst="rect">
            <a:avLst/>
          </a:prstGeom>
          <a:noFill/>
          <a:ln>
            <a:noFill/>
          </a:ln>
        </p:spPr>
      </p:pic>
      <p:pic>
        <p:nvPicPr>
          <p:cNvPr id="422" name="Google Shape;422;p50"/>
          <p:cNvPicPr preferRelativeResize="0"/>
          <p:nvPr/>
        </p:nvPicPr>
        <p:blipFill>
          <a:blip r:embed="rId5">
            <a:alphaModFix/>
          </a:blip>
          <a:stretch>
            <a:fillRect/>
          </a:stretch>
        </p:blipFill>
        <p:spPr>
          <a:xfrm>
            <a:off x="4085869" y="577388"/>
            <a:ext cx="4981101" cy="3988450"/>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16">
          <a:extLst>
            <a:ext uri="{FF2B5EF4-FFF2-40B4-BE49-F238E27FC236}">
              <a16:creationId xmlns:a16="http://schemas.microsoft.com/office/drawing/2014/main" id="{A7AB6E06-278D-42AA-DF03-70B9C675CD30}"/>
            </a:ext>
          </a:extLst>
        </p:cNvPr>
        <p:cNvGrpSpPr/>
        <p:nvPr/>
      </p:nvGrpSpPr>
      <p:grpSpPr>
        <a:xfrm>
          <a:off x="0" y="0"/>
          <a:ext cx="0" cy="0"/>
          <a:chOff x="0" y="0"/>
          <a:chExt cx="0" cy="0"/>
        </a:xfrm>
      </p:grpSpPr>
      <p:sp>
        <p:nvSpPr>
          <p:cNvPr id="417" name="Google Shape;417;p50">
            <a:extLst>
              <a:ext uri="{FF2B5EF4-FFF2-40B4-BE49-F238E27FC236}">
                <a16:creationId xmlns:a16="http://schemas.microsoft.com/office/drawing/2014/main" id="{F20127FA-0AE5-0E4B-4185-D114DFC14083}"/>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dirty="0"/>
              <a:t>g</a:t>
            </a:r>
            <a:r>
              <a:rPr lang="en" dirty="0" err="1"/>
              <a:t>gplot</a:t>
            </a:r>
            <a:r>
              <a:rPr lang="en" dirty="0"/>
              <a:t> / R </a:t>
            </a:r>
            <a:endParaRPr dirty="0"/>
          </a:p>
          <a:p>
            <a:pPr marL="0" lvl="0" indent="0" algn="l" rtl="0">
              <a:spcBef>
                <a:spcPts val="0"/>
              </a:spcBef>
              <a:spcAft>
                <a:spcPts val="0"/>
              </a:spcAft>
              <a:buNone/>
            </a:pPr>
            <a:endParaRPr dirty="0"/>
          </a:p>
        </p:txBody>
      </p:sp>
      <p:sp>
        <p:nvSpPr>
          <p:cNvPr id="418" name="Google Shape;418;p50">
            <a:extLst>
              <a:ext uri="{FF2B5EF4-FFF2-40B4-BE49-F238E27FC236}">
                <a16:creationId xmlns:a16="http://schemas.microsoft.com/office/drawing/2014/main" id="{D9D004CB-AACE-738E-08D8-94AD06033036}"/>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600" dirty="0"/>
              <a:t>Know R or </a:t>
            </a:r>
            <a:r>
              <a:rPr lang="en-US" sz="1600" dirty="0" err="1"/>
              <a:t>GGPlot</a:t>
            </a:r>
            <a:r>
              <a:rPr lang="en-US" sz="1600" dirty="0"/>
              <a:t> syntax?? </a:t>
            </a:r>
          </a:p>
          <a:p>
            <a:pPr marL="0" lvl="0" indent="0" algn="l" rtl="0">
              <a:spcBef>
                <a:spcPts val="0"/>
              </a:spcBef>
              <a:spcAft>
                <a:spcPts val="0"/>
              </a:spcAft>
              <a:buNone/>
            </a:pPr>
            <a:endParaRPr lang="en-US" sz="1600" dirty="0"/>
          </a:p>
          <a:p>
            <a:pPr marL="114300" indent="0">
              <a:buNone/>
            </a:pPr>
            <a:r>
              <a:rPr lang="en-US" sz="1600" dirty="0"/>
              <a:t>import </a:t>
            </a:r>
            <a:r>
              <a:rPr lang="en-US" sz="1600" dirty="0" err="1"/>
              <a:t>plotnine</a:t>
            </a:r>
            <a:r>
              <a:rPr lang="en-US" sz="1600" dirty="0"/>
              <a:t> as p9</a:t>
            </a:r>
          </a:p>
          <a:p>
            <a:pPr marL="114300" indent="0">
              <a:buNone/>
            </a:pPr>
            <a:r>
              <a:rPr lang="en-US" sz="1600" dirty="0"/>
              <a:t>import pandas as pd</a:t>
            </a:r>
          </a:p>
          <a:p>
            <a:pPr marL="114300" indent="0">
              <a:buNone/>
            </a:pPr>
            <a:r>
              <a:rPr lang="en-US" sz="1600" dirty="0"/>
              <a:t>import seaborn as </a:t>
            </a:r>
            <a:r>
              <a:rPr lang="en-US" sz="1600" dirty="0" err="1"/>
              <a:t>sns</a:t>
            </a:r>
            <a:br>
              <a:rPr lang="en-US" sz="1600" dirty="0"/>
            </a:br>
            <a:r>
              <a:rPr lang="en-US" sz="1600" dirty="0"/>
              <a:t># Load the Palmer Penguins dataset</a:t>
            </a:r>
          </a:p>
          <a:p>
            <a:pPr marL="114300" indent="0">
              <a:buNone/>
            </a:pPr>
            <a:r>
              <a:rPr lang="en-US" sz="1600" dirty="0"/>
              <a:t>penguins = </a:t>
            </a:r>
            <a:r>
              <a:rPr lang="en-US" sz="1600" dirty="0" err="1"/>
              <a:t>sns.load_dataset</a:t>
            </a:r>
            <a:r>
              <a:rPr lang="en-US" sz="1600" dirty="0"/>
              <a:t>('penguins')</a:t>
            </a:r>
          </a:p>
          <a:p>
            <a:pPr marL="114300" indent="0">
              <a:buNone/>
            </a:pPr>
            <a:r>
              <a:rPr lang="en-US" sz="1600" dirty="0"/>
              <a:t># Create a </a:t>
            </a:r>
            <a:r>
              <a:rPr lang="en-US" sz="1600" dirty="0" err="1"/>
              <a:t>ggplot</a:t>
            </a:r>
            <a:r>
              <a:rPr lang="en-US" sz="1600" dirty="0"/>
              <a:t> scatter plot</a:t>
            </a:r>
          </a:p>
          <a:p>
            <a:pPr marL="114300" indent="0">
              <a:buNone/>
            </a:pPr>
            <a:r>
              <a:rPr lang="en-US" sz="1600" dirty="0"/>
              <a:t>(p9.ggplot(penguins, p9.aes(x='</a:t>
            </a:r>
            <a:r>
              <a:rPr lang="en-US" sz="1600" dirty="0" err="1"/>
              <a:t>flipper_length_mm</a:t>
            </a:r>
            <a:r>
              <a:rPr lang="en-US" sz="1600" dirty="0"/>
              <a:t>', y='</a:t>
            </a:r>
            <a:r>
              <a:rPr lang="en-US" sz="1600" dirty="0" err="1"/>
              <a:t>bill_length_mm</a:t>
            </a:r>
            <a:r>
              <a:rPr lang="en-US" sz="1600" dirty="0"/>
              <a:t>', color='species’))</a:t>
            </a:r>
          </a:p>
          <a:p>
            <a:pPr marL="114300" indent="0">
              <a:buNone/>
            </a:pPr>
            <a:r>
              <a:rPr lang="en-US" sz="1600" dirty="0"/>
              <a:t>	+ p9.geom_point()</a:t>
            </a:r>
          </a:p>
          <a:p>
            <a:pPr marL="114300" indent="0">
              <a:buNone/>
            </a:pPr>
            <a:r>
              <a:rPr lang="en-US" sz="1600" dirty="0"/>
              <a:t>	+ p9.labs(title='Flipper Length vs. Bill Length by Species', x='Flipper 	Length (mm)', y='Bill Length (mm)'))</a:t>
            </a:r>
          </a:p>
          <a:p>
            <a:pPr marL="0" lvl="0" indent="0" algn="l" rtl="0">
              <a:spcBef>
                <a:spcPts val="0"/>
              </a:spcBef>
              <a:spcAft>
                <a:spcPts val="0"/>
              </a:spcAft>
              <a:buNone/>
            </a:pPr>
            <a:endParaRPr sz="1600" dirty="0"/>
          </a:p>
        </p:txBody>
      </p:sp>
      <p:sp>
        <p:nvSpPr>
          <p:cNvPr id="419" name="Google Shape;419;p50">
            <a:extLst>
              <a:ext uri="{FF2B5EF4-FFF2-40B4-BE49-F238E27FC236}">
                <a16:creationId xmlns:a16="http://schemas.microsoft.com/office/drawing/2014/main" id="{F81599E9-9FBA-6098-ACD9-11E79C41BC9E}"/>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37</a:t>
            </a:fld>
            <a:endParaRPr/>
          </a:p>
        </p:txBody>
      </p:sp>
      <p:pic>
        <p:nvPicPr>
          <p:cNvPr id="420" name="Google Shape;420;p50">
            <a:extLst>
              <a:ext uri="{FF2B5EF4-FFF2-40B4-BE49-F238E27FC236}">
                <a16:creationId xmlns:a16="http://schemas.microsoft.com/office/drawing/2014/main" id="{998F14F6-FEFC-8A06-E848-F91C19E9E8FD}"/>
              </a:ext>
            </a:extLst>
          </p:cNvPr>
          <p:cNvPicPr preferRelativeResize="0"/>
          <p:nvPr/>
        </p:nvPicPr>
        <p:blipFill>
          <a:blip r:embed="rId3">
            <a:alphaModFix/>
          </a:blip>
          <a:stretch>
            <a:fillRect/>
          </a:stretch>
        </p:blipFill>
        <p:spPr>
          <a:xfrm>
            <a:off x="7391400" y="152400"/>
            <a:ext cx="1359149" cy="250150"/>
          </a:xfrm>
          <a:prstGeom prst="rect">
            <a:avLst/>
          </a:prstGeom>
          <a:noFill/>
          <a:ln>
            <a:noFill/>
          </a:ln>
        </p:spPr>
      </p:pic>
      <p:pic>
        <p:nvPicPr>
          <p:cNvPr id="421" name="Google Shape;421;p50">
            <a:extLst>
              <a:ext uri="{FF2B5EF4-FFF2-40B4-BE49-F238E27FC236}">
                <a16:creationId xmlns:a16="http://schemas.microsoft.com/office/drawing/2014/main" id="{5727A101-F8C8-1775-3725-903491A09DBD}"/>
              </a:ext>
            </a:extLst>
          </p:cNvPr>
          <p:cNvPicPr preferRelativeResize="0"/>
          <p:nvPr/>
        </p:nvPicPr>
        <p:blipFill>
          <a:blip r:embed="rId4">
            <a:alphaModFix/>
          </a:blip>
          <a:stretch>
            <a:fillRect/>
          </a:stretch>
        </p:blipFill>
        <p:spPr>
          <a:xfrm>
            <a:off x="203250" y="86975"/>
            <a:ext cx="315575" cy="315575"/>
          </a:xfrm>
          <a:prstGeom prst="rect">
            <a:avLst/>
          </a:prstGeom>
          <a:noFill/>
          <a:ln>
            <a:noFill/>
          </a:ln>
        </p:spPr>
      </p:pic>
      <p:pic>
        <p:nvPicPr>
          <p:cNvPr id="3" name="Picture 2" descr="A screenshot of a computer&#10;&#10;AI-generated content may be incorrect.">
            <a:extLst>
              <a:ext uri="{FF2B5EF4-FFF2-40B4-BE49-F238E27FC236}">
                <a16:creationId xmlns:a16="http://schemas.microsoft.com/office/drawing/2014/main" id="{8CC26654-789B-070D-607D-9C9DA21DEE24}"/>
              </a:ext>
            </a:extLst>
          </p:cNvPr>
          <p:cNvPicPr>
            <a:picLocks noChangeAspect="1"/>
          </p:cNvPicPr>
          <p:nvPr/>
        </p:nvPicPr>
        <p:blipFill>
          <a:blip r:embed="rId5"/>
          <a:stretch>
            <a:fillRect/>
          </a:stretch>
        </p:blipFill>
        <p:spPr>
          <a:xfrm>
            <a:off x="4257113" y="857250"/>
            <a:ext cx="4610100" cy="3429000"/>
          </a:xfrm>
          <a:prstGeom prst="rect">
            <a:avLst/>
          </a:prstGeom>
          <a:effectLst>
            <a:outerShdw blurRad="50800" dist="38100" dir="8100000" algn="tr" rotWithShape="0">
              <a:prstClr val="black">
                <a:alpha val="40000"/>
              </a:prstClr>
            </a:outerShdw>
          </a:effectLst>
        </p:spPr>
      </p:pic>
      <p:sp>
        <p:nvSpPr>
          <p:cNvPr id="4" name="TextBox 3">
            <a:extLst>
              <a:ext uri="{FF2B5EF4-FFF2-40B4-BE49-F238E27FC236}">
                <a16:creationId xmlns:a16="http://schemas.microsoft.com/office/drawing/2014/main" id="{476F552B-F166-A845-D708-E01FB3CF31C3}"/>
              </a:ext>
            </a:extLst>
          </p:cNvPr>
          <p:cNvSpPr txBox="1"/>
          <p:nvPr/>
        </p:nvSpPr>
        <p:spPr>
          <a:xfrm>
            <a:off x="5459506" y="4307265"/>
            <a:ext cx="2743200" cy="523220"/>
          </a:xfrm>
          <a:prstGeom prst="rect">
            <a:avLst/>
          </a:prstGeom>
          <a:noFill/>
        </p:spPr>
        <p:txBody>
          <a:bodyPr wrap="square" rtlCol="0">
            <a:spAutoFit/>
          </a:bodyPr>
          <a:lstStyle/>
          <a:p>
            <a:r>
              <a:rPr lang="en-US" dirty="0"/>
              <a:t>Also shown: Google Gemini AI coding </a:t>
            </a:r>
          </a:p>
        </p:txBody>
      </p:sp>
    </p:spTree>
    <p:extLst>
      <p:ext uri="{BB962C8B-B14F-4D97-AF65-F5344CB8AC3E}">
        <p14:creationId xmlns:p14="http://schemas.microsoft.com/office/powerpoint/2010/main" val="26620610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5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Feedback </a:t>
            </a:r>
            <a:endParaRPr/>
          </a:p>
        </p:txBody>
      </p:sp>
      <p:sp>
        <p:nvSpPr>
          <p:cNvPr id="428" name="Google Shape;428;p5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Thanks for coming to our workshop!</a:t>
            </a:r>
            <a:endParaRPr/>
          </a:p>
          <a:p>
            <a:pPr marL="0" lvl="0" indent="0" algn="l" rtl="0">
              <a:spcBef>
                <a:spcPts val="1600"/>
              </a:spcBef>
              <a:spcAft>
                <a:spcPts val="0"/>
              </a:spcAft>
              <a:buNone/>
            </a:pPr>
            <a:r>
              <a:rPr lang="en"/>
              <a:t>We want to now learn from you about how we continue to present relevant workshops in the best way we can.  </a:t>
            </a:r>
            <a:endParaRPr/>
          </a:p>
          <a:p>
            <a:pPr marL="0" lvl="0" indent="0" algn="l" rtl="0">
              <a:spcBef>
                <a:spcPts val="1600"/>
              </a:spcBef>
              <a:spcAft>
                <a:spcPts val="0"/>
              </a:spcAft>
              <a:buNone/>
            </a:pPr>
            <a:r>
              <a:rPr lang="en"/>
              <a:t>Please take a minute or so to fill out our form with your constructive feedback, we can't wait to hear from you! </a:t>
            </a:r>
            <a:endParaRPr/>
          </a:p>
          <a:p>
            <a:pPr marL="0" lvl="0" indent="0" algn="l" rtl="0">
              <a:spcBef>
                <a:spcPts val="1600"/>
              </a:spcBef>
              <a:spcAft>
                <a:spcPts val="1600"/>
              </a:spcAft>
              <a:buNone/>
            </a:pPr>
            <a:r>
              <a:rPr lang="en" u="sng">
                <a:solidFill>
                  <a:schemeClr val="hlink"/>
                </a:solidFill>
                <a:hlinkClick r:id="rId3"/>
              </a:rPr>
              <a:t>dartgo.org/feedback </a:t>
            </a:r>
            <a:endParaRPr/>
          </a:p>
        </p:txBody>
      </p:sp>
      <p:sp>
        <p:nvSpPr>
          <p:cNvPr id="429" name="Google Shape;429;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38</a:t>
            </a:fld>
            <a:endParaRPr/>
          </a:p>
        </p:txBody>
      </p:sp>
      <p:pic>
        <p:nvPicPr>
          <p:cNvPr id="430" name="Google Shape;430;p51"/>
          <p:cNvPicPr preferRelativeResize="0"/>
          <p:nvPr/>
        </p:nvPicPr>
        <p:blipFill>
          <a:blip r:embed="rId4">
            <a:alphaModFix/>
          </a:blip>
          <a:stretch>
            <a:fillRect/>
          </a:stretch>
        </p:blipFill>
        <p:spPr>
          <a:xfrm>
            <a:off x="7391400" y="152400"/>
            <a:ext cx="1359149" cy="250150"/>
          </a:xfrm>
          <a:prstGeom prst="rect">
            <a:avLst/>
          </a:prstGeom>
          <a:noFill/>
          <a:ln>
            <a:noFill/>
          </a:ln>
        </p:spPr>
      </p:pic>
      <p:pic>
        <p:nvPicPr>
          <p:cNvPr id="431" name="Google Shape;431;p51"/>
          <p:cNvPicPr preferRelativeResize="0"/>
          <p:nvPr/>
        </p:nvPicPr>
        <p:blipFill>
          <a:blip r:embed="rId5">
            <a:alphaModFix/>
          </a:blip>
          <a:stretch>
            <a:fillRect/>
          </a:stretch>
        </p:blipFill>
        <p:spPr>
          <a:xfrm>
            <a:off x="203250" y="86975"/>
            <a:ext cx="315575" cy="3155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52"/>
          <p:cNvSpPr txBox="1">
            <a:spLocks noGrp="1"/>
          </p:cNvSpPr>
          <p:nvPr>
            <p:ph type="title"/>
          </p:nvPr>
        </p:nvSpPr>
        <p:spPr>
          <a:xfrm>
            <a:off x="3594888" y="402550"/>
            <a:ext cx="3086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Questions?</a:t>
            </a:r>
            <a:endParaRPr/>
          </a:p>
        </p:txBody>
      </p:sp>
      <p:sp>
        <p:nvSpPr>
          <p:cNvPr id="437" name="Google Shape;437;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39</a:t>
            </a:fld>
            <a:endParaRPr/>
          </a:p>
        </p:txBody>
      </p:sp>
      <p:pic>
        <p:nvPicPr>
          <p:cNvPr id="438" name="Google Shape;438;p52"/>
          <p:cNvPicPr preferRelativeResize="0"/>
          <p:nvPr/>
        </p:nvPicPr>
        <p:blipFill>
          <a:blip r:embed="rId3">
            <a:alphaModFix/>
          </a:blip>
          <a:stretch>
            <a:fillRect/>
          </a:stretch>
        </p:blipFill>
        <p:spPr>
          <a:xfrm>
            <a:off x="7391400" y="152400"/>
            <a:ext cx="1359149" cy="250150"/>
          </a:xfrm>
          <a:prstGeom prst="rect">
            <a:avLst/>
          </a:prstGeom>
          <a:noFill/>
          <a:ln>
            <a:noFill/>
          </a:ln>
        </p:spPr>
      </p:pic>
      <p:pic>
        <p:nvPicPr>
          <p:cNvPr id="439" name="Google Shape;439;p52"/>
          <p:cNvPicPr preferRelativeResize="0"/>
          <p:nvPr/>
        </p:nvPicPr>
        <p:blipFill>
          <a:blip r:embed="rId4">
            <a:alphaModFix/>
          </a:blip>
          <a:stretch>
            <a:fillRect/>
          </a:stretch>
        </p:blipFill>
        <p:spPr>
          <a:xfrm>
            <a:off x="203250" y="86975"/>
            <a:ext cx="315575" cy="315575"/>
          </a:xfrm>
          <a:prstGeom prst="rect">
            <a:avLst/>
          </a:prstGeom>
          <a:noFill/>
          <a:ln>
            <a:noFill/>
          </a:ln>
        </p:spPr>
      </p:pic>
      <p:sp>
        <p:nvSpPr>
          <p:cNvPr id="440" name="Google Shape;440;p52"/>
          <p:cNvSpPr txBox="1">
            <a:spLocks noGrp="1"/>
          </p:cNvSpPr>
          <p:nvPr>
            <p:ph type="body" idx="1"/>
          </p:nvPr>
        </p:nvSpPr>
        <p:spPr>
          <a:xfrm>
            <a:off x="727650" y="975250"/>
            <a:ext cx="7688700" cy="9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800" dirty="0"/>
              <a:t>As always, feel free to </a:t>
            </a:r>
            <a:r>
              <a:rPr lang="en" sz="1800" u="sng" dirty="0">
                <a:solidFill>
                  <a:schemeClr val="hlink"/>
                </a:solidFill>
                <a:hlinkClick r:id="rId5"/>
              </a:rPr>
              <a:t>reach out anytime</a:t>
            </a:r>
            <a:r>
              <a:rPr lang="en" sz="1800" dirty="0"/>
              <a:t>.</a:t>
            </a:r>
          </a:p>
          <a:p>
            <a:pPr marL="0" lvl="0" indent="0" algn="ctr" rtl="0">
              <a:spcBef>
                <a:spcPts val="0"/>
              </a:spcBef>
              <a:spcAft>
                <a:spcPts val="0"/>
              </a:spcAft>
              <a:buNone/>
            </a:pPr>
            <a:r>
              <a:rPr lang="en-US" sz="1800" dirty="0">
                <a:hlinkClick r:id="rId6"/>
              </a:rPr>
              <a:t>https://rc.dartmouth.edu/</a:t>
            </a:r>
            <a:endParaRPr lang="en-US" sz="1800" dirty="0"/>
          </a:p>
          <a:p>
            <a:pPr marL="0" lvl="0" indent="0" algn="ctr" rtl="0">
              <a:spcBef>
                <a:spcPts val="0"/>
              </a:spcBef>
              <a:spcAft>
                <a:spcPts val="0"/>
              </a:spcAft>
              <a:buNone/>
            </a:pPr>
            <a:r>
              <a:rPr lang="en-US" dirty="0">
                <a:hlinkClick r:id="rId7"/>
              </a:rPr>
              <a:t>https://services.dartmouth.edu/</a:t>
            </a:r>
            <a:r>
              <a:rPr lang="en-US" dirty="0"/>
              <a:t> </a:t>
            </a:r>
            <a:endParaRPr sz="1800" dirty="0"/>
          </a:p>
          <a:p>
            <a:pPr marL="0" lvl="0" indent="0" algn="ctr" rtl="0">
              <a:spcBef>
                <a:spcPts val="1600"/>
              </a:spcBef>
              <a:spcAft>
                <a:spcPts val="1600"/>
              </a:spcAft>
              <a:buNone/>
            </a:pPr>
            <a:r>
              <a:rPr lang="en" sz="1800" dirty="0"/>
              <a:t>Thanks for attending our workshop!</a:t>
            </a:r>
            <a:endParaRPr dirty="0"/>
          </a:p>
        </p:txBody>
      </p:sp>
      <p:pic>
        <p:nvPicPr>
          <p:cNvPr id="441" name="Google Shape;441;p52"/>
          <p:cNvPicPr preferRelativeResize="0"/>
          <p:nvPr/>
        </p:nvPicPr>
        <p:blipFill rotWithShape="1">
          <a:blip r:embed="rId8">
            <a:alphaModFix/>
          </a:blip>
          <a:srcRect/>
          <a:stretch/>
        </p:blipFill>
        <p:spPr>
          <a:xfrm>
            <a:off x="2605087" y="2631417"/>
            <a:ext cx="3933825" cy="2228600"/>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315</TotalTime>
  <Words>3062</Words>
  <Application>Microsoft Macintosh PowerPoint</Application>
  <PresentationFormat>On-screen Show (16:9)</PresentationFormat>
  <Paragraphs>385</Paragraphs>
  <Slides>39</Slides>
  <Notes>39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Calibri</vt:lpstr>
      <vt:lpstr>Lucida Console</vt:lpstr>
      <vt:lpstr>Courier New</vt:lpstr>
      <vt:lpstr>Arial</vt:lpstr>
      <vt:lpstr>Simple Light</vt:lpstr>
      <vt:lpstr>Python Graph Gallery  </vt:lpstr>
      <vt:lpstr>About the Reproducible Research Group</vt:lpstr>
      <vt:lpstr>About Research Computing and Data </vt:lpstr>
      <vt:lpstr>A roadmap for this workshop</vt:lpstr>
      <vt:lpstr>Why Python? </vt:lpstr>
      <vt:lpstr>Python Graph Gallery and Python for Data Science</vt:lpstr>
      <vt:lpstr>Python Graphs &amp; Plots - Libraries </vt:lpstr>
      <vt:lpstr>Python Graphs &amp; Plots - Libraries </vt:lpstr>
      <vt:lpstr>Matplotlib library for Data Visualization  </vt:lpstr>
      <vt:lpstr>Seaborn library for Data Visualization  </vt:lpstr>
      <vt:lpstr>Python Graph  Gallery</vt:lpstr>
      <vt:lpstr>Live code with built in datasets</vt:lpstr>
      <vt:lpstr>Basics of Reproducible Research for Data Science</vt:lpstr>
      <vt:lpstr>What is a Jupyter Notebook? </vt:lpstr>
      <vt:lpstr>Jupyter Notebooks, Anaconda, VS Code, Google Colab…</vt:lpstr>
      <vt:lpstr>Notebooks &amp; Code for Python </vt:lpstr>
      <vt:lpstr>Conda, Pip, Homebrew </vt:lpstr>
      <vt:lpstr>File extensions: .py, .R, .ipynb, csv, xls, jpg, png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Built-in datasets </vt:lpstr>
      <vt:lpstr>More resources</vt:lpstr>
      <vt:lpstr>Next steps </vt:lpstr>
      <vt:lpstr>Next steps </vt:lpstr>
      <vt:lpstr>Resources &amp; Links  </vt:lpstr>
      <vt:lpstr>Live Code with built-in dataset</vt:lpstr>
      <vt:lpstr>Live Code with built in dataset </vt:lpstr>
      <vt:lpstr>Live Code with built in dataset </vt:lpstr>
      <vt:lpstr>Result </vt:lpstr>
      <vt:lpstr>ggplot / R  </vt:lpstr>
      <vt:lpstr>Feedback </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Stephen P. Gaughan</cp:lastModifiedBy>
  <cp:revision>3</cp:revision>
  <dcterms:modified xsi:type="dcterms:W3CDTF">2026-01-19T19:56:09Z</dcterms:modified>
</cp:coreProperties>
</file>